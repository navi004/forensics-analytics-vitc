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x="18288000" cy="10287000"/>
  <p:notesSz cx="6858000" cy="9144000"/>
  <p:embeddedFontLst>
    <p:embeddedFont>
      <p:font typeface="Telegraf Bold" charset="1" panose="00000800000000000000"/>
      <p:regular r:id="rId29"/>
    </p:embeddedFont>
    <p:embeddedFont>
      <p:font typeface="Poppins Bold" charset="1" panose="00000800000000000000"/>
      <p:regular r:id="rId30"/>
    </p:embeddedFont>
    <p:embeddedFont>
      <p:font typeface="Poppins" charset="1" panose="00000500000000000000"/>
      <p:regular r:id="rId31"/>
    </p:embeddedFont>
    <p:embeddedFont>
      <p:font typeface="Lora" charset="1" panose="00000500000000000000"/>
      <p:regular r:id="rId32"/>
    </p:embeddedFont>
    <p:embeddedFont>
      <p:font typeface="Canva Sans" charset="1" panose="020B0503030501040103"/>
      <p:regular r:id="rId33"/>
    </p:embeddedFont>
    <p:embeddedFont>
      <p:font typeface="Arimo Bold" charset="1" panose="020B0704020202020204"/>
      <p:regular r:id="rId34"/>
    </p:embeddedFont>
    <p:embeddedFont>
      <p:font typeface="Arimo" charset="1" panose="020B0604020202020204"/>
      <p:regular r:id="rId35"/>
    </p:embeddedFont>
    <p:embeddedFont>
      <p:font typeface="Open Sauce Bold" charset="1" panose="00000800000000000000"/>
      <p:regular r:id="rId3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34" Target="fonts/font34.fntdata" Type="http://schemas.openxmlformats.org/officeDocument/2006/relationships/font"/><Relationship Id="rId35" Target="fonts/font35.fntdata" Type="http://schemas.openxmlformats.org/officeDocument/2006/relationships/font"/><Relationship Id="rId36" Target="fonts/font36.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8.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9.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9.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15.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16.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17.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18.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19.png" Type="http://schemas.openxmlformats.org/officeDocument/2006/relationships/image"/><Relationship Id="rId7" Target="../media/image20.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21.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9033D">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grpSp>
        <p:nvGrpSpPr>
          <p:cNvPr name="Group 2" id="2"/>
          <p:cNvGrpSpPr/>
          <p:nvPr/>
        </p:nvGrpSpPr>
        <p:grpSpPr>
          <a:xfrm rot="0">
            <a:off x="296111" y="349538"/>
            <a:ext cx="17695777" cy="9587924"/>
            <a:chOff x="0" y="0"/>
            <a:chExt cx="4660616" cy="2525215"/>
          </a:xfrm>
        </p:grpSpPr>
        <p:sp>
          <p:nvSpPr>
            <p:cNvPr name="Freeform 3" id="3"/>
            <p:cNvSpPr/>
            <p:nvPr/>
          </p:nvSpPr>
          <p:spPr>
            <a:xfrm flipH="false" flipV="false" rot="0">
              <a:off x="0" y="0"/>
              <a:ext cx="4660616" cy="2525215"/>
            </a:xfrm>
            <a:custGeom>
              <a:avLst/>
              <a:gdLst/>
              <a:ahLst/>
              <a:cxnLst/>
              <a:rect r="r" b="b" t="t" l="l"/>
              <a:pathLst>
                <a:path h="2525215" w="4660616">
                  <a:moveTo>
                    <a:pt x="24500" y="0"/>
                  </a:moveTo>
                  <a:lnTo>
                    <a:pt x="4636116" y="0"/>
                  </a:lnTo>
                  <a:cubicBezTo>
                    <a:pt x="4649647" y="0"/>
                    <a:pt x="4660616" y="10969"/>
                    <a:pt x="4660616" y="24500"/>
                  </a:cubicBezTo>
                  <a:lnTo>
                    <a:pt x="4660616" y="2500715"/>
                  </a:lnTo>
                  <a:cubicBezTo>
                    <a:pt x="4660616" y="2507212"/>
                    <a:pt x="4658035" y="2513444"/>
                    <a:pt x="4653440" y="2518039"/>
                  </a:cubicBezTo>
                  <a:cubicBezTo>
                    <a:pt x="4648846" y="2522633"/>
                    <a:pt x="4642614" y="2525215"/>
                    <a:pt x="4636116" y="2525215"/>
                  </a:cubicBezTo>
                  <a:lnTo>
                    <a:pt x="24500" y="2525215"/>
                  </a:lnTo>
                  <a:cubicBezTo>
                    <a:pt x="10969" y="2525215"/>
                    <a:pt x="0" y="2514246"/>
                    <a:pt x="0" y="2500715"/>
                  </a:cubicBezTo>
                  <a:lnTo>
                    <a:pt x="0" y="24500"/>
                  </a:lnTo>
                  <a:cubicBezTo>
                    <a:pt x="0" y="10969"/>
                    <a:pt x="10969" y="0"/>
                    <a:pt x="24500" y="0"/>
                  </a:cubicBezTo>
                  <a:close/>
                </a:path>
              </a:pathLst>
            </a:custGeom>
            <a:solidFill>
              <a:srgbClr val="FFFFFF">
                <a:alpha val="21961"/>
              </a:srgbClr>
            </a:solidFill>
          </p:spPr>
        </p:sp>
        <p:sp>
          <p:nvSpPr>
            <p:cNvPr name="TextBox 4" id="4"/>
            <p:cNvSpPr txBox="true"/>
            <p:nvPr/>
          </p:nvSpPr>
          <p:spPr>
            <a:xfrm>
              <a:off x="0" y="-38100"/>
              <a:ext cx="4660616" cy="2563315"/>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803986" y="803986"/>
            <a:ext cx="449429" cy="449429"/>
          </a:xfrm>
          <a:custGeom>
            <a:avLst/>
            <a:gdLst/>
            <a:ahLst/>
            <a:cxnLst/>
            <a:rect r="r" b="b" t="t" l="l"/>
            <a:pathLst>
              <a:path h="449429" w="449429">
                <a:moveTo>
                  <a:pt x="0" y="0"/>
                </a:moveTo>
                <a:lnTo>
                  <a:pt x="449428" y="0"/>
                </a:lnTo>
                <a:lnTo>
                  <a:pt x="449428" y="449428"/>
                </a:lnTo>
                <a:lnTo>
                  <a:pt x="0" y="4494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502778" y="4248057"/>
            <a:ext cx="15282445" cy="1828986"/>
          </a:xfrm>
          <a:prstGeom prst="rect">
            <a:avLst/>
          </a:prstGeom>
        </p:spPr>
        <p:txBody>
          <a:bodyPr anchor="t" rtlCol="false" tIns="0" lIns="0" bIns="0" rIns="0">
            <a:spAutoFit/>
          </a:bodyPr>
          <a:lstStyle/>
          <a:p>
            <a:pPr algn="ctr">
              <a:lnSpc>
                <a:spcPts val="6808"/>
              </a:lnSpc>
            </a:pPr>
            <a:r>
              <a:rPr lang="en-US" b="true" sz="6674" spc="-300">
                <a:solidFill>
                  <a:srgbClr val="FFFFFF"/>
                </a:solidFill>
                <a:latin typeface="Telegraf Bold"/>
                <a:ea typeface="Telegraf Bold"/>
                <a:cs typeface="Telegraf Bold"/>
                <a:sym typeface="Telegraf Bold"/>
              </a:rPr>
              <a:t>Multi-Modal Fraud Detection : </a:t>
            </a:r>
          </a:p>
          <a:p>
            <a:pPr algn="ctr">
              <a:lnSpc>
                <a:spcPts val="6808"/>
              </a:lnSpc>
            </a:pPr>
            <a:r>
              <a:rPr lang="en-US" b="true" sz="6674" spc="-300">
                <a:solidFill>
                  <a:srgbClr val="FFFFFF"/>
                </a:solidFill>
                <a:latin typeface="Telegraf Bold"/>
                <a:ea typeface="Telegraf Bold"/>
                <a:cs typeface="Telegraf Bold"/>
                <a:sym typeface="Telegraf Bold"/>
              </a:rPr>
              <a:t>Voter Authenticity &amp; Election Forensics</a:t>
            </a:r>
          </a:p>
        </p:txBody>
      </p:sp>
      <p:sp>
        <p:nvSpPr>
          <p:cNvPr name="TextBox 7" id="7"/>
          <p:cNvSpPr txBox="true"/>
          <p:nvPr/>
        </p:nvSpPr>
        <p:spPr>
          <a:xfrm rot="0">
            <a:off x="1253414" y="793707"/>
            <a:ext cx="2905781" cy="403311"/>
          </a:xfrm>
          <a:prstGeom prst="rect">
            <a:avLst/>
          </a:prstGeom>
        </p:spPr>
        <p:txBody>
          <a:bodyPr anchor="t" rtlCol="false" tIns="0" lIns="0" bIns="0" rIns="0">
            <a:spAutoFit/>
          </a:bodyPr>
          <a:lstStyle/>
          <a:p>
            <a:pPr algn="r" marL="0" indent="0" lvl="0">
              <a:lnSpc>
                <a:spcPts val="3151"/>
              </a:lnSpc>
              <a:spcBef>
                <a:spcPct val="0"/>
              </a:spcBef>
            </a:pPr>
            <a:r>
              <a:rPr lang="en-US" b="true" sz="2251">
                <a:solidFill>
                  <a:srgbClr val="FFFFFF"/>
                </a:solidFill>
                <a:latin typeface="Poppins Bold"/>
                <a:ea typeface="Poppins Bold"/>
                <a:cs typeface="Poppins Bold"/>
                <a:sym typeface="Poppins Bold"/>
              </a:rPr>
              <a:t>Forensic Analytics</a:t>
            </a:r>
          </a:p>
        </p:txBody>
      </p:sp>
      <p:sp>
        <p:nvSpPr>
          <p:cNvPr name="TextBox 8" id="8"/>
          <p:cNvSpPr txBox="true"/>
          <p:nvPr/>
        </p:nvSpPr>
        <p:spPr>
          <a:xfrm rot="0">
            <a:off x="9144000" y="841660"/>
            <a:ext cx="1662550" cy="409541"/>
          </a:xfrm>
          <a:prstGeom prst="rect">
            <a:avLst/>
          </a:prstGeom>
        </p:spPr>
        <p:txBody>
          <a:bodyPr anchor="t" rtlCol="false" tIns="0" lIns="0" bIns="0" rIns="0">
            <a:spAutoFit/>
          </a:bodyPr>
          <a:lstStyle/>
          <a:p>
            <a:pPr algn="r" marL="0" indent="0" lvl="0">
              <a:lnSpc>
                <a:spcPts val="3151"/>
              </a:lnSpc>
              <a:spcBef>
                <a:spcPct val="0"/>
              </a:spcBef>
            </a:pPr>
            <a:r>
              <a:rPr lang="en-US" sz="2251">
                <a:solidFill>
                  <a:srgbClr val="FFFFFF"/>
                </a:solidFill>
                <a:latin typeface="Poppins"/>
                <a:ea typeface="Poppins"/>
                <a:cs typeface="Poppins"/>
                <a:sym typeface="Poppins"/>
              </a:rPr>
              <a:t>Home</a:t>
            </a:r>
          </a:p>
        </p:txBody>
      </p:sp>
      <p:sp>
        <p:nvSpPr>
          <p:cNvPr name="TextBox 9" id="9"/>
          <p:cNvSpPr txBox="true"/>
          <p:nvPr/>
        </p:nvSpPr>
        <p:spPr>
          <a:xfrm rot="0">
            <a:off x="11408122" y="843874"/>
            <a:ext cx="1907082" cy="409541"/>
          </a:xfrm>
          <a:prstGeom prst="rect">
            <a:avLst/>
          </a:prstGeom>
        </p:spPr>
        <p:txBody>
          <a:bodyPr anchor="t" rtlCol="false" tIns="0" lIns="0" bIns="0" rIns="0">
            <a:spAutoFit/>
          </a:bodyPr>
          <a:lstStyle/>
          <a:p>
            <a:pPr algn="ctr" marL="0" indent="0" lvl="0">
              <a:lnSpc>
                <a:spcPts val="3151"/>
              </a:lnSpc>
              <a:spcBef>
                <a:spcPct val="0"/>
              </a:spcBef>
            </a:pPr>
            <a:r>
              <a:rPr lang="en-US" sz="2251">
                <a:solidFill>
                  <a:srgbClr val="FFFFFF"/>
                </a:solidFill>
                <a:latin typeface="Poppins"/>
                <a:ea typeface="Poppins"/>
                <a:cs typeface="Poppins"/>
                <a:sym typeface="Poppins"/>
              </a:rPr>
              <a:t>About</a:t>
            </a:r>
          </a:p>
        </p:txBody>
      </p:sp>
      <p:sp>
        <p:nvSpPr>
          <p:cNvPr name="TextBox 10" id="10"/>
          <p:cNvSpPr txBox="true"/>
          <p:nvPr/>
        </p:nvSpPr>
        <p:spPr>
          <a:xfrm rot="0">
            <a:off x="13726729" y="819695"/>
            <a:ext cx="1916881" cy="409541"/>
          </a:xfrm>
          <a:prstGeom prst="rect">
            <a:avLst/>
          </a:prstGeom>
        </p:spPr>
        <p:txBody>
          <a:bodyPr anchor="t" rtlCol="false" tIns="0" lIns="0" bIns="0" rIns="0">
            <a:spAutoFit/>
          </a:bodyPr>
          <a:lstStyle/>
          <a:p>
            <a:pPr algn="ctr" marL="0" indent="0" lvl="0">
              <a:lnSpc>
                <a:spcPts val="3151"/>
              </a:lnSpc>
              <a:spcBef>
                <a:spcPct val="0"/>
              </a:spcBef>
            </a:pPr>
            <a:r>
              <a:rPr lang="en-US" b="true" sz="2251">
                <a:solidFill>
                  <a:srgbClr val="FFFFFF"/>
                </a:solidFill>
                <a:latin typeface="Poppins Bold"/>
                <a:ea typeface="Poppins Bold"/>
                <a:cs typeface="Poppins Bold"/>
                <a:sym typeface="Poppins Bold"/>
              </a:rPr>
              <a:t>Content</a:t>
            </a:r>
          </a:p>
        </p:txBody>
      </p:sp>
      <p:sp>
        <p:nvSpPr>
          <p:cNvPr name="TextBox 11" id="11"/>
          <p:cNvSpPr txBox="true"/>
          <p:nvPr/>
        </p:nvSpPr>
        <p:spPr>
          <a:xfrm rot="0">
            <a:off x="15034325" y="841660"/>
            <a:ext cx="2224975" cy="409541"/>
          </a:xfrm>
          <a:prstGeom prst="rect">
            <a:avLst/>
          </a:prstGeom>
        </p:spPr>
        <p:txBody>
          <a:bodyPr anchor="t" rtlCol="false" tIns="0" lIns="0" bIns="0" rIns="0">
            <a:spAutoFit/>
          </a:bodyPr>
          <a:lstStyle/>
          <a:p>
            <a:pPr algn="r" marL="0" indent="0" lvl="0">
              <a:lnSpc>
                <a:spcPts val="3151"/>
              </a:lnSpc>
              <a:spcBef>
                <a:spcPct val="0"/>
              </a:spcBef>
            </a:pPr>
            <a:r>
              <a:rPr lang="en-US" sz="2251">
                <a:solidFill>
                  <a:srgbClr val="FFFFFF"/>
                </a:solidFill>
                <a:latin typeface="Poppins"/>
                <a:ea typeface="Poppins"/>
                <a:cs typeface="Poppins"/>
                <a:sym typeface="Poppins"/>
              </a:rPr>
              <a:t>Others</a:t>
            </a:r>
          </a:p>
        </p:txBody>
      </p:sp>
      <p:sp>
        <p:nvSpPr>
          <p:cNvPr name="TextBox 12" id="12"/>
          <p:cNvSpPr txBox="true"/>
          <p:nvPr/>
        </p:nvSpPr>
        <p:spPr>
          <a:xfrm rot="0">
            <a:off x="1253414" y="8404696"/>
            <a:ext cx="3549971" cy="409541"/>
          </a:xfrm>
          <a:prstGeom prst="rect">
            <a:avLst/>
          </a:prstGeom>
        </p:spPr>
        <p:txBody>
          <a:bodyPr anchor="t" rtlCol="false" tIns="0" lIns="0" bIns="0" rIns="0">
            <a:spAutoFit/>
          </a:bodyPr>
          <a:lstStyle/>
          <a:p>
            <a:pPr algn="just" marL="0" indent="0" lvl="0">
              <a:lnSpc>
                <a:spcPts val="3151"/>
              </a:lnSpc>
              <a:spcBef>
                <a:spcPct val="0"/>
              </a:spcBef>
            </a:pPr>
            <a:r>
              <a:rPr lang="en-US" b="true" sz="2251">
                <a:solidFill>
                  <a:srgbClr val="FFFFFF"/>
                </a:solidFill>
                <a:latin typeface="Poppins Bold"/>
                <a:ea typeface="Poppins Bold"/>
                <a:cs typeface="Poppins Bold"/>
                <a:sym typeface="Poppins Bold"/>
              </a:rPr>
              <a:t>Team Members :-</a:t>
            </a:r>
          </a:p>
        </p:txBody>
      </p:sp>
      <p:sp>
        <p:nvSpPr>
          <p:cNvPr name="TextBox 13" id="13"/>
          <p:cNvSpPr txBox="true"/>
          <p:nvPr/>
        </p:nvSpPr>
        <p:spPr>
          <a:xfrm rot="0">
            <a:off x="6614920" y="8963118"/>
            <a:ext cx="6036434" cy="409541"/>
          </a:xfrm>
          <a:prstGeom prst="rect">
            <a:avLst/>
          </a:prstGeom>
        </p:spPr>
        <p:txBody>
          <a:bodyPr anchor="t" rtlCol="false" tIns="0" lIns="0" bIns="0" rIns="0">
            <a:spAutoFit/>
          </a:bodyPr>
          <a:lstStyle/>
          <a:p>
            <a:pPr algn="just" marL="0" indent="0" lvl="0">
              <a:lnSpc>
                <a:spcPts val="3151"/>
              </a:lnSpc>
              <a:spcBef>
                <a:spcPct val="0"/>
              </a:spcBef>
            </a:pPr>
            <a:r>
              <a:rPr lang="en-US" sz="2251">
                <a:solidFill>
                  <a:srgbClr val="FFFFFF"/>
                </a:solidFill>
                <a:latin typeface="Poppins"/>
                <a:ea typeface="Poppins"/>
                <a:cs typeface="Poppins"/>
                <a:sym typeface="Poppins"/>
              </a:rPr>
              <a:t>22MIA1024 - Chandra Kiran M</a:t>
            </a:r>
          </a:p>
        </p:txBody>
      </p:sp>
      <p:sp>
        <p:nvSpPr>
          <p:cNvPr name="TextBox 14" id="14"/>
          <p:cNvSpPr txBox="true"/>
          <p:nvPr/>
        </p:nvSpPr>
        <p:spPr>
          <a:xfrm rot="0">
            <a:off x="1253414" y="8953593"/>
            <a:ext cx="3846790" cy="447733"/>
          </a:xfrm>
          <a:prstGeom prst="rect">
            <a:avLst/>
          </a:prstGeom>
        </p:spPr>
        <p:txBody>
          <a:bodyPr anchor="t" rtlCol="false" tIns="0" lIns="0" bIns="0" rIns="0">
            <a:spAutoFit/>
          </a:bodyPr>
          <a:lstStyle/>
          <a:p>
            <a:pPr algn="just" marL="0" indent="0" lvl="0">
              <a:lnSpc>
                <a:spcPts val="3415"/>
              </a:lnSpc>
              <a:spcBef>
                <a:spcPct val="0"/>
              </a:spcBef>
            </a:pPr>
            <a:r>
              <a:rPr lang="en-US" sz="2439">
                <a:solidFill>
                  <a:srgbClr val="FFFFFF"/>
                </a:solidFill>
                <a:latin typeface="Poppins"/>
                <a:ea typeface="Poppins"/>
                <a:cs typeface="Poppins"/>
                <a:sym typeface="Poppins"/>
              </a:rPr>
              <a:t>22MIA1013 - Lashitha M</a:t>
            </a:r>
          </a:p>
        </p:txBody>
      </p:sp>
      <p:sp>
        <p:nvSpPr>
          <p:cNvPr name="TextBox 15" id="15"/>
          <p:cNvSpPr txBox="true"/>
          <p:nvPr/>
        </p:nvSpPr>
        <p:spPr>
          <a:xfrm rot="0">
            <a:off x="13868625" y="8991693"/>
            <a:ext cx="3549971" cy="409541"/>
          </a:xfrm>
          <a:prstGeom prst="rect">
            <a:avLst/>
          </a:prstGeom>
        </p:spPr>
        <p:txBody>
          <a:bodyPr anchor="t" rtlCol="false" tIns="0" lIns="0" bIns="0" rIns="0">
            <a:spAutoFit/>
          </a:bodyPr>
          <a:lstStyle/>
          <a:p>
            <a:pPr algn="just" marL="0" indent="0" lvl="0">
              <a:lnSpc>
                <a:spcPts val="3151"/>
              </a:lnSpc>
              <a:spcBef>
                <a:spcPct val="0"/>
              </a:spcBef>
            </a:pPr>
            <a:r>
              <a:rPr lang="en-US" sz="2251">
                <a:solidFill>
                  <a:srgbClr val="FFFFFF"/>
                </a:solidFill>
                <a:latin typeface="Poppins"/>
                <a:ea typeface="Poppins"/>
                <a:cs typeface="Poppins"/>
                <a:sym typeface="Poppins"/>
              </a:rPr>
              <a:t>22MIA1049 - Naveen N</a:t>
            </a:r>
          </a:p>
        </p:txBody>
      </p:sp>
      <p:sp>
        <p:nvSpPr>
          <p:cNvPr name="TextBox 16" id="16"/>
          <p:cNvSpPr txBox="true"/>
          <p:nvPr/>
        </p:nvSpPr>
        <p:spPr>
          <a:xfrm rot="0">
            <a:off x="6083166" y="6275674"/>
            <a:ext cx="3549971" cy="409541"/>
          </a:xfrm>
          <a:prstGeom prst="rect">
            <a:avLst/>
          </a:prstGeom>
        </p:spPr>
        <p:txBody>
          <a:bodyPr anchor="t" rtlCol="false" tIns="0" lIns="0" bIns="0" rIns="0">
            <a:spAutoFit/>
          </a:bodyPr>
          <a:lstStyle/>
          <a:p>
            <a:pPr algn="just" marL="0" indent="0" lvl="0">
              <a:lnSpc>
                <a:spcPts val="3151"/>
              </a:lnSpc>
              <a:spcBef>
                <a:spcPct val="0"/>
              </a:spcBef>
            </a:pPr>
            <a:r>
              <a:rPr lang="en-US" b="true" sz="2251">
                <a:solidFill>
                  <a:srgbClr val="FFFFFF"/>
                </a:solidFill>
                <a:latin typeface="Poppins Bold"/>
                <a:ea typeface="Poppins Bold"/>
                <a:cs typeface="Poppins Bold"/>
                <a:sym typeface="Poppins Bold"/>
              </a:rPr>
              <a:t>Faculty :- </a:t>
            </a:r>
          </a:p>
        </p:txBody>
      </p:sp>
      <p:sp>
        <p:nvSpPr>
          <p:cNvPr name="TextBox 17" id="17"/>
          <p:cNvSpPr txBox="true"/>
          <p:nvPr/>
        </p:nvSpPr>
        <p:spPr>
          <a:xfrm rot="0">
            <a:off x="7788333" y="6275674"/>
            <a:ext cx="6036434" cy="409541"/>
          </a:xfrm>
          <a:prstGeom prst="rect">
            <a:avLst/>
          </a:prstGeom>
        </p:spPr>
        <p:txBody>
          <a:bodyPr anchor="t" rtlCol="false" tIns="0" lIns="0" bIns="0" rIns="0">
            <a:spAutoFit/>
          </a:bodyPr>
          <a:lstStyle/>
          <a:p>
            <a:pPr algn="just" marL="0" indent="0" lvl="0">
              <a:lnSpc>
                <a:spcPts val="3151"/>
              </a:lnSpc>
              <a:spcBef>
                <a:spcPct val="0"/>
              </a:spcBef>
            </a:pPr>
            <a:r>
              <a:rPr lang="en-US" sz="2251">
                <a:solidFill>
                  <a:srgbClr val="FFFFFF"/>
                </a:solidFill>
                <a:latin typeface="Poppins"/>
                <a:ea typeface="Poppins"/>
                <a:cs typeface="Poppins"/>
                <a:sym typeface="Poppins"/>
              </a:rPr>
              <a:t>Dr. Palani Thanaraj K</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9033D">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0">
            <a:off x="803986" y="803986"/>
            <a:ext cx="449429" cy="449429"/>
          </a:xfrm>
          <a:custGeom>
            <a:avLst/>
            <a:gdLst/>
            <a:ahLst/>
            <a:cxnLst/>
            <a:rect r="r" b="b" t="t" l="l"/>
            <a:pathLst>
              <a:path h="449429" w="449429">
                <a:moveTo>
                  <a:pt x="0" y="0"/>
                </a:moveTo>
                <a:lnTo>
                  <a:pt x="449428" y="0"/>
                </a:lnTo>
                <a:lnTo>
                  <a:pt x="449428" y="449428"/>
                </a:lnTo>
                <a:lnTo>
                  <a:pt x="0" y="4494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803986" y="1817500"/>
            <a:ext cx="8574868" cy="4668673"/>
            <a:chOff x="0" y="0"/>
            <a:chExt cx="2381085" cy="1296405"/>
          </a:xfrm>
        </p:grpSpPr>
        <p:sp>
          <p:nvSpPr>
            <p:cNvPr name="Freeform 4" id="4"/>
            <p:cNvSpPr/>
            <p:nvPr/>
          </p:nvSpPr>
          <p:spPr>
            <a:xfrm flipH="false" flipV="false" rot="0">
              <a:off x="0" y="0"/>
              <a:ext cx="2381085" cy="1296405"/>
            </a:xfrm>
            <a:custGeom>
              <a:avLst/>
              <a:gdLst/>
              <a:ahLst/>
              <a:cxnLst/>
              <a:rect r="r" b="b" t="t" l="l"/>
              <a:pathLst>
                <a:path h="1296405" w="2381085">
                  <a:moveTo>
                    <a:pt x="50560" y="0"/>
                  </a:moveTo>
                  <a:lnTo>
                    <a:pt x="2330525" y="0"/>
                  </a:lnTo>
                  <a:cubicBezTo>
                    <a:pt x="2358448" y="0"/>
                    <a:pt x="2381085" y="22637"/>
                    <a:pt x="2381085" y="50560"/>
                  </a:cubicBezTo>
                  <a:lnTo>
                    <a:pt x="2381085" y="1245845"/>
                  </a:lnTo>
                  <a:cubicBezTo>
                    <a:pt x="2381085" y="1259255"/>
                    <a:pt x="2375758" y="1272115"/>
                    <a:pt x="2366276" y="1281597"/>
                  </a:cubicBezTo>
                  <a:cubicBezTo>
                    <a:pt x="2356794" y="1291079"/>
                    <a:pt x="2343934" y="1296405"/>
                    <a:pt x="2330525" y="1296405"/>
                  </a:cubicBezTo>
                  <a:lnTo>
                    <a:pt x="50560" y="1296405"/>
                  </a:lnTo>
                  <a:cubicBezTo>
                    <a:pt x="22637" y="1296405"/>
                    <a:pt x="0" y="1273769"/>
                    <a:pt x="0" y="1245845"/>
                  </a:cubicBezTo>
                  <a:lnTo>
                    <a:pt x="0" y="50560"/>
                  </a:lnTo>
                  <a:cubicBezTo>
                    <a:pt x="0" y="22637"/>
                    <a:pt x="22637" y="0"/>
                    <a:pt x="50560" y="0"/>
                  </a:cubicBezTo>
                  <a:close/>
                </a:path>
              </a:pathLst>
            </a:custGeom>
            <a:gradFill rotWithShape="true">
              <a:gsLst>
                <a:gs pos="0">
                  <a:srgbClr val="000F9B">
                    <a:alpha val="100000"/>
                  </a:srgbClr>
                </a:gs>
                <a:gs pos="50000">
                  <a:srgbClr val="EB0000">
                    <a:alpha val="100000"/>
                  </a:srgbClr>
                </a:gs>
                <a:gs pos="100000">
                  <a:srgbClr val="A000EB">
                    <a:alpha val="100000"/>
                  </a:srgbClr>
                </a:gs>
              </a:gsLst>
              <a:path path="circle">
                <a:fillToRect l="0" r="100000" t="0" b="100000"/>
              </a:path>
              <a:tileRect r="0" l="-100000" b="0" t="-100000"/>
            </a:gradFill>
          </p:spPr>
        </p:sp>
        <p:sp>
          <p:nvSpPr>
            <p:cNvPr name="TextBox 5" id="5"/>
            <p:cNvSpPr txBox="true"/>
            <p:nvPr/>
          </p:nvSpPr>
          <p:spPr>
            <a:xfrm>
              <a:off x="0" y="-66675"/>
              <a:ext cx="2381085" cy="1363080"/>
            </a:xfrm>
            <a:prstGeom prst="rect">
              <a:avLst/>
            </a:prstGeom>
          </p:spPr>
          <p:txBody>
            <a:bodyPr anchor="ctr" rtlCol="false" tIns="50800" lIns="50800" bIns="50800" rIns="50800"/>
            <a:lstStyle/>
            <a:p>
              <a:pPr algn="ctr">
                <a:lnSpc>
                  <a:spcPts val="3151"/>
                </a:lnSpc>
              </a:pPr>
            </a:p>
          </p:txBody>
        </p:sp>
      </p:grpSp>
      <p:grpSp>
        <p:nvGrpSpPr>
          <p:cNvPr name="Group 6" id="6"/>
          <p:cNvGrpSpPr/>
          <p:nvPr/>
        </p:nvGrpSpPr>
        <p:grpSpPr>
          <a:xfrm rot="0">
            <a:off x="987270" y="7048148"/>
            <a:ext cx="8156730" cy="1867216"/>
            <a:chOff x="0" y="0"/>
            <a:chExt cx="2148275" cy="491777"/>
          </a:xfrm>
        </p:grpSpPr>
        <p:sp>
          <p:nvSpPr>
            <p:cNvPr name="Freeform 7" id="7"/>
            <p:cNvSpPr/>
            <p:nvPr/>
          </p:nvSpPr>
          <p:spPr>
            <a:xfrm flipH="false" flipV="false" rot="0">
              <a:off x="0" y="0"/>
              <a:ext cx="2148274" cy="491777"/>
            </a:xfrm>
            <a:custGeom>
              <a:avLst/>
              <a:gdLst/>
              <a:ahLst/>
              <a:cxnLst/>
              <a:rect r="r" b="b" t="t" l="l"/>
              <a:pathLst>
                <a:path h="491777" w="2148274">
                  <a:moveTo>
                    <a:pt x="44610" y="0"/>
                  </a:moveTo>
                  <a:lnTo>
                    <a:pt x="2103665" y="0"/>
                  </a:lnTo>
                  <a:cubicBezTo>
                    <a:pt x="2128302" y="0"/>
                    <a:pt x="2148274" y="19972"/>
                    <a:pt x="2148274" y="44610"/>
                  </a:cubicBezTo>
                  <a:lnTo>
                    <a:pt x="2148274" y="447167"/>
                  </a:lnTo>
                  <a:cubicBezTo>
                    <a:pt x="2148274" y="458999"/>
                    <a:pt x="2143575" y="470345"/>
                    <a:pt x="2135209" y="478711"/>
                  </a:cubicBezTo>
                  <a:cubicBezTo>
                    <a:pt x="2126843" y="487077"/>
                    <a:pt x="2115496" y="491777"/>
                    <a:pt x="2103665" y="491777"/>
                  </a:cubicBezTo>
                  <a:lnTo>
                    <a:pt x="44610" y="491777"/>
                  </a:lnTo>
                  <a:cubicBezTo>
                    <a:pt x="19972" y="491777"/>
                    <a:pt x="0" y="471805"/>
                    <a:pt x="0" y="447167"/>
                  </a:cubicBezTo>
                  <a:lnTo>
                    <a:pt x="0" y="44610"/>
                  </a:lnTo>
                  <a:cubicBezTo>
                    <a:pt x="0" y="32779"/>
                    <a:pt x="4700" y="21432"/>
                    <a:pt x="13066" y="13066"/>
                  </a:cubicBezTo>
                  <a:cubicBezTo>
                    <a:pt x="21432" y="4700"/>
                    <a:pt x="32779" y="0"/>
                    <a:pt x="44610" y="0"/>
                  </a:cubicBezTo>
                  <a:close/>
                </a:path>
              </a:pathLst>
            </a:custGeom>
            <a:solidFill>
              <a:srgbClr val="000000">
                <a:alpha val="0"/>
              </a:srgbClr>
            </a:solidFill>
            <a:ln w="28575" cap="rnd">
              <a:solidFill>
                <a:srgbClr val="FFFFFF"/>
              </a:solidFill>
              <a:prstDash val="solid"/>
              <a:round/>
            </a:ln>
          </p:spPr>
        </p:sp>
        <p:sp>
          <p:nvSpPr>
            <p:cNvPr name="TextBox 8" id="8"/>
            <p:cNvSpPr txBox="true"/>
            <p:nvPr/>
          </p:nvSpPr>
          <p:spPr>
            <a:xfrm>
              <a:off x="0" y="-152400"/>
              <a:ext cx="2148275" cy="644177"/>
            </a:xfrm>
            <a:prstGeom prst="rect">
              <a:avLst/>
            </a:prstGeom>
          </p:spPr>
          <p:txBody>
            <a:bodyPr anchor="ctr" rtlCol="false" tIns="50800" lIns="50800" bIns="50800" rIns="50800"/>
            <a:lstStyle/>
            <a:p>
              <a:pPr algn="ctr">
                <a:lnSpc>
                  <a:spcPts val="7771"/>
                </a:lnSpc>
              </a:pPr>
              <a:r>
                <a:rPr lang="en-US" sz="5551">
                  <a:solidFill>
                    <a:srgbClr val="FFFFFF"/>
                  </a:solidFill>
                  <a:latin typeface="Poppins"/>
                  <a:ea typeface="Poppins"/>
                  <a:cs typeface="Poppins"/>
                  <a:sym typeface="Poppins"/>
                </a:rPr>
                <a:t>Table of contents</a:t>
              </a:r>
            </a:p>
          </p:txBody>
        </p:sp>
      </p:grpSp>
      <p:sp>
        <p:nvSpPr>
          <p:cNvPr name="Freeform 9" id="9"/>
          <p:cNvSpPr/>
          <p:nvPr/>
        </p:nvSpPr>
        <p:spPr>
          <a:xfrm flipH="false" flipV="false" rot="0">
            <a:off x="10259622" y="1821439"/>
            <a:ext cx="6934215" cy="6644122"/>
          </a:xfrm>
          <a:custGeom>
            <a:avLst/>
            <a:gdLst/>
            <a:ahLst/>
            <a:cxnLst/>
            <a:rect r="r" b="b" t="t" l="l"/>
            <a:pathLst>
              <a:path h="6644122" w="6934215">
                <a:moveTo>
                  <a:pt x="0" y="0"/>
                </a:moveTo>
                <a:lnTo>
                  <a:pt x="6934215" y="0"/>
                </a:lnTo>
                <a:lnTo>
                  <a:pt x="6934215" y="6644122"/>
                </a:lnTo>
                <a:lnTo>
                  <a:pt x="0" y="6644122"/>
                </a:lnTo>
                <a:lnTo>
                  <a:pt x="0" y="0"/>
                </a:lnTo>
                <a:close/>
              </a:path>
            </a:pathLst>
          </a:custGeom>
          <a:blipFill>
            <a:blip r:embed="rId4"/>
            <a:stretch>
              <a:fillRect l="-33563" t="-36825" r="-31961" b="-35926"/>
            </a:stretch>
          </a:blipFill>
        </p:spPr>
      </p:sp>
      <p:sp>
        <p:nvSpPr>
          <p:cNvPr name="TextBox 10" id="10"/>
          <p:cNvSpPr txBox="true"/>
          <p:nvPr/>
        </p:nvSpPr>
        <p:spPr>
          <a:xfrm rot="0">
            <a:off x="9144000" y="841660"/>
            <a:ext cx="1662550" cy="409541"/>
          </a:xfrm>
          <a:prstGeom prst="rect">
            <a:avLst/>
          </a:prstGeom>
        </p:spPr>
        <p:txBody>
          <a:bodyPr anchor="t" rtlCol="false" tIns="0" lIns="0" bIns="0" rIns="0">
            <a:spAutoFit/>
          </a:bodyPr>
          <a:lstStyle/>
          <a:p>
            <a:pPr algn="r" marL="0" indent="0" lvl="0">
              <a:lnSpc>
                <a:spcPts val="3151"/>
              </a:lnSpc>
              <a:spcBef>
                <a:spcPct val="0"/>
              </a:spcBef>
            </a:pPr>
            <a:r>
              <a:rPr lang="en-US" sz="2251">
                <a:solidFill>
                  <a:srgbClr val="FFFFFF"/>
                </a:solidFill>
                <a:latin typeface="Poppins"/>
                <a:ea typeface="Poppins"/>
                <a:cs typeface="Poppins"/>
                <a:sym typeface="Poppins"/>
              </a:rPr>
              <a:t>Home</a:t>
            </a:r>
          </a:p>
        </p:txBody>
      </p:sp>
      <p:sp>
        <p:nvSpPr>
          <p:cNvPr name="TextBox 11" id="11"/>
          <p:cNvSpPr txBox="true"/>
          <p:nvPr/>
        </p:nvSpPr>
        <p:spPr>
          <a:xfrm rot="0">
            <a:off x="11408122" y="843874"/>
            <a:ext cx="1907082" cy="409541"/>
          </a:xfrm>
          <a:prstGeom prst="rect">
            <a:avLst/>
          </a:prstGeom>
        </p:spPr>
        <p:txBody>
          <a:bodyPr anchor="t" rtlCol="false" tIns="0" lIns="0" bIns="0" rIns="0">
            <a:spAutoFit/>
          </a:bodyPr>
          <a:lstStyle/>
          <a:p>
            <a:pPr algn="ctr" marL="0" indent="0" lvl="0">
              <a:lnSpc>
                <a:spcPts val="3151"/>
              </a:lnSpc>
              <a:spcBef>
                <a:spcPct val="0"/>
              </a:spcBef>
            </a:pPr>
            <a:r>
              <a:rPr lang="en-US" sz="2251">
                <a:solidFill>
                  <a:srgbClr val="FFFFFF"/>
                </a:solidFill>
                <a:latin typeface="Poppins"/>
                <a:ea typeface="Poppins"/>
                <a:cs typeface="Poppins"/>
                <a:sym typeface="Poppins"/>
              </a:rPr>
              <a:t>About</a:t>
            </a:r>
          </a:p>
        </p:txBody>
      </p:sp>
      <p:sp>
        <p:nvSpPr>
          <p:cNvPr name="TextBox 12" id="12"/>
          <p:cNvSpPr txBox="true"/>
          <p:nvPr/>
        </p:nvSpPr>
        <p:spPr>
          <a:xfrm rot="0">
            <a:off x="13726729" y="819695"/>
            <a:ext cx="1916881" cy="409541"/>
          </a:xfrm>
          <a:prstGeom prst="rect">
            <a:avLst/>
          </a:prstGeom>
        </p:spPr>
        <p:txBody>
          <a:bodyPr anchor="t" rtlCol="false" tIns="0" lIns="0" bIns="0" rIns="0">
            <a:spAutoFit/>
          </a:bodyPr>
          <a:lstStyle/>
          <a:p>
            <a:pPr algn="ctr" marL="0" indent="0" lvl="0">
              <a:lnSpc>
                <a:spcPts val="3151"/>
              </a:lnSpc>
              <a:spcBef>
                <a:spcPct val="0"/>
              </a:spcBef>
            </a:pPr>
            <a:r>
              <a:rPr lang="en-US" b="true" sz="2251">
                <a:solidFill>
                  <a:srgbClr val="FFFFFF"/>
                </a:solidFill>
                <a:latin typeface="Poppins Bold"/>
                <a:ea typeface="Poppins Bold"/>
                <a:cs typeface="Poppins Bold"/>
                <a:sym typeface="Poppins Bold"/>
              </a:rPr>
              <a:t>Content</a:t>
            </a:r>
          </a:p>
        </p:txBody>
      </p:sp>
      <p:sp>
        <p:nvSpPr>
          <p:cNvPr name="TextBox 13" id="13"/>
          <p:cNvSpPr txBox="true"/>
          <p:nvPr/>
        </p:nvSpPr>
        <p:spPr>
          <a:xfrm rot="0">
            <a:off x="15034325" y="841660"/>
            <a:ext cx="2224975" cy="409541"/>
          </a:xfrm>
          <a:prstGeom prst="rect">
            <a:avLst/>
          </a:prstGeom>
        </p:spPr>
        <p:txBody>
          <a:bodyPr anchor="t" rtlCol="false" tIns="0" lIns="0" bIns="0" rIns="0">
            <a:spAutoFit/>
          </a:bodyPr>
          <a:lstStyle/>
          <a:p>
            <a:pPr algn="r" marL="0" indent="0" lvl="0">
              <a:lnSpc>
                <a:spcPts val="3151"/>
              </a:lnSpc>
              <a:spcBef>
                <a:spcPct val="0"/>
              </a:spcBef>
            </a:pPr>
            <a:r>
              <a:rPr lang="en-US" sz="2251">
                <a:solidFill>
                  <a:srgbClr val="FFFFFF"/>
                </a:solidFill>
                <a:latin typeface="Poppins"/>
                <a:ea typeface="Poppins"/>
                <a:cs typeface="Poppins"/>
                <a:sym typeface="Poppins"/>
              </a:rPr>
              <a:t>Others</a:t>
            </a:r>
          </a:p>
        </p:txBody>
      </p:sp>
      <p:sp>
        <p:nvSpPr>
          <p:cNvPr name="TextBox 14" id="14"/>
          <p:cNvSpPr txBox="true"/>
          <p:nvPr/>
        </p:nvSpPr>
        <p:spPr>
          <a:xfrm rot="0">
            <a:off x="1028700" y="2123884"/>
            <a:ext cx="7448336" cy="3767331"/>
          </a:xfrm>
          <a:prstGeom prst="rect">
            <a:avLst/>
          </a:prstGeom>
        </p:spPr>
        <p:txBody>
          <a:bodyPr anchor="t" rtlCol="false" tIns="0" lIns="0" bIns="0" rIns="0">
            <a:spAutoFit/>
          </a:bodyPr>
          <a:lstStyle/>
          <a:p>
            <a:pPr algn="l" marL="582922" indent="-291461" lvl="1">
              <a:lnSpc>
                <a:spcPts val="5075"/>
              </a:lnSpc>
              <a:buFont typeface="Arial"/>
              <a:buChar char="•"/>
            </a:pPr>
            <a:r>
              <a:rPr lang="en-US" sz="2699">
                <a:solidFill>
                  <a:srgbClr val="FFFFFF"/>
                </a:solidFill>
                <a:latin typeface="Lora"/>
                <a:ea typeface="Lora"/>
                <a:cs typeface="Lora"/>
                <a:sym typeface="Lora"/>
              </a:rPr>
              <a:t>Abstract/Executive Summary</a:t>
            </a:r>
          </a:p>
          <a:p>
            <a:pPr algn="l" marL="582922" indent="-291461" lvl="1">
              <a:lnSpc>
                <a:spcPts val="5075"/>
              </a:lnSpc>
              <a:buFont typeface="Arial"/>
              <a:buChar char="•"/>
            </a:pPr>
            <a:r>
              <a:rPr lang="en-US" sz="2699">
                <a:solidFill>
                  <a:srgbClr val="FFFFFF"/>
                </a:solidFill>
                <a:latin typeface="Lora"/>
                <a:ea typeface="Lora"/>
                <a:cs typeface="Lora"/>
                <a:sym typeface="Lora"/>
              </a:rPr>
              <a:t>Introduction</a:t>
            </a:r>
          </a:p>
          <a:p>
            <a:pPr algn="l" marL="582922" indent="-291461" lvl="1">
              <a:lnSpc>
                <a:spcPts val="5075"/>
              </a:lnSpc>
              <a:buFont typeface="Arial"/>
              <a:buChar char="•"/>
            </a:pPr>
            <a:r>
              <a:rPr lang="en-US" sz="2699">
                <a:solidFill>
                  <a:srgbClr val="FFFFFF"/>
                </a:solidFill>
                <a:latin typeface="Lora"/>
                <a:ea typeface="Lora"/>
                <a:cs typeface="Lora"/>
                <a:sym typeface="Lora"/>
              </a:rPr>
              <a:t>Methodology</a:t>
            </a:r>
          </a:p>
          <a:p>
            <a:pPr algn="l" marL="582922" indent="-291461" lvl="1">
              <a:lnSpc>
                <a:spcPts val="5075"/>
              </a:lnSpc>
              <a:buFont typeface="Arial"/>
              <a:buChar char="•"/>
            </a:pPr>
            <a:r>
              <a:rPr lang="en-US" sz="2699">
                <a:solidFill>
                  <a:srgbClr val="FFFFFF"/>
                </a:solidFill>
                <a:latin typeface="Lora"/>
                <a:ea typeface="Lora"/>
                <a:cs typeface="Lora"/>
                <a:sym typeface="Lora"/>
              </a:rPr>
              <a:t>Visualizations</a:t>
            </a:r>
          </a:p>
          <a:p>
            <a:pPr algn="l" marL="582922" indent="-291461" lvl="1">
              <a:lnSpc>
                <a:spcPts val="5075"/>
              </a:lnSpc>
              <a:buFont typeface="Arial"/>
              <a:buChar char="•"/>
            </a:pPr>
            <a:r>
              <a:rPr lang="en-US" sz="2699">
                <a:solidFill>
                  <a:srgbClr val="FFFFFF"/>
                </a:solidFill>
                <a:latin typeface="Lora"/>
                <a:ea typeface="Lora"/>
                <a:cs typeface="Lora"/>
                <a:sym typeface="Lora"/>
              </a:rPr>
              <a:t>Results &amp; Keyfindings</a:t>
            </a:r>
          </a:p>
          <a:p>
            <a:pPr algn="l" marL="582922" indent="-291461" lvl="1">
              <a:lnSpc>
                <a:spcPts val="5075"/>
              </a:lnSpc>
              <a:buFont typeface="Arial"/>
              <a:buChar char="•"/>
            </a:pPr>
            <a:r>
              <a:rPr lang="en-US" sz="2699">
                <a:solidFill>
                  <a:srgbClr val="FFFFFF"/>
                </a:solidFill>
                <a:latin typeface="Lora"/>
                <a:ea typeface="Lora"/>
                <a:cs typeface="Lora"/>
                <a:sym typeface="Lora"/>
              </a:rPr>
              <a:t>Conclusions</a:t>
            </a:r>
          </a:p>
        </p:txBody>
      </p:sp>
      <p:sp>
        <p:nvSpPr>
          <p:cNvPr name="TextBox 15" id="15"/>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Canva Sans"/>
                <a:ea typeface="Canva Sans"/>
                <a:cs typeface="Canva Sans"/>
                <a:sym typeface="Canva Sans"/>
              </a:rPr>
              <a:t>2</a:t>
            </a:r>
          </a:p>
        </p:txBody>
      </p:sp>
      <p:sp>
        <p:nvSpPr>
          <p:cNvPr name="TextBox 16" id="16"/>
          <p:cNvSpPr txBox="true"/>
          <p:nvPr/>
        </p:nvSpPr>
        <p:spPr>
          <a:xfrm rot="0">
            <a:off x="1457549" y="808409"/>
            <a:ext cx="3633870" cy="445006"/>
          </a:xfrm>
          <a:prstGeom prst="rect">
            <a:avLst/>
          </a:prstGeom>
        </p:spPr>
        <p:txBody>
          <a:bodyPr anchor="t" rtlCol="false" tIns="0" lIns="0" bIns="0" rIns="0">
            <a:spAutoFit/>
          </a:bodyPr>
          <a:lstStyle/>
          <a:p>
            <a:pPr algn="l">
              <a:lnSpc>
                <a:spcPts val="3391"/>
              </a:lnSpc>
              <a:spcBef>
                <a:spcPct val="0"/>
              </a:spcBef>
            </a:pPr>
            <a:r>
              <a:rPr lang="en-US" b="true" sz="2422" spc="-109">
                <a:solidFill>
                  <a:srgbClr val="FFFFFF"/>
                </a:solidFill>
                <a:latin typeface="Telegraf Bold"/>
                <a:ea typeface="Telegraf Bold"/>
                <a:cs typeface="Telegraf Bold"/>
                <a:sym typeface="Telegraf Bold"/>
              </a:rPr>
              <a:t>Forensics Analytics</a:t>
            </a:r>
          </a:p>
        </p:txBody>
      </p:sp>
    </p:spTree>
  </p:cSld>
  <p:clrMapOvr>
    <a:masterClrMapping/>
  </p:clrMapOvr>
  <p:transition spd="slow">
    <p:push dir="l"/>
  </p:transition>
</p:sld>
</file>

<file path=ppt/slides/slide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9033D">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0">
            <a:off x="803986" y="803986"/>
            <a:ext cx="449429" cy="449429"/>
          </a:xfrm>
          <a:custGeom>
            <a:avLst/>
            <a:gdLst/>
            <a:ahLst/>
            <a:cxnLst/>
            <a:rect r="r" b="b" t="t" l="l"/>
            <a:pathLst>
              <a:path h="449429" w="449429">
                <a:moveTo>
                  <a:pt x="0" y="0"/>
                </a:moveTo>
                <a:lnTo>
                  <a:pt x="449428" y="0"/>
                </a:lnTo>
                <a:lnTo>
                  <a:pt x="449428" y="449428"/>
                </a:lnTo>
                <a:lnTo>
                  <a:pt x="0" y="4494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28700" y="2156044"/>
            <a:ext cx="16230600" cy="6088682"/>
            <a:chOff x="0" y="0"/>
            <a:chExt cx="4274726" cy="1603604"/>
          </a:xfrm>
        </p:grpSpPr>
        <p:sp>
          <p:nvSpPr>
            <p:cNvPr name="Freeform 4" id="4"/>
            <p:cNvSpPr/>
            <p:nvPr/>
          </p:nvSpPr>
          <p:spPr>
            <a:xfrm flipH="false" flipV="false" rot="0">
              <a:off x="0" y="0"/>
              <a:ext cx="4274726" cy="1603604"/>
            </a:xfrm>
            <a:custGeom>
              <a:avLst/>
              <a:gdLst/>
              <a:ahLst/>
              <a:cxnLst/>
              <a:rect r="r" b="b" t="t" l="l"/>
              <a:pathLst>
                <a:path h="1603604" w="4274726">
                  <a:moveTo>
                    <a:pt x="26712" y="0"/>
                  </a:moveTo>
                  <a:lnTo>
                    <a:pt x="4248014" y="0"/>
                  </a:lnTo>
                  <a:cubicBezTo>
                    <a:pt x="4255098" y="0"/>
                    <a:pt x="4261893" y="2814"/>
                    <a:pt x="4266902" y="7824"/>
                  </a:cubicBezTo>
                  <a:cubicBezTo>
                    <a:pt x="4271912" y="12833"/>
                    <a:pt x="4274726" y="19627"/>
                    <a:pt x="4274726" y="26712"/>
                  </a:cubicBezTo>
                  <a:lnTo>
                    <a:pt x="4274726" y="1576892"/>
                  </a:lnTo>
                  <a:cubicBezTo>
                    <a:pt x="4274726" y="1583976"/>
                    <a:pt x="4271912" y="1590770"/>
                    <a:pt x="4266902" y="1595780"/>
                  </a:cubicBezTo>
                  <a:cubicBezTo>
                    <a:pt x="4261893" y="1600789"/>
                    <a:pt x="4255098" y="1603604"/>
                    <a:pt x="4248014" y="1603604"/>
                  </a:cubicBezTo>
                  <a:lnTo>
                    <a:pt x="26712" y="1603604"/>
                  </a:lnTo>
                  <a:cubicBezTo>
                    <a:pt x="19627" y="1603604"/>
                    <a:pt x="12833" y="1600789"/>
                    <a:pt x="7824" y="1595780"/>
                  </a:cubicBezTo>
                  <a:cubicBezTo>
                    <a:pt x="2814" y="1590770"/>
                    <a:pt x="0" y="1583976"/>
                    <a:pt x="0" y="1576892"/>
                  </a:cubicBezTo>
                  <a:lnTo>
                    <a:pt x="0" y="26712"/>
                  </a:lnTo>
                  <a:cubicBezTo>
                    <a:pt x="0" y="19627"/>
                    <a:pt x="2814" y="12833"/>
                    <a:pt x="7824" y="7824"/>
                  </a:cubicBezTo>
                  <a:cubicBezTo>
                    <a:pt x="12833" y="2814"/>
                    <a:pt x="19627" y="0"/>
                    <a:pt x="26712" y="0"/>
                  </a:cubicBezTo>
                  <a:close/>
                </a:path>
              </a:pathLst>
            </a:custGeom>
            <a:gradFill rotWithShape="true">
              <a:gsLst>
                <a:gs pos="0">
                  <a:srgbClr val="000F9B">
                    <a:alpha val="100000"/>
                  </a:srgbClr>
                </a:gs>
                <a:gs pos="50000">
                  <a:srgbClr val="EB0000">
                    <a:alpha val="100000"/>
                  </a:srgbClr>
                </a:gs>
                <a:gs pos="100000">
                  <a:srgbClr val="A000EB">
                    <a:alpha val="100000"/>
                  </a:srgbClr>
                </a:gs>
              </a:gsLst>
              <a:path path="circle">
                <a:fillToRect l="0" r="100000" t="0" b="100000"/>
              </a:path>
              <a:tileRect r="0" l="-100000" b="0" t="-100000"/>
            </a:gradFill>
          </p:spPr>
        </p:sp>
        <p:sp>
          <p:nvSpPr>
            <p:cNvPr name="TextBox 5" id="5"/>
            <p:cNvSpPr txBox="true"/>
            <p:nvPr/>
          </p:nvSpPr>
          <p:spPr>
            <a:xfrm>
              <a:off x="0" y="-66675"/>
              <a:ext cx="4274726" cy="1670279"/>
            </a:xfrm>
            <a:prstGeom prst="rect">
              <a:avLst/>
            </a:prstGeom>
          </p:spPr>
          <p:txBody>
            <a:bodyPr anchor="ctr" rtlCol="false" tIns="50800" lIns="50800" bIns="50800" rIns="50800"/>
            <a:lstStyle/>
            <a:p>
              <a:pPr algn="ctr">
                <a:lnSpc>
                  <a:spcPts val="3151"/>
                </a:lnSpc>
              </a:pPr>
            </a:p>
          </p:txBody>
        </p:sp>
      </p:grpSp>
      <p:sp>
        <p:nvSpPr>
          <p:cNvPr name="TextBox 6" id="6"/>
          <p:cNvSpPr txBox="true"/>
          <p:nvPr/>
        </p:nvSpPr>
        <p:spPr>
          <a:xfrm rot="0">
            <a:off x="1458684" y="2717231"/>
            <a:ext cx="5271043" cy="930345"/>
          </a:xfrm>
          <a:prstGeom prst="rect">
            <a:avLst/>
          </a:prstGeom>
        </p:spPr>
        <p:txBody>
          <a:bodyPr anchor="t" rtlCol="false" tIns="0" lIns="0" bIns="0" rIns="0">
            <a:spAutoFit/>
          </a:bodyPr>
          <a:lstStyle/>
          <a:p>
            <a:pPr algn="l">
              <a:lnSpc>
                <a:spcPts val="6485"/>
              </a:lnSpc>
            </a:pPr>
            <a:r>
              <a:rPr lang="en-US" sz="6358" spc="-286" b="true">
                <a:solidFill>
                  <a:srgbClr val="FFFFFF"/>
                </a:solidFill>
                <a:latin typeface="Telegraf Bold"/>
                <a:ea typeface="Telegraf Bold"/>
                <a:cs typeface="Telegraf Bold"/>
                <a:sym typeface="Telegraf Bold"/>
              </a:rPr>
              <a:t>Abstract</a:t>
            </a:r>
          </a:p>
        </p:txBody>
      </p:sp>
      <p:sp>
        <p:nvSpPr>
          <p:cNvPr name="TextBox 7" id="7"/>
          <p:cNvSpPr txBox="true"/>
          <p:nvPr/>
        </p:nvSpPr>
        <p:spPr>
          <a:xfrm rot="0">
            <a:off x="1458684" y="3749029"/>
            <a:ext cx="15337749" cy="4200299"/>
          </a:xfrm>
          <a:prstGeom prst="rect">
            <a:avLst/>
          </a:prstGeom>
        </p:spPr>
        <p:txBody>
          <a:bodyPr anchor="t" rtlCol="false" tIns="0" lIns="0" bIns="0" rIns="0">
            <a:spAutoFit/>
          </a:bodyPr>
          <a:lstStyle/>
          <a:p>
            <a:pPr algn="l">
              <a:lnSpc>
                <a:spcPts val="3741"/>
              </a:lnSpc>
            </a:pPr>
            <a:r>
              <a:rPr lang="en-US" sz="2616">
                <a:solidFill>
                  <a:srgbClr val="FFFFFF"/>
                </a:solidFill>
                <a:latin typeface="Poppins"/>
                <a:ea typeface="Poppins"/>
                <a:cs typeface="Poppins"/>
                <a:sym typeface="Poppins"/>
              </a:rPr>
              <a:t>This project presents a comprehensive, multi-modal forensic analytics framework designed to detect and interpret irregularities in electoral processes by analyzing both structured voter registry data and unstructured social media discourse. Using a synthetic voter dataset of 1,000 records and a corpus of 3,000 election-related tweets, we applied a combination of statistical forensics (including Benford’s Law and outlier analysis), unsupervised anomaly detection (Isolation Forest, DBSCAN), and supervised machine learning (Random Forest classifier). Simultaneously, we utilized natural language processing to examine sentiment, dominant narratives, misinformation trends, and coordinated campaigns within social media.</a:t>
            </a:r>
          </a:p>
        </p:txBody>
      </p:sp>
      <p:sp>
        <p:nvSpPr>
          <p:cNvPr name="TextBox 8" id="8"/>
          <p:cNvSpPr txBox="true"/>
          <p:nvPr/>
        </p:nvSpPr>
        <p:spPr>
          <a:xfrm rot="0">
            <a:off x="9144000" y="841660"/>
            <a:ext cx="1662550" cy="409541"/>
          </a:xfrm>
          <a:prstGeom prst="rect">
            <a:avLst/>
          </a:prstGeom>
        </p:spPr>
        <p:txBody>
          <a:bodyPr anchor="t" rtlCol="false" tIns="0" lIns="0" bIns="0" rIns="0">
            <a:spAutoFit/>
          </a:bodyPr>
          <a:lstStyle/>
          <a:p>
            <a:pPr algn="r" marL="0" indent="0" lvl="0">
              <a:lnSpc>
                <a:spcPts val="3151"/>
              </a:lnSpc>
              <a:spcBef>
                <a:spcPct val="0"/>
              </a:spcBef>
            </a:pPr>
            <a:r>
              <a:rPr lang="en-US" sz="2251">
                <a:solidFill>
                  <a:srgbClr val="FFFFFF"/>
                </a:solidFill>
                <a:latin typeface="Poppins"/>
                <a:ea typeface="Poppins"/>
                <a:cs typeface="Poppins"/>
                <a:sym typeface="Poppins"/>
              </a:rPr>
              <a:t>Home</a:t>
            </a:r>
          </a:p>
        </p:txBody>
      </p:sp>
      <p:sp>
        <p:nvSpPr>
          <p:cNvPr name="TextBox 9" id="9"/>
          <p:cNvSpPr txBox="true"/>
          <p:nvPr/>
        </p:nvSpPr>
        <p:spPr>
          <a:xfrm rot="0">
            <a:off x="11408122" y="843874"/>
            <a:ext cx="1907082" cy="409541"/>
          </a:xfrm>
          <a:prstGeom prst="rect">
            <a:avLst/>
          </a:prstGeom>
        </p:spPr>
        <p:txBody>
          <a:bodyPr anchor="t" rtlCol="false" tIns="0" lIns="0" bIns="0" rIns="0">
            <a:spAutoFit/>
          </a:bodyPr>
          <a:lstStyle/>
          <a:p>
            <a:pPr algn="ctr" marL="0" indent="0" lvl="0">
              <a:lnSpc>
                <a:spcPts val="3151"/>
              </a:lnSpc>
              <a:spcBef>
                <a:spcPct val="0"/>
              </a:spcBef>
            </a:pPr>
            <a:r>
              <a:rPr lang="en-US" sz="2251">
                <a:solidFill>
                  <a:srgbClr val="FFFFFF"/>
                </a:solidFill>
                <a:latin typeface="Poppins"/>
                <a:ea typeface="Poppins"/>
                <a:cs typeface="Poppins"/>
                <a:sym typeface="Poppins"/>
              </a:rPr>
              <a:t>About</a:t>
            </a:r>
          </a:p>
        </p:txBody>
      </p:sp>
      <p:sp>
        <p:nvSpPr>
          <p:cNvPr name="TextBox 10" id="10"/>
          <p:cNvSpPr txBox="true"/>
          <p:nvPr/>
        </p:nvSpPr>
        <p:spPr>
          <a:xfrm rot="0">
            <a:off x="13726729" y="819695"/>
            <a:ext cx="1916881" cy="409541"/>
          </a:xfrm>
          <a:prstGeom prst="rect">
            <a:avLst/>
          </a:prstGeom>
        </p:spPr>
        <p:txBody>
          <a:bodyPr anchor="t" rtlCol="false" tIns="0" lIns="0" bIns="0" rIns="0">
            <a:spAutoFit/>
          </a:bodyPr>
          <a:lstStyle/>
          <a:p>
            <a:pPr algn="ctr" marL="0" indent="0" lvl="0">
              <a:lnSpc>
                <a:spcPts val="3151"/>
              </a:lnSpc>
              <a:spcBef>
                <a:spcPct val="0"/>
              </a:spcBef>
            </a:pPr>
            <a:r>
              <a:rPr lang="en-US" b="true" sz="2251">
                <a:solidFill>
                  <a:srgbClr val="FFFFFF"/>
                </a:solidFill>
                <a:latin typeface="Poppins Bold"/>
                <a:ea typeface="Poppins Bold"/>
                <a:cs typeface="Poppins Bold"/>
                <a:sym typeface="Poppins Bold"/>
              </a:rPr>
              <a:t>Content</a:t>
            </a:r>
          </a:p>
        </p:txBody>
      </p:sp>
      <p:sp>
        <p:nvSpPr>
          <p:cNvPr name="TextBox 11" id="11"/>
          <p:cNvSpPr txBox="true"/>
          <p:nvPr/>
        </p:nvSpPr>
        <p:spPr>
          <a:xfrm rot="0">
            <a:off x="15034325" y="841660"/>
            <a:ext cx="2224975" cy="409541"/>
          </a:xfrm>
          <a:prstGeom prst="rect">
            <a:avLst/>
          </a:prstGeom>
        </p:spPr>
        <p:txBody>
          <a:bodyPr anchor="t" rtlCol="false" tIns="0" lIns="0" bIns="0" rIns="0">
            <a:spAutoFit/>
          </a:bodyPr>
          <a:lstStyle/>
          <a:p>
            <a:pPr algn="r" marL="0" indent="0" lvl="0">
              <a:lnSpc>
                <a:spcPts val="3151"/>
              </a:lnSpc>
              <a:spcBef>
                <a:spcPct val="0"/>
              </a:spcBef>
            </a:pPr>
            <a:r>
              <a:rPr lang="en-US" sz="2251">
                <a:solidFill>
                  <a:srgbClr val="FFFFFF"/>
                </a:solidFill>
                <a:latin typeface="Poppins"/>
                <a:ea typeface="Poppins"/>
                <a:cs typeface="Poppins"/>
                <a:sym typeface="Poppins"/>
              </a:rPr>
              <a:t>Others</a:t>
            </a:r>
          </a:p>
        </p:txBody>
      </p:sp>
      <p:sp>
        <p:nvSpPr>
          <p:cNvPr name="Freeform 12" id="12"/>
          <p:cNvSpPr/>
          <p:nvPr/>
        </p:nvSpPr>
        <p:spPr>
          <a:xfrm flipH="false" flipV="false" rot="0">
            <a:off x="1253414" y="8575898"/>
            <a:ext cx="5466250" cy="5466250"/>
          </a:xfrm>
          <a:custGeom>
            <a:avLst/>
            <a:gdLst/>
            <a:ahLst/>
            <a:cxnLst/>
            <a:rect r="r" b="b" t="t" l="l"/>
            <a:pathLst>
              <a:path h="5466250" w="5466250">
                <a:moveTo>
                  <a:pt x="0" y="0"/>
                </a:moveTo>
                <a:lnTo>
                  <a:pt x="5466250" y="0"/>
                </a:lnTo>
                <a:lnTo>
                  <a:pt x="5466250" y="5466250"/>
                </a:lnTo>
                <a:lnTo>
                  <a:pt x="0" y="54662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10177361" y="8575898"/>
            <a:ext cx="5466250" cy="5466250"/>
          </a:xfrm>
          <a:custGeom>
            <a:avLst/>
            <a:gdLst/>
            <a:ahLst/>
            <a:cxnLst/>
            <a:rect r="r" b="b" t="t" l="l"/>
            <a:pathLst>
              <a:path h="5466250" w="5466250">
                <a:moveTo>
                  <a:pt x="0" y="0"/>
                </a:moveTo>
                <a:lnTo>
                  <a:pt x="5466250" y="0"/>
                </a:lnTo>
                <a:lnTo>
                  <a:pt x="5466250" y="5466250"/>
                </a:lnTo>
                <a:lnTo>
                  <a:pt x="0" y="54662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4" id="14"/>
          <p:cNvSpPr txBox="true"/>
          <p:nvPr/>
        </p:nvSpPr>
        <p:spPr>
          <a:xfrm rot="0">
            <a:off x="1363845" y="768097"/>
            <a:ext cx="3551055" cy="445006"/>
          </a:xfrm>
          <a:prstGeom prst="rect">
            <a:avLst/>
          </a:prstGeom>
        </p:spPr>
        <p:txBody>
          <a:bodyPr anchor="t" rtlCol="false" tIns="0" lIns="0" bIns="0" rIns="0">
            <a:spAutoFit/>
          </a:bodyPr>
          <a:lstStyle/>
          <a:p>
            <a:pPr algn="l">
              <a:lnSpc>
                <a:spcPts val="3391"/>
              </a:lnSpc>
              <a:spcBef>
                <a:spcPct val="0"/>
              </a:spcBef>
            </a:pPr>
            <a:r>
              <a:rPr lang="en-US" b="true" sz="2422" spc="-109">
                <a:solidFill>
                  <a:srgbClr val="FFFFFF"/>
                </a:solidFill>
                <a:latin typeface="Telegraf Bold"/>
                <a:ea typeface="Telegraf Bold"/>
                <a:cs typeface="Telegraf Bold"/>
                <a:sym typeface="Telegraf Bold"/>
              </a:rPr>
              <a:t>Forensics Analytics</a:t>
            </a:r>
          </a:p>
        </p:txBody>
      </p:sp>
    </p:spTree>
  </p:cSld>
  <p:clrMapOvr>
    <a:masterClrMapping/>
  </p:clrMapOvr>
  <p:transition spd="slow">
    <p:push dir="l"/>
  </p:transition>
</p:sld>
</file>

<file path=ppt/slides/slide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9033D">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0">
            <a:off x="803986" y="803986"/>
            <a:ext cx="449429" cy="449429"/>
          </a:xfrm>
          <a:custGeom>
            <a:avLst/>
            <a:gdLst/>
            <a:ahLst/>
            <a:cxnLst/>
            <a:rect r="r" b="b" t="t" l="l"/>
            <a:pathLst>
              <a:path h="449429" w="449429">
                <a:moveTo>
                  <a:pt x="0" y="0"/>
                </a:moveTo>
                <a:lnTo>
                  <a:pt x="449428" y="0"/>
                </a:lnTo>
                <a:lnTo>
                  <a:pt x="449428" y="449428"/>
                </a:lnTo>
                <a:lnTo>
                  <a:pt x="0" y="4494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803986" y="3416629"/>
            <a:ext cx="16455314" cy="5841671"/>
            <a:chOff x="0" y="0"/>
            <a:chExt cx="3111478" cy="1104581"/>
          </a:xfrm>
        </p:grpSpPr>
        <p:sp>
          <p:nvSpPr>
            <p:cNvPr name="Freeform 4" id="4"/>
            <p:cNvSpPr/>
            <p:nvPr/>
          </p:nvSpPr>
          <p:spPr>
            <a:xfrm flipH="false" flipV="false" rot="0">
              <a:off x="0" y="0"/>
              <a:ext cx="3111478" cy="1104581"/>
            </a:xfrm>
            <a:custGeom>
              <a:avLst/>
              <a:gdLst/>
              <a:ahLst/>
              <a:cxnLst/>
              <a:rect r="r" b="b" t="t" l="l"/>
              <a:pathLst>
                <a:path h="1104581" w="3111478">
                  <a:moveTo>
                    <a:pt x="26347" y="0"/>
                  </a:moveTo>
                  <a:lnTo>
                    <a:pt x="3085131" y="0"/>
                  </a:lnTo>
                  <a:cubicBezTo>
                    <a:pt x="3092119" y="0"/>
                    <a:pt x="3098820" y="2776"/>
                    <a:pt x="3103761" y="7717"/>
                  </a:cubicBezTo>
                  <a:cubicBezTo>
                    <a:pt x="3108702" y="12658"/>
                    <a:pt x="3111478" y="19359"/>
                    <a:pt x="3111478" y="26347"/>
                  </a:cubicBezTo>
                  <a:lnTo>
                    <a:pt x="3111478" y="1078234"/>
                  </a:lnTo>
                  <a:cubicBezTo>
                    <a:pt x="3111478" y="1092785"/>
                    <a:pt x="3099682" y="1104581"/>
                    <a:pt x="3085131" y="1104581"/>
                  </a:cubicBezTo>
                  <a:lnTo>
                    <a:pt x="26347" y="1104581"/>
                  </a:lnTo>
                  <a:cubicBezTo>
                    <a:pt x="19359" y="1104581"/>
                    <a:pt x="12658" y="1101805"/>
                    <a:pt x="7717" y="1096864"/>
                  </a:cubicBezTo>
                  <a:cubicBezTo>
                    <a:pt x="2776" y="1091923"/>
                    <a:pt x="0" y="1085222"/>
                    <a:pt x="0" y="1078234"/>
                  </a:cubicBezTo>
                  <a:lnTo>
                    <a:pt x="0" y="26347"/>
                  </a:lnTo>
                  <a:cubicBezTo>
                    <a:pt x="0" y="19359"/>
                    <a:pt x="2776" y="12658"/>
                    <a:pt x="7717" y="7717"/>
                  </a:cubicBezTo>
                  <a:cubicBezTo>
                    <a:pt x="12658" y="2776"/>
                    <a:pt x="19359" y="0"/>
                    <a:pt x="26347" y="0"/>
                  </a:cubicBezTo>
                  <a:close/>
                </a:path>
              </a:pathLst>
            </a:custGeom>
            <a:gradFill rotWithShape="true">
              <a:gsLst>
                <a:gs pos="0">
                  <a:srgbClr val="000000">
                    <a:alpha val="78000"/>
                  </a:srgbClr>
                </a:gs>
                <a:gs pos="100000">
                  <a:srgbClr val="DDDDDD">
                    <a:alpha val="14820"/>
                  </a:srgbClr>
                </a:gs>
              </a:gsLst>
              <a:lin ang="2700000"/>
            </a:gradFill>
          </p:spPr>
        </p:sp>
        <p:sp>
          <p:nvSpPr>
            <p:cNvPr name="TextBox 5" id="5"/>
            <p:cNvSpPr txBox="true"/>
            <p:nvPr/>
          </p:nvSpPr>
          <p:spPr>
            <a:xfrm>
              <a:off x="0" y="-66675"/>
              <a:ext cx="3111478" cy="1171256"/>
            </a:xfrm>
            <a:prstGeom prst="rect">
              <a:avLst/>
            </a:prstGeom>
          </p:spPr>
          <p:txBody>
            <a:bodyPr anchor="ctr" rtlCol="false" tIns="50800" lIns="50800" bIns="50800" rIns="50800"/>
            <a:lstStyle/>
            <a:p>
              <a:pPr algn="ctr">
                <a:lnSpc>
                  <a:spcPts val="3151"/>
                </a:lnSpc>
              </a:pPr>
            </a:p>
          </p:txBody>
        </p:sp>
      </p:grpSp>
      <p:sp>
        <p:nvSpPr>
          <p:cNvPr name="Freeform 6" id="6"/>
          <p:cNvSpPr/>
          <p:nvPr/>
        </p:nvSpPr>
        <p:spPr>
          <a:xfrm flipH="false" flipV="false" rot="0">
            <a:off x="15349735" y="7826714"/>
            <a:ext cx="1018056" cy="1018056"/>
          </a:xfrm>
          <a:custGeom>
            <a:avLst/>
            <a:gdLst/>
            <a:ahLst/>
            <a:cxnLst/>
            <a:rect r="r" b="b" t="t" l="l"/>
            <a:pathLst>
              <a:path h="1018056" w="1018056">
                <a:moveTo>
                  <a:pt x="0" y="0"/>
                </a:moveTo>
                <a:lnTo>
                  <a:pt x="1018055" y="0"/>
                </a:lnTo>
                <a:lnTo>
                  <a:pt x="1018055" y="1018056"/>
                </a:lnTo>
                <a:lnTo>
                  <a:pt x="0" y="101805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Canva Sans"/>
                <a:ea typeface="Canva Sans"/>
                <a:cs typeface="Canva Sans"/>
                <a:sym typeface="Canva Sans"/>
              </a:rPr>
              <a:t>4</a:t>
            </a:r>
          </a:p>
        </p:txBody>
      </p:sp>
      <p:sp>
        <p:nvSpPr>
          <p:cNvPr name="TextBox 8" id="8"/>
          <p:cNvSpPr txBox="true"/>
          <p:nvPr/>
        </p:nvSpPr>
        <p:spPr>
          <a:xfrm rot="0">
            <a:off x="803986" y="3665520"/>
            <a:ext cx="16455314" cy="2941032"/>
          </a:xfrm>
          <a:prstGeom prst="rect">
            <a:avLst/>
          </a:prstGeom>
        </p:spPr>
        <p:txBody>
          <a:bodyPr anchor="t" rtlCol="false" tIns="0" lIns="0" bIns="0" rIns="0">
            <a:spAutoFit/>
          </a:bodyPr>
          <a:lstStyle/>
          <a:p>
            <a:pPr algn="l" marL="671471" indent="-335735" lvl="1">
              <a:lnSpc>
                <a:spcPts val="5815"/>
              </a:lnSpc>
              <a:buFont typeface="Arial"/>
              <a:buChar char="•"/>
            </a:pPr>
            <a:r>
              <a:rPr lang="en-US" b="true" sz="3110">
                <a:solidFill>
                  <a:srgbClr val="FFFFFF"/>
                </a:solidFill>
                <a:latin typeface="Arimo Bold"/>
                <a:ea typeface="Arimo Bold"/>
                <a:cs typeface="Arimo Bold"/>
                <a:sym typeface="Arimo Bold"/>
              </a:rPr>
              <a:t>Background:</a:t>
            </a:r>
            <a:r>
              <a:rPr lang="en-US" sz="3110">
                <a:solidFill>
                  <a:srgbClr val="FFFFFF"/>
                </a:solidFill>
                <a:latin typeface="Arimo"/>
                <a:ea typeface="Arimo"/>
                <a:cs typeface="Arimo"/>
                <a:sym typeface="Arimo"/>
              </a:rPr>
              <a:t> Election integrity is vital for democracy but threatened by modern fraud (duplicate identities, fabricated votes, disinformation).</a:t>
            </a:r>
          </a:p>
          <a:p>
            <a:pPr algn="l" marL="693060" indent="-346530" lvl="1">
              <a:lnSpc>
                <a:spcPts val="6002"/>
              </a:lnSpc>
              <a:buFont typeface="Arial"/>
              <a:buChar char="•"/>
            </a:pPr>
            <a:r>
              <a:rPr lang="en-US" b="true" sz="3210">
                <a:solidFill>
                  <a:srgbClr val="FFFFFF"/>
                </a:solidFill>
                <a:latin typeface="Arimo Bold"/>
                <a:ea typeface="Arimo Bold"/>
                <a:cs typeface="Arimo Bold"/>
                <a:sym typeface="Arimo Bold"/>
              </a:rPr>
              <a:t>Purpose:</a:t>
            </a:r>
            <a:r>
              <a:rPr lang="en-US" sz="3210">
                <a:solidFill>
                  <a:srgbClr val="FFFFFF"/>
                </a:solidFill>
                <a:latin typeface="Arimo"/>
                <a:ea typeface="Arimo"/>
                <a:cs typeface="Arimo"/>
                <a:sym typeface="Arimo"/>
              </a:rPr>
              <a:t> Build a pipeline that integrates traditional (registry) forensics with digital (tweet/NLP) analytics for a holistic fraud risk assessment.</a:t>
            </a:r>
          </a:p>
        </p:txBody>
      </p:sp>
      <p:sp>
        <p:nvSpPr>
          <p:cNvPr name="TextBox 9" id="9"/>
          <p:cNvSpPr txBox="true"/>
          <p:nvPr/>
        </p:nvSpPr>
        <p:spPr>
          <a:xfrm rot="0">
            <a:off x="9144000" y="841660"/>
            <a:ext cx="1662550" cy="409541"/>
          </a:xfrm>
          <a:prstGeom prst="rect">
            <a:avLst/>
          </a:prstGeom>
        </p:spPr>
        <p:txBody>
          <a:bodyPr anchor="t" rtlCol="false" tIns="0" lIns="0" bIns="0" rIns="0">
            <a:spAutoFit/>
          </a:bodyPr>
          <a:lstStyle/>
          <a:p>
            <a:pPr algn="r" marL="0" indent="0" lvl="0">
              <a:lnSpc>
                <a:spcPts val="3151"/>
              </a:lnSpc>
              <a:spcBef>
                <a:spcPct val="0"/>
              </a:spcBef>
            </a:pPr>
            <a:r>
              <a:rPr lang="en-US" sz="2251">
                <a:solidFill>
                  <a:srgbClr val="FFFFFF"/>
                </a:solidFill>
                <a:latin typeface="Poppins"/>
                <a:ea typeface="Poppins"/>
                <a:cs typeface="Poppins"/>
                <a:sym typeface="Poppins"/>
              </a:rPr>
              <a:t>Home</a:t>
            </a:r>
          </a:p>
        </p:txBody>
      </p:sp>
      <p:sp>
        <p:nvSpPr>
          <p:cNvPr name="TextBox 10" id="10"/>
          <p:cNvSpPr txBox="true"/>
          <p:nvPr/>
        </p:nvSpPr>
        <p:spPr>
          <a:xfrm rot="0">
            <a:off x="11408122" y="843874"/>
            <a:ext cx="1907082" cy="409541"/>
          </a:xfrm>
          <a:prstGeom prst="rect">
            <a:avLst/>
          </a:prstGeom>
        </p:spPr>
        <p:txBody>
          <a:bodyPr anchor="t" rtlCol="false" tIns="0" lIns="0" bIns="0" rIns="0">
            <a:spAutoFit/>
          </a:bodyPr>
          <a:lstStyle/>
          <a:p>
            <a:pPr algn="ctr" marL="0" indent="0" lvl="0">
              <a:lnSpc>
                <a:spcPts val="3151"/>
              </a:lnSpc>
              <a:spcBef>
                <a:spcPct val="0"/>
              </a:spcBef>
            </a:pPr>
            <a:r>
              <a:rPr lang="en-US" sz="2251">
                <a:solidFill>
                  <a:srgbClr val="FFFFFF"/>
                </a:solidFill>
                <a:latin typeface="Poppins"/>
                <a:ea typeface="Poppins"/>
                <a:cs typeface="Poppins"/>
                <a:sym typeface="Poppins"/>
              </a:rPr>
              <a:t>About</a:t>
            </a:r>
          </a:p>
        </p:txBody>
      </p:sp>
      <p:sp>
        <p:nvSpPr>
          <p:cNvPr name="TextBox 11" id="11"/>
          <p:cNvSpPr txBox="true"/>
          <p:nvPr/>
        </p:nvSpPr>
        <p:spPr>
          <a:xfrm rot="0">
            <a:off x="13726729" y="819695"/>
            <a:ext cx="1916881" cy="409541"/>
          </a:xfrm>
          <a:prstGeom prst="rect">
            <a:avLst/>
          </a:prstGeom>
        </p:spPr>
        <p:txBody>
          <a:bodyPr anchor="t" rtlCol="false" tIns="0" lIns="0" bIns="0" rIns="0">
            <a:spAutoFit/>
          </a:bodyPr>
          <a:lstStyle/>
          <a:p>
            <a:pPr algn="ctr" marL="0" indent="0" lvl="0">
              <a:lnSpc>
                <a:spcPts val="3151"/>
              </a:lnSpc>
              <a:spcBef>
                <a:spcPct val="0"/>
              </a:spcBef>
            </a:pPr>
            <a:r>
              <a:rPr lang="en-US" b="true" sz="2251">
                <a:solidFill>
                  <a:srgbClr val="FFFFFF"/>
                </a:solidFill>
                <a:latin typeface="Poppins Bold"/>
                <a:ea typeface="Poppins Bold"/>
                <a:cs typeface="Poppins Bold"/>
                <a:sym typeface="Poppins Bold"/>
              </a:rPr>
              <a:t>Content</a:t>
            </a:r>
          </a:p>
        </p:txBody>
      </p:sp>
      <p:sp>
        <p:nvSpPr>
          <p:cNvPr name="TextBox 12" id="12"/>
          <p:cNvSpPr txBox="true"/>
          <p:nvPr/>
        </p:nvSpPr>
        <p:spPr>
          <a:xfrm rot="0">
            <a:off x="15034325" y="841660"/>
            <a:ext cx="2224975" cy="409541"/>
          </a:xfrm>
          <a:prstGeom prst="rect">
            <a:avLst/>
          </a:prstGeom>
        </p:spPr>
        <p:txBody>
          <a:bodyPr anchor="t" rtlCol="false" tIns="0" lIns="0" bIns="0" rIns="0">
            <a:spAutoFit/>
          </a:bodyPr>
          <a:lstStyle/>
          <a:p>
            <a:pPr algn="r" marL="0" indent="0" lvl="0">
              <a:lnSpc>
                <a:spcPts val="3151"/>
              </a:lnSpc>
              <a:spcBef>
                <a:spcPct val="0"/>
              </a:spcBef>
            </a:pPr>
            <a:r>
              <a:rPr lang="en-US" sz="2251">
                <a:solidFill>
                  <a:srgbClr val="FFFFFF"/>
                </a:solidFill>
                <a:latin typeface="Poppins"/>
                <a:ea typeface="Poppins"/>
                <a:cs typeface="Poppins"/>
                <a:sym typeface="Poppins"/>
              </a:rPr>
              <a:t>Others</a:t>
            </a:r>
          </a:p>
        </p:txBody>
      </p:sp>
      <p:sp>
        <p:nvSpPr>
          <p:cNvPr name="TextBox 13" id="13"/>
          <p:cNvSpPr txBox="true"/>
          <p:nvPr/>
        </p:nvSpPr>
        <p:spPr>
          <a:xfrm rot="0">
            <a:off x="1253414" y="822810"/>
            <a:ext cx="2905781" cy="403311"/>
          </a:xfrm>
          <a:prstGeom prst="rect">
            <a:avLst/>
          </a:prstGeom>
        </p:spPr>
        <p:txBody>
          <a:bodyPr anchor="t" rtlCol="false" tIns="0" lIns="0" bIns="0" rIns="0">
            <a:spAutoFit/>
          </a:bodyPr>
          <a:lstStyle/>
          <a:p>
            <a:pPr algn="r" marL="0" indent="0" lvl="0">
              <a:lnSpc>
                <a:spcPts val="3151"/>
              </a:lnSpc>
              <a:spcBef>
                <a:spcPct val="0"/>
              </a:spcBef>
            </a:pPr>
            <a:r>
              <a:rPr lang="en-US" b="true" sz="2251">
                <a:solidFill>
                  <a:srgbClr val="FFFFFF"/>
                </a:solidFill>
                <a:latin typeface="Poppins Bold"/>
                <a:ea typeface="Poppins Bold"/>
                <a:cs typeface="Poppins Bold"/>
                <a:sym typeface="Poppins Bold"/>
              </a:rPr>
              <a:t>Forensic Analytics</a:t>
            </a:r>
          </a:p>
        </p:txBody>
      </p:sp>
      <p:sp>
        <p:nvSpPr>
          <p:cNvPr name="TextBox 14" id="14"/>
          <p:cNvSpPr txBox="true"/>
          <p:nvPr/>
        </p:nvSpPr>
        <p:spPr>
          <a:xfrm rot="0">
            <a:off x="889554" y="1629863"/>
            <a:ext cx="7054710" cy="1425870"/>
          </a:xfrm>
          <a:prstGeom prst="rect">
            <a:avLst/>
          </a:prstGeom>
        </p:spPr>
        <p:txBody>
          <a:bodyPr anchor="t" rtlCol="false" tIns="0" lIns="0" bIns="0" rIns="0">
            <a:spAutoFit/>
          </a:bodyPr>
          <a:lstStyle/>
          <a:p>
            <a:pPr algn="ctr">
              <a:lnSpc>
                <a:spcPts val="11017"/>
              </a:lnSpc>
              <a:spcBef>
                <a:spcPct val="0"/>
              </a:spcBef>
            </a:pPr>
            <a:r>
              <a:rPr lang="en-US" b="true" sz="7869">
                <a:solidFill>
                  <a:srgbClr val="FFFFFF"/>
                </a:solidFill>
                <a:latin typeface="Telegraf Bold"/>
                <a:ea typeface="Telegraf Bold"/>
                <a:cs typeface="Telegraf Bold"/>
                <a:sym typeface="Telegraf Bold"/>
              </a:rPr>
              <a:t>Introduction</a:t>
            </a:r>
          </a:p>
        </p:txBody>
      </p:sp>
      <p:sp>
        <p:nvSpPr>
          <p:cNvPr name="TextBox 15" id="15"/>
          <p:cNvSpPr txBox="true"/>
          <p:nvPr/>
        </p:nvSpPr>
        <p:spPr>
          <a:xfrm rot="0">
            <a:off x="2196789" y="6979006"/>
            <a:ext cx="10074092" cy="1908789"/>
          </a:xfrm>
          <a:prstGeom prst="rect">
            <a:avLst/>
          </a:prstGeom>
        </p:spPr>
        <p:txBody>
          <a:bodyPr anchor="t" rtlCol="false" tIns="0" lIns="0" bIns="0" rIns="0">
            <a:spAutoFit/>
          </a:bodyPr>
          <a:lstStyle/>
          <a:p>
            <a:pPr algn="l">
              <a:lnSpc>
                <a:spcPts val="3743"/>
              </a:lnSpc>
              <a:spcBef>
                <a:spcPct val="0"/>
              </a:spcBef>
            </a:pPr>
            <a:r>
              <a:rPr lang="en-US" sz="2673">
                <a:solidFill>
                  <a:srgbClr val="FFFFFF"/>
                </a:solidFill>
                <a:latin typeface="Poppins"/>
                <a:ea typeface="Poppins"/>
                <a:cs typeface="Poppins"/>
                <a:sym typeface="Poppins"/>
              </a:rPr>
              <a:t>Scope:  </a:t>
            </a:r>
          </a:p>
          <a:p>
            <a:pPr algn="l" marL="577285" indent="-288643" lvl="1">
              <a:lnSpc>
                <a:spcPts val="3743"/>
              </a:lnSpc>
              <a:buFont typeface="Arial"/>
              <a:buChar char="•"/>
            </a:pPr>
            <a:r>
              <a:rPr lang="en-US" sz="2673">
                <a:solidFill>
                  <a:srgbClr val="FFFFFF"/>
                </a:solidFill>
                <a:latin typeface="Poppins"/>
                <a:ea typeface="Poppins"/>
                <a:cs typeface="Poppins"/>
                <a:sym typeface="Poppins"/>
              </a:rPr>
              <a:t>Voter registry forensics (anomalies, IDs, demographics) </a:t>
            </a:r>
          </a:p>
          <a:p>
            <a:pPr algn="l" marL="577285" indent="-288643" lvl="1">
              <a:lnSpc>
                <a:spcPts val="3743"/>
              </a:lnSpc>
              <a:buFont typeface="Arial"/>
              <a:buChar char="•"/>
            </a:pPr>
            <a:r>
              <a:rPr lang="en-US" sz="2673">
                <a:solidFill>
                  <a:srgbClr val="FFFFFF"/>
                </a:solidFill>
                <a:latin typeface="Poppins"/>
                <a:ea typeface="Poppins"/>
                <a:cs typeface="Poppins"/>
                <a:sym typeface="Poppins"/>
              </a:rPr>
              <a:t>Social media forensics (tweets, rumors, bot activity) </a:t>
            </a:r>
          </a:p>
          <a:p>
            <a:pPr algn="l" marL="577285" indent="-288643" lvl="1">
              <a:lnSpc>
                <a:spcPts val="3743"/>
              </a:lnSpc>
              <a:buFont typeface="Arial"/>
              <a:buChar char="•"/>
            </a:pPr>
            <a:r>
              <a:rPr lang="en-US" sz="2673">
                <a:solidFill>
                  <a:srgbClr val="FFFFFF"/>
                </a:solidFill>
                <a:latin typeface="Poppins"/>
                <a:ea typeface="Poppins"/>
                <a:cs typeface="Poppins"/>
                <a:sym typeface="Poppins"/>
              </a:rPr>
              <a:t>Combined risk scoring and multi-modal dashboards</a:t>
            </a:r>
          </a:p>
        </p:txBody>
      </p:sp>
    </p:spTree>
  </p:cSld>
  <p:clrMapOvr>
    <a:masterClrMapping/>
  </p:clrMapOvr>
  <p:transition spd="slow">
    <p:push dir="l"/>
  </p:transition>
</p:sld>
</file>

<file path=ppt/slides/slide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9033D">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grpSp>
        <p:nvGrpSpPr>
          <p:cNvPr name="Group 2" id="2"/>
          <p:cNvGrpSpPr/>
          <p:nvPr/>
        </p:nvGrpSpPr>
        <p:grpSpPr>
          <a:xfrm rot="0">
            <a:off x="5866593" y="1113648"/>
            <a:ext cx="8517197" cy="6890177"/>
            <a:chOff x="0" y="0"/>
            <a:chExt cx="2052469" cy="1660391"/>
          </a:xfrm>
        </p:grpSpPr>
        <p:sp>
          <p:nvSpPr>
            <p:cNvPr name="Freeform 3" id="3"/>
            <p:cNvSpPr/>
            <p:nvPr/>
          </p:nvSpPr>
          <p:spPr>
            <a:xfrm flipH="false" flipV="false" rot="0">
              <a:off x="0" y="0"/>
              <a:ext cx="2052469" cy="1660391"/>
            </a:xfrm>
            <a:custGeom>
              <a:avLst/>
              <a:gdLst/>
              <a:ahLst/>
              <a:cxnLst/>
              <a:rect r="r" b="b" t="t" l="l"/>
              <a:pathLst>
                <a:path h="1660391" w="2052469">
                  <a:moveTo>
                    <a:pt x="50903" y="0"/>
                  </a:moveTo>
                  <a:lnTo>
                    <a:pt x="2001567" y="0"/>
                  </a:lnTo>
                  <a:cubicBezTo>
                    <a:pt x="2029679" y="0"/>
                    <a:pt x="2052469" y="22790"/>
                    <a:pt x="2052469" y="50903"/>
                  </a:cubicBezTo>
                  <a:lnTo>
                    <a:pt x="2052469" y="1609488"/>
                  </a:lnTo>
                  <a:cubicBezTo>
                    <a:pt x="2052469" y="1637601"/>
                    <a:pt x="2029679" y="1660391"/>
                    <a:pt x="2001567" y="1660391"/>
                  </a:cubicBezTo>
                  <a:lnTo>
                    <a:pt x="50903" y="1660391"/>
                  </a:lnTo>
                  <a:cubicBezTo>
                    <a:pt x="22790" y="1660391"/>
                    <a:pt x="0" y="1637601"/>
                    <a:pt x="0" y="1609488"/>
                  </a:cubicBezTo>
                  <a:lnTo>
                    <a:pt x="0" y="50903"/>
                  </a:lnTo>
                  <a:cubicBezTo>
                    <a:pt x="0" y="22790"/>
                    <a:pt x="22790" y="0"/>
                    <a:pt x="50903" y="0"/>
                  </a:cubicBezTo>
                  <a:close/>
                </a:path>
              </a:pathLst>
            </a:custGeom>
            <a:gradFill rotWithShape="true">
              <a:gsLst>
                <a:gs pos="0">
                  <a:srgbClr val="000F9B">
                    <a:alpha val="78000"/>
                  </a:srgbClr>
                </a:gs>
                <a:gs pos="50000">
                  <a:srgbClr val="EB0000">
                    <a:alpha val="78000"/>
                  </a:srgbClr>
                </a:gs>
                <a:gs pos="100000">
                  <a:srgbClr val="A000EB">
                    <a:alpha val="78000"/>
                  </a:srgbClr>
                </a:gs>
              </a:gsLst>
              <a:path path="circle">
                <a:fillToRect l="0" r="100000" t="0" b="100000"/>
              </a:path>
              <a:tileRect r="0" l="-100000" b="0" t="-100000"/>
            </a:gradFill>
          </p:spPr>
        </p:sp>
        <p:sp>
          <p:nvSpPr>
            <p:cNvPr name="TextBox 4" id="4"/>
            <p:cNvSpPr txBox="true"/>
            <p:nvPr/>
          </p:nvSpPr>
          <p:spPr>
            <a:xfrm>
              <a:off x="0" y="-66675"/>
              <a:ext cx="2052469" cy="1727066"/>
            </a:xfrm>
            <a:prstGeom prst="rect">
              <a:avLst/>
            </a:prstGeom>
          </p:spPr>
          <p:txBody>
            <a:bodyPr anchor="ctr" rtlCol="false" tIns="50800" lIns="50800" bIns="50800" rIns="50800"/>
            <a:lstStyle/>
            <a:p>
              <a:pPr algn="ctr">
                <a:lnSpc>
                  <a:spcPts val="3151"/>
                </a:lnSpc>
              </a:pPr>
            </a:p>
          </p:txBody>
        </p:sp>
      </p:grpSp>
      <p:grpSp>
        <p:nvGrpSpPr>
          <p:cNvPr name="Group 5" id="5"/>
          <p:cNvGrpSpPr/>
          <p:nvPr/>
        </p:nvGrpSpPr>
        <p:grpSpPr>
          <a:xfrm rot="0">
            <a:off x="5248519" y="8415349"/>
            <a:ext cx="10865005" cy="1354436"/>
            <a:chOff x="0" y="0"/>
            <a:chExt cx="2861565" cy="356724"/>
          </a:xfrm>
        </p:grpSpPr>
        <p:sp>
          <p:nvSpPr>
            <p:cNvPr name="Freeform 6" id="6"/>
            <p:cNvSpPr/>
            <p:nvPr/>
          </p:nvSpPr>
          <p:spPr>
            <a:xfrm flipH="false" flipV="false" rot="0">
              <a:off x="0" y="0"/>
              <a:ext cx="2861565" cy="356724"/>
            </a:xfrm>
            <a:custGeom>
              <a:avLst/>
              <a:gdLst/>
              <a:ahLst/>
              <a:cxnLst/>
              <a:rect r="r" b="b" t="t" l="l"/>
              <a:pathLst>
                <a:path h="356724" w="2861565">
                  <a:moveTo>
                    <a:pt x="39903" y="0"/>
                  </a:moveTo>
                  <a:lnTo>
                    <a:pt x="2821662" y="0"/>
                  </a:lnTo>
                  <a:cubicBezTo>
                    <a:pt x="2832245" y="0"/>
                    <a:pt x="2842394" y="4204"/>
                    <a:pt x="2849878" y="11687"/>
                  </a:cubicBezTo>
                  <a:cubicBezTo>
                    <a:pt x="2857361" y="19171"/>
                    <a:pt x="2861565" y="29320"/>
                    <a:pt x="2861565" y="39903"/>
                  </a:cubicBezTo>
                  <a:lnTo>
                    <a:pt x="2861565" y="316821"/>
                  </a:lnTo>
                  <a:cubicBezTo>
                    <a:pt x="2861565" y="338859"/>
                    <a:pt x="2843700" y="356724"/>
                    <a:pt x="2821662" y="356724"/>
                  </a:cubicBezTo>
                  <a:lnTo>
                    <a:pt x="39903" y="356724"/>
                  </a:lnTo>
                  <a:cubicBezTo>
                    <a:pt x="17865" y="356724"/>
                    <a:pt x="0" y="338859"/>
                    <a:pt x="0" y="316821"/>
                  </a:cubicBezTo>
                  <a:lnTo>
                    <a:pt x="0" y="39903"/>
                  </a:lnTo>
                  <a:cubicBezTo>
                    <a:pt x="0" y="17865"/>
                    <a:pt x="17865" y="0"/>
                    <a:pt x="39903" y="0"/>
                  </a:cubicBezTo>
                  <a:close/>
                </a:path>
              </a:pathLst>
            </a:custGeom>
            <a:solidFill>
              <a:srgbClr val="000000">
                <a:alpha val="0"/>
              </a:srgbClr>
            </a:solidFill>
            <a:ln w="28575" cap="rnd">
              <a:solidFill>
                <a:srgbClr val="FFFFFF"/>
              </a:solidFill>
              <a:prstDash val="solid"/>
              <a:round/>
            </a:ln>
          </p:spPr>
        </p:sp>
        <p:sp>
          <p:nvSpPr>
            <p:cNvPr name="TextBox 7" id="7"/>
            <p:cNvSpPr txBox="true"/>
            <p:nvPr/>
          </p:nvSpPr>
          <p:spPr>
            <a:xfrm>
              <a:off x="0" y="-66675"/>
              <a:ext cx="2861565" cy="423399"/>
            </a:xfrm>
            <a:prstGeom prst="rect">
              <a:avLst/>
            </a:prstGeom>
          </p:spPr>
          <p:txBody>
            <a:bodyPr anchor="ctr" rtlCol="false" tIns="50800" lIns="50800" bIns="50800" rIns="50800"/>
            <a:lstStyle/>
            <a:p>
              <a:pPr algn="ctr">
                <a:lnSpc>
                  <a:spcPts val="3151"/>
                </a:lnSpc>
              </a:pPr>
            </a:p>
          </p:txBody>
        </p:sp>
      </p:grpSp>
      <p:sp>
        <p:nvSpPr>
          <p:cNvPr name="Freeform 8" id="8"/>
          <p:cNvSpPr/>
          <p:nvPr/>
        </p:nvSpPr>
        <p:spPr>
          <a:xfrm flipH="false" flipV="false" rot="0">
            <a:off x="1028700" y="2319702"/>
            <a:ext cx="3041192" cy="3041192"/>
          </a:xfrm>
          <a:custGeom>
            <a:avLst/>
            <a:gdLst/>
            <a:ahLst/>
            <a:cxnLst/>
            <a:rect r="r" b="b" t="t" l="l"/>
            <a:pathLst>
              <a:path h="3041192" w="3041192">
                <a:moveTo>
                  <a:pt x="0" y="0"/>
                </a:moveTo>
                <a:lnTo>
                  <a:pt x="3041192" y="0"/>
                </a:lnTo>
                <a:lnTo>
                  <a:pt x="3041192" y="3041192"/>
                </a:lnTo>
                <a:lnTo>
                  <a:pt x="0" y="30411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803986" y="803986"/>
            <a:ext cx="449429" cy="449429"/>
          </a:xfrm>
          <a:custGeom>
            <a:avLst/>
            <a:gdLst/>
            <a:ahLst/>
            <a:cxnLst/>
            <a:rect r="r" b="b" t="t" l="l"/>
            <a:pathLst>
              <a:path h="449429" w="449429">
                <a:moveTo>
                  <a:pt x="0" y="0"/>
                </a:moveTo>
                <a:lnTo>
                  <a:pt x="449428" y="0"/>
                </a:lnTo>
                <a:lnTo>
                  <a:pt x="449428" y="449428"/>
                </a:lnTo>
                <a:lnTo>
                  <a:pt x="0" y="44942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6235259" y="638252"/>
            <a:ext cx="9260191" cy="7002446"/>
          </a:xfrm>
          <a:custGeom>
            <a:avLst/>
            <a:gdLst/>
            <a:ahLst/>
            <a:cxnLst/>
            <a:rect r="r" b="b" t="t" l="l"/>
            <a:pathLst>
              <a:path h="7002446" w="9260191">
                <a:moveTo>
                  <a:pt x="0" y="0"/>
                </a:moveTo>
                <a:lnTo>
                  <a:pt x="9260191" y="0"/>
                </a:lnTo>
                <a:lnTo>
                  <a:pt x="9260191" y="7002447"/>
                </a:lnTo>
                <a:lnTo>
                  <a:pt x="0" y="7002447"/>
                </a:lnTo>
                <a:lnTo>
                  <a:pt x="0" y="0"/>
                </a:lnTo>
                <a:close/>
              </a:path>
            </a:pathLst>
          </a:custGeom>
          <a:blipFill>
            <a:blip r:embed="rId6"/>
            <a:stretch>
              <a:fillRect l="0" t="0" r="0" b="0"/>
            </a:stretch>
          </a:blipFill>
        </p:spPr>
      </p:sp>
      <p:sp>
        <p:nvSpPr>
          <p:cNvPr name="TextBox 11" id="11"/>
          <p:cNvSpPr txBox="true"/>
          <p:nvPr/>
        </p:nvSpPr>
        <p:spPr>
          <a:xfrm rot="0">
            <a:off x="5862523" y="8741145"/>
            <a:ext cx="10958279" cy="721894"/>
          </a:xfrm>
          <a:prstGeom prst="rect">
            <a:avLst/>
          </a:prstGeom>
        </p:spPr>
        <p:txBody>
          <a:bodyPr anchor="t" rtlCol="false" tIns="0" lIns="0" bIns="0" rIns="0">
            <a:spAutoFit/>
          </a:bodyPr>
          <a:lstStyle/>
          <a:p>
            <a:pPr algn="l">
              <a:lnSpc>
                <a:spcPts val="5010"/>
              </a:lnSpc>
            </a:pPr>
            <a:r>
              <a:rPr lang="en-US" sz="4912" spc="-221" b="true">
                <a:solidFill>
                  <a:srgbClr val="FFFFFF"/>
                </a:solidFill>
                <a:latin typeface="Telegraf Bold"/>
                <a:ea typeface="Telegraf Bold"/>
                <a:cs typeface="Telegraf Bold"/>
                <a:sym typeface="Telegraf Bold"/>
              </a:rPr>
              <a:t>System Architecture &amp; Workflow</a:t>
            </a:r>
          </a:p>
        </p:txBody>
      </p:sp>
      <p:sp>
        <p:nvSpPr>
          <p:cNvPr name="TextBox 12" id="12"/>
          <p:cNvSpPr txBox="true"/>
          <p:nvPr/>
        </p:nvSpPr>
        <p:spPr>
          <a:xfrm rot="0">
            <a:off x="1363845" y="768097"/>
            <a:ext cx="3551055" cy="445006"/>
          </a:xfrm>
          <a:prstGeom prst="rect">
            <a:avLst/>
          </a:prstGeom>
        </p:spPr>
        <p:txBody>
          <a:bodyPr anchor="t" rtlCol="false" tIns="0" lIns="0" bIns="0" rIns="0">
            <a:spAutoFit/>
          </a:bodyPr>
          <a:lstStyle/>
          <a:p>
            <a:pPr algn="l">
              <a:lnSpc>
                <a:spcPts val="3391"/>
              </a:lnSpc>
              <a:spcBef>
                <a:spcPct val="0"/>
              </a:spcBef>
            </a:pPr>
            <a:r>
              <a:rPr lang="en-US" b="true" sz="2422" spc="-109">
                <a:solidFill>
                  <a:srgbClr val="FFFFFF"/>
                </a:solidFill>
                <a:latin typeface="Telegraf Bold"/>
                <a:ea typeface="Telegraf Bold"/>
                <a:cs typeface="Telegraf Bold"/>
                <a:sym typeface="Telegraf Bold"/>
              </a:rPr>
              <a:t>Forensics Analytics</a:t>
            </a:r>
          </a:p>
        </p:txBody>
      </p:sp>
    </p:spTree>
  </p:cSld>
  <p:clrMapOvr>
    <a:masterClrMapping/>
  </p:clrMapOvr>
  <p:transition spd="slow">
    <p:push dir="l"/>
  </p:transition>
</p:sld>
</file>

<file path=ppt/slides/slide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9033D">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grpSp>
        <p:nvGrpSpPr>
          <p:cNvPr name="Group 2" id="2"/>
          <p:cNvGrpSpPr/>
          <p:nvPr/>
        </p:nvGrpSpPr>
        <p:grpSpPr>
          <a:xfrm rot="0">
            <a:off x="545054" y="1894724"/>
            <a:ext cx="6936957" cy="1477143"/>
            <a:chOff x="0" y="0"/>
            <a:chExt cx="1827018" cy="389042"/>
          </a:xfrm>
        </p:grpSpPr>
        <p:sp>
          <p:nvSpPr>
            <p:cNvPr name="Freeform 3" id="3"/>
            <p:cNvSpPr/>
            <p:nvPr/>
          </p:nvSpPr>
          <p:spPr>
            <a:xfrm flipH="false" flipV="false" rot="0">
              <a:off x="0" y="0"/>
              <a:ext cx="1827018" cy="389042"/>
            </a:xfrm>
            <a:custGeom>
              <a:avLst/>
              <a:gdLst/>
              <a:ahLst/>
              <a:cxnLst/>
              <a:rect r="r" b="b" t="t" l="l"/>
              <a:pathLst>
                <a:path h="389042" w="1827018">
                  <a:moveTo>
                    <a:pt x="62498" y="0"/>
                  </a:moveTo>
                  <a:lnTo>
                    <a:pt x="1764519" y="0"/>
                  </a:lnTo>
                  <a:cubicBezTo>
                    <a:pt x="1799036" y="0"/>
                    <a:pt x="1827018" y="27981"/>
                    <a:pt x="1827018" y="62498"/>
                  </a:cubicBezTo>
                  <a:lnTo>
                    <a:pt x="1827018" y="326544"/>
                  </a:lnTo>
                  <a:cubicBezTo>
                    <a:pt x="1827018" y="361060"/>
                    <a:pt x="1799036" y="389042"/>
                    <a:pt x="1764519" y="389042"/>
                  </a:cubicBezTo>
                  <a:lnTo>
                    <a:pt x="62498" y="389042"/>
                  </a:lnTo>
                  <a:cubicBezTo>
                    <a:pt x="27981" y="389042"/>
                    <a:pt x="0" y="361060"/>
                    <a:pt x="0" y="326544"/>
                  </a:cubicBezTo>
                  <a:lnTo>
                    <a:pt x="0" y="62498"/>
                  </a:lnTo>
                  <a:cubicBezTo>
                    <a:pt x="0" y="27981"/>
                    <a:pt x="27981" y="0"/>
                    <a:pt x="62498" y="0"/>
                  </a:cubicBezTo>
                  <a:close/>
                </a:path>
              </a:pathLst>
            </a:custGeom>
            <a:gradFill rotWithShape="true">
              <a:gsLst>
                <a:gs pos="0">
                  <a:srgbClr val="000000">
                    <a:alpha val="78000"/>
                  </a:srgbClr>
                </a:gs>
                <a:gs pos="100000">
                  <a:srgbClr val="DDDDDD">
                    <a:alpha val="14820"/>
                  </a:srgbClr>
                </a:gs>
              </a:gsLst>
              <a:lin ang="2700000"/>
            </a:gradFill>
          </p:spPr>
        </p:sp>
        <p:sp>
          <p:nvSpPr>
            <p:cNvPr name="TextBox 4" id="4"/>
            <p:cNvSpPr txBox="true"/>
            <p:nvPr/>
          </p:nvSpPr>
          <p:spPr>
            <a:xfrm>
              <a:off x="0" y="-66675"/>
              <a:ext cx="1827018" cy="455717"/>
            </a:xfrm>
            <a:prstGeom prst="rect">
              <a:avLst/>
            </a:prstGeom>
          </p:spPr>
          <p:txBody>
            <a:bodyPr anchor="ctr" rtlCol="false" tIns="50800" lIns="50800" bIns="50800" rIns="50800"/>
            <a:lstStyle/>
            <a:p>
              <a:pPr algn="ctr">
                <a:lnSpc>
                  <a:spcPts val="3151"/>
                </a:lnSpc>
              </a:pPr>
            </a:p>
          </p:txBody>
        </p:sp>
      </p:grpSp>
      <p:grpSp>
        <p:nvGrpSpPr>
          <p:cNvPr name="Group 5" id="5"/>
          <p:cNvGrpSpPr/>
          <p:nvPr/>
        </p:nvGrpSpPr>
        <p:grpSpPr>
          <a:xfrm rot="0">
            <a:off x="803986" y="3808287"/>
            <a:ext cx="16884996" cy="4970106"/>
            <a:chOff x="0" y="0"/>
            <a:chExt cx="4447077" cy="1308999"/>
          </a:xfrm>
        </p:grpSpPr>
        <p:sp>
          <p:nvSpPr>
            <p:cNvPr name="Freeform 6" id="6"/>
            <p:cNvSpPr/>
            <p:nvPr/>
          </p:nvSpPr>
          <p:spPr>
            <a:xfrm flipH="false" flipV="false" rot="0">
              <a:off x="0" y="0"/>
              <a:ext cx="4447077" cy="1308999"/>
            </a:xfrm>
            <a:custGeom>
              <a:avLst/>
              <a:gdLst/>
              <a:ahLst/>
              <a:cxnLst/>
              <a:rect r="r" b="b" t="t" l="l"/>
              <a:pathLst>
                <a:path h="1308999" w="4447077">
                  <a:moveTo>
                    <a:pt x="25676" y="0"/>
                  </a:moveTo>
                  <a:lnTo>
                    <a:pt x="4421401" y="0"/>
                  </a:lnTo>
                  <a:cubicBezTo>
                    <a:pt x="4435581" y="0"/>
                    <a:pt x="4447077" y="11496"/>
                    <a:pt x="4447077" y="25676"/>
                  </a:cubicBezTo>
                  <a:lnTo>
                    <a:pt x="4447077" y="1283323"/>
                  </a:lnTo>
                  <a:cubicBezTo>
                    <a:pt x="4447077" y="1297503"/>
                    <a:pt x="4435581" y="1308999"/>
                    <a:pt x="4421401" y="1308999"/>
                  </a:cubicBezTo>
                  <a:lnTo>
                    <a:pt x="25676" y="1308999"/>
                  </a:lnTo>
                  <a:cubicBezTo>
                    <a:pt x="18867" y="1308999"/>
                    <a:pt x="12336" y="1306294"/>
                    <a:pt x="7520" y="1301479"/>
                  </a:cubicBezTo>
                  <a:cubicBezTo>
                    <a:pt x="2705" y="1296663"/>
                    <a:pt x="0" y="1290132"/>
                    <a:pt x="0" y="1283323"/>
                  </a:cubicBezTo>
                  <a:lnTo>
                    <a:pt x="0" y="25676"/>
                  </a:lnTo>
                  <a:cubicBezTo>
                    <a:pt x="0" y="11496"/>
                    <a:pt x="11496" y="0"/>
                    <a:pt x="25676" y="0"/>
                  </a:cubicBezTo>
                  <a:close/>
                </a:path>
              </a:pathLst>
            </a:custGeom>
            <a:solidFill>
              <a:srgbClr val="000000">
                <a:alpha val="0"/>
              </a:srgbClr>
            </a:solidFill>
            <a:ln w="28575" cap="rnd">
              <a:solidFill>
                <a:srgbClr val="FFFFFF"/>
              </a:solidFill>
              <a:prstDash val="solid"/>
              <a:round/>
            </a:ln>
          </p:spPr>
        </p:sp>
        <p:sp>
          <p:nvSpPr>
            <p:cNvPr name="TextBox 7" id="7"/>
            <p:cNvSpPr txBox="true"/>
            <p:nvPr/>
          </p:nvSpPr>
          <p:spPr>
            <a:xfrm>
              <a:off x="0" y="-66675"/>
              <a:ext cx="4447077" cy="1375674"/>
            </a:xfrm>
            <a:prstGeom prst="rect">
              <a:avLst/>
            </a:prstGeom>
          </p:spPr>
          <p:txBody>
            <a:bodyPr anchor="ctr" rtlCol="false" tIns="50800" lIns="50800" bIns="50800" rIns="50800"/>
            <a:lstStyle/>
            <a:p>
              <a:pPr algn="ctr">
                <a:lnSpc>
                  <a:spcPts val="3151"/>
                </a:lnSpc>
              </a:pPr>
            </a:p>
          </p:txBody>
        </p:sp>
      </p:grpSp>
      <p:grpSp>
        <p:nvGrpSpPr>
          <p:cNvPr name="Group 8" id="8"/>
          <p:cNvGrpSpPr/>
          <p:nvPr/>
        </p:nvGrpSpPr>
        <p:grpSpPr>
          <a:xfrm rot="0">
            <a:off x="1182953" y="4160757"/>
            <a:ext cx="10804026" cy="1809845"/>
            <a:chOff x="0" y="0"/>
            <a:chExt cx="2845505" cy="476667"/>
          </a:xfrm>
        </p:grpSpPr>
        <p:sp>
          <p:nvSpPr>
            <p:cNvPr name="Freeform 9" id="9"/>
            <p:cNvSpPr/>
            <p:nvPr/>
          </p:nvSpPr>
          <p:spPr>
            <a:xfrm flipH="false" flipV="false" rot="0">
              <a:off x="0" y="0"/>
              <a:ext cx="2845505" cy="476667"/>
            </a:xfrm>
            <a:custGeom>
              <a:avLst/>
              <a:gdLst/>
              <a:ahLst/>
              <a:cxnLst/>
              <a:rect r="r" b="b" t="t" l="l"/>
              <a:pathLst>
                <a:path h="476667" w="2845505">
                  <a:moveTo>
                    <a:pt x="30096" y="0"/>
                  </a:moveTo>
                  <a:lnTo>
                    <a:pt x="2815409" y="0"/>
                  </a:lnTo>
                  <a:cubicBezTo>
                    <a:pt x="2832030" y="0"/>
                    <a:pt x="2845505" y="13475"/>
                    <a:pt x="2845505" y="30096"/>
                  </a:cubicBezTo>
                  <a:lnTo>
                    <a:pt x="2845505" y="446571"/>
                  </a:lnTo>
                  <a:cubicBezTo>
                    <a:pt x="2845505" y="454553"/>
                    <a:pt x="2842334" y="462208"/>
                    <a:pt x="2836690" y="467852"/>
                  </a:cubicBezTo>
                  <a:cubicBezTo>
                    <a:pt x="2831046" y="473496"/>
                    <a:pt x="2823391" y="476667"/>
                    <a:pt x="2815409" y="476667"/>
                  </a:cubicBezTo>
                  <a:lnTo>
                    <a:pt x="30096" y="476667"/>
                  </a:lnTo>
                  <a:cubicBezTo>
                    <a:pt x="22114" y="476667"/>
                    <a:pt x="14459" y="473496"/>
                    <a:pt x="8815" y="467852"/>
                  </a:cubicBezTo>
                  <a:cubicBezTo>
                    <a:pt x="3171" y="462208"/>
                    <a:pt x="0" y="454553"/>
                    <a:pt x="0" y="446571"/>
                  </a:cubicBezTo>
                  <a:lnTo>
                    <a:pt x="0" y="30096"/>
                  </a:lnTo>
                  <a:cubicBezTo>
                    <a:pt x="0" y="22114"/>
                    <a:pt x="3171" y="14459"/>
                    <a:pt x="8815" y="8815"/>
                  </a:cubicBezTo>
                  <a:cubicBezTo>
                    <a:pt x="14459" y="3171"/>
                    <a:pt x="22114" y="0"/>
                    <a:pt x="30096" y="0"/>
                  </a:cubicBezTo>
                  <a:close/>
                </a:path>
              </a:pathLst>
            </a:custGeom>
            <a:gradFill rotWithShape="true">
              <a:gsLst>
                <a:gs pos="0">
                  <a:srgbClr val="000F9B">
                    <a:alpha val="100000"/>
                  </a:srgbClr>
                </a:gs>
                <a:gs pos="50000">
                  <a:srgbClr val="EB0000">
                    <a:alpha val="100000"/>
                  </a:srgbClr>
                </a:gs>
                <a:gs pos="100000">
                  <a:srgbClr val="A000EB">
                    <a:alpha val="100000"/>
                  </a:srgbClr>
                </a:gs>
              </a:gsLst>
              <a:path path="circle">
                <a:fillToRect l="0" r="100000" t="0" b="100000"/>
              </a:path>
              <a:tileRect r="0" l="-100000" b="0" t="-100000"/>
            </a:gradFill>
          </p:spPr>
        </p:sp>
        <p:sp>
          <p:nvSpPr>
            <p:cNvPr name="TextBox 10" id="10"/>
            <p:cNvSpPr txBox="true"/>
            <p:nvPr/>
          </p:nvSpPr>
          <p:spPr>
            <a:xfrm>
              <a:off x="0" y="-66675"/>
              <a:ext cx="2845505" cy="543342"/>
            </a:xfrm>
            <a:prstGeom prst="rect">
              <a:avLst/>
            </a:prstGeom>
          </p:spPr>
          <p:txBody>
            <a:bodyPr anchor="ctr" rtlCol="false" tIns="50800" lIns="50800" bIns="50800" rIns="50800"/>
            <a:lstStyle/>
            <a:p>
              <a:pPr algn="ctr">
                <a:lnSpc>
                  <a:spcPts val="3151"/>
                </a:lnSpc>
              </a:pPr>
            </a:p>
          </p:txBody>
        </p:sp>
      </p:grpSp>
      <p:sp>
        <p:nvSpPr>
          <p:cNvPr name="Freeform 11" id="11"/>
          <p:cNvSpPr/>
          <p:nvPr/>
        </p:nvSpPr>
        <p:spPr>
          <a:xfrm flipH="false" flipV="false" rot="0">
            <a:off x="6095153" y="2216181"/>
            <a:ext cx="825373" cy="825373"/>
          </a:xfrm>
          <a:custGeom>
            <a:avLst/>
            <a:gdLst/>
            <a:ahLst/>
            <a:cxnLst/>
            <a:rect r="r" b="b" t="t" l="l"/>
            <a:pathLst>
              <a:path h="825373" w="825373">
                <a:moveTo>
                  <a:pt x="0" y="0"/>
                </a:moveTo>
                <a:lnTo>
                  <a:pt x="825373" y="0"/>
                </a:lnTo>
                <a:lnTo>
                  <a:pt x="825373" y="825372"/>
                </a:lnTo>
                <a:lnTo>
                  <a:pt x="0" y="82537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803986" y="803986"/>
            <a:ext cx="449429" cy="449429"/>
          </a:xfrm>
          <a:custGeom>
            <a:avLst/>
            <a:gdLst/>
            <a:ahLst/>
            <a:cxnLst/>
            <a:rect r="r" b="b" t="t" l="l"/>
            <a:pathLst>
              <a:path h="449429" w="449429">
                <a:moveTo>
                  <a:pt x="0" y="0"/>
                </a:moveTo>
                <a:lnTo>
                  <a:pt x="449428" y="0"/>
                </a:lnTo>
                <a:lnTo>
                  <a:pt x="449428" y="449428"/>
                </a:lnTo>
                <a:lnTo>
                  <a:pt x="0" y="44942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3" id="13"/>
          <p:cNvSpPr txBox="true"/>
          <p:nvPr/>
        </p:nvSpPr>
        <p:spPr>
          <a:xfrm rot="0">
            <a:off x="9144000" y="841660"/>
            <a:ext cx="1662550" cy="409541"/>
          </a:xfrm>
          <a:prstGeom prst="rect">
            <a:avLst/>
          </a:prstGeom>
        </p:spPr>
        <p:txBody>
          <a:bodyPr anchor="t" rtlCol="false" tIns="0" lIns="0" bIns="0" rIns="0">
            <a:spAutoFit/>
          </a:bodyPr>
          <a:lstStyle/>
          <a:p>
            <a:pPr algn="r" marL="0" indent="0" lvl="0">
              <a:lnSpc>
                <a:spcPts val="3151"/>
              </a:lnSpc>
              <a:spcBef>
                <a:spcPct val="0"/>
              </a:spcBef>
            </a:pPr>
            <a:r>
              <a:rPr lang="en-US" sz="2251">
                <a:solidFill>
                  <a:srgbClr val="FFFFFF"/>
                </a:solidFill>
                <a:latin typeface="Poppins"/>
                <a:ea typeface="Poppins"/>
                <a:cs typeface="Poppins"/>
                <a:sym typeface="Poppins"/>
              </a:rPr>
              <a:t>Home</a:t>
            </a:r>
          </a:p>
        </p:txBody>
      </p:sp>
      <p:sp>
        <p:nvSpPr>
          <p:cNvPr name="TextBox 14" id="14"/>
          <p:cNvSpPr txBox="true"/>
          <p:nvPr/>
        </p:nvSpPr>
        <p:spPr>
          <a:xfrm rot="0">
            <a:off x="11408122" y="843874"/>
            <a:ext cx="1907082" cy="409541"/>
          </a:xfrm>
          <a:prstGeom prst="rect">
            <a:avLst/>
          </a:prstGeom>
        </p:spPr>
        <p:txBody>
          <a:bodyPr anchor="t" rtlCol="false" tIns="0" lIns="0" bIns="0" rIns="0">
            <a:spAutoFit/>
          </a:bodyPr>
          <a:lstStyle/>
          <a:p>
            <a:pPr algn="ctr" marL="0" indent="0" lvl="0">
              <a:lnSpc>
                <a:spcPts val="3151"/>
              </a:lnSpc>
              <a:spcBef>
                <a:spcPct val="0"/>
              </a:spcBef>
            </a:pPr>
            <a:r>
              <a:rPr lang="en-US" sz="2251">
                <a:solidFill>
                  <a:srgbClr val="FFFFFF"/>
                </a:solidFill>
                <a:latin typeface="Poppins"/>
                <a:ea typeface="Poppins"/>
                <a:cs typeface="Poppins"/>
                <a:sym typeface="Poppins"/>
              </a:rPr>
              <a:t>About</a:t>
            </a:r>
          </a:p>
        </p:txBody>
      </p:sp>
      <p:sp>
        <p:nvSpPr>
          <p:cNvPr name="TextBox 15" id="15"/>
          <p:cNvSpPr txBox="true"/>
          <p:nvPr/>
        </p:nvSpPr>
        <p:spPr>
          <a:xfrm rot="0">
            <a:off x="13726729" y="819695"/>
            <a:ext cx="1916881" cy="409541"/>
          </a:xfrm>
          <a:prstGeom prst="rect">
            <a:avLst/>
          </a:prstGeom>
        </p:spPr>
        <p:txBody>
          <a:bodyPr anchor="t" rtlCol="false" tIns="0" lIns="0" bIns="0" rIns="0">
            <a:spAutoFit/>
          </a:bodyPr>
          <a:lstStyle/>
          <a:p>
            <a:pPr algn="ctr" marL="0" indent="0" lvl="0">
              <a:lnSpc>
                <a:spcPts val="3151"/>
              </a:lnSpc>
              <a:spcBef>
                <a:spcPct val="0"/>
              </a:spcBef>
            </a:pPr>
            <a:r>
              <a:rPr lang="en-US" b="true" sz="2251">
                <a:solidFill>
                  <a:srgbClr val="FFFFFF"/>
                </a:solidFill>
                <a:latin typeface="Poppins Bold"/>
                <a:ea typeface="Poppins Bold"/>
                <a:cs typeface="Poppins Bold"/>
                <a:sym typeface="Poppins Bold"/>
              </a:rPr>
              <a:t>Content</a:t>
            </a:r>
          </a:p>
        </p:txBody>
      </p:sp>
      <p:sp>
        <p:nvSpPr>
          <p:cNvPr name="TextBox 16" id="16"/>
          <p:cNvSpPr txBox="true"/>
          <p:nvPr/>
        </p:nvSpPr>
        <p:spPr>
          <a:xfrm rot="0">
            <a:off x="15034325" y="841660"/>
            <a:ext cx="2224975" cy="409541"/>
          </a:xfrm>
          <a:prstGeom prst="rect">
            <a:avLst/>
          </a:prstGeom>
        </p:spPr>
        <p:txBody>
          <a:bodyPr anchor="t" rtlCol="false" tIns="0" lIns="0" bIns="0" rIns="0">
            <a:spAutoFit/>
          </a:bodyPr>
          <a:lstStyle/>
          <a:p>
            <a:pPr algn="r" marL="0" indent="0" lvl="0">
              <a:lnSpc>
                <a:spcPts val="3151"/>
              </a:lnSpc>
              <a:spcBef>
                <a:spcPct val="0"/>
              </a:spcBef>
            </a:pPr>
            <a:r>
              <a:rPr lang="en-US" sz="2251">
                <a:solidFill>
                  <a:srgbClr val="FFFFFF"/>
                </a:solidFill>
                <a:latin typeface="Poppins"/>
                <a:ea typeface="Poppins"/>
                <a:cs typeface="Poppins"/>
                <a:sym typeface="Poppins"/>
              </a:rPr>
              <a:t>Others</a:t>
            </a:r>
          </a:p>
        </p:txBody>
      </p:sp>
      <p:sp>
        <p:nvSpPr>
          <p:cNvPr name="TextBox 17" id="17"/>
          <p:cNvSpPr txBox="true"/>
          <p:nvPr/>
        </p:nvSpPr>
        <p:spPr>
          <a:xfrm rot="0">
            <a:off x="1561229" y="4420011"/>
            <a:ext cx="10047475" cy="1148462"/>
          </a:xfrm>
          <a:prstGeom prst="rect">
            <a:avLst/>
          </a:prstGeom>
        </p:spPr>
        <p:txBody>
          <a:bodyPr anchor="t" rtlCol="false" tIns="0" lIns="0" bIns="0" rIns="0">
            <a:spAutoFit/>
          </a:bodyPr>
          <a:lstStyle/>
          <a:p>
            <a:pPr algn="just">
              <a:lnSpc>
                <a:spcPts val="4591"/>
              </a:lnSpc>
            </a:pPr>
            <a:r>
              <a:rPr lang="en-US" sz="2799">
                <a:solidFill>
                  <a:srgbClr val="FFFFFF"/>
                </a:solidFill>
                <a:latin typeface="Poppins"/>
                <a:ea typeface="Poppins"/>
                <a:cs typeface="Poppins"/>
                <a:sym typeface="Poppins"/>
              </a:rPr>
              <a:t>Voter Registry: Synthetic dataset, 1,000 records, with known injected anomalies.</a:t>
            </a:r>
          </a:p>
        </p:txBody>
      </p:sp>
      <p:sp>
        <p:nvSpPr>
          <p:cNvPr name="TextBox 18" id="18"/>
          <p:cNvSpPr txBox="true"/>
          <p:nvPr/>
        </p:nvSpPr>
        <p:spPr>
          <a:xfrm rot="0">
            <a:off x="1028700" y="2262891"/>
            <a:ext cx="10958279" cy="778662"/>
          </a:xfrm>
          <a:prstGeom prst="rect">
            <a:avLst/>
          </a:prstGeom>
        </p:spPr>
        <p:txBody>
          <a:bodyPr anchor="t" rtlCol="false" tIns="0" lIns="0" bIns="0" rIns="0">
            <a:spAutoFit/>
          </a:bodyPr>
          <a:lstStyle/>
          <a:p>
            <a:pPr algn="l">
              <a:lnSpc>
                <a:spcPts val="5418"/>
              </a:lnSpc>
            </a:pPr>
            <a:r>
              <a:rPr lang="en-US" sz="5312" spc="-239" b="true">
                <a:solidFill>
                  <a:srgbClr val="FFFFFF"/>
                </a:solidFill>
                <a:latin typeface="Telegraf Bold"/>
                <a:ea typeface="Telegraf Bold"/>
                <a:cs typeface="Telegraf Bold"/>
                <a:sym typeface="Telegraf Bold"/>
              </a:rPr>
              <a:t>Dataset Used</a:t>
            </a:r>
          </a:p>
        </p:txBody>
      </p:sp>
      <p:sp>
        <p:nvSpPr>
          <p:cNvPr name="TextBox 19" id="19"/>
          <p:cNvSpPr txBox="true"/>
          <p:nvPr/>
        </p:nvSpPr>
        <p:spPr>
          <a:xfrm rot="0">
            <a:off x="1363845" y="768097"/>
            <a:ext cx="3551055" cy="445006"/>
          </a:xfrm>
          <a:prstGeom prst="rect">
            <a:avLst/>
          </a:prstGeom>
        </p:spPr>
        <p:txBody>
          <a:bodyPr anchor="t" rtlCol="false" tIns="0" lIns="0" bIns="0" rIns="0">
            <a:spAutoFit/>
          </a:bodyPr>
          <a:lstStyle/>
          <a:p>
            <a:pPr algn="l">
              <a:lnSpc>
                <a:spcPts val="3391"/>
              </a:lnSpc>
              <a:spcBef>
                <a:spcPct val="0"/>
              </a:spcBef>
            </a:pPr>
            <a:r>
              <a:rPr lang="en-US" b="true" sz="2422" spc="-109">
                <a:solidFill>
                  <a:srgbClr val="FFFFFF"/>
                </a:solidFill>
                <a:latin typeface="Telegraf Bold"/>
                <a:ea typeface="Telegraf Bold"/>
                <a:cs typeface="Telegraf Bold"/>
                <a:sym typeface="Telegraf Bold"/>
              </a:rPr>
              <a:t>Forensics Analytics</a:t>
            </a:r>
          </a:p>
        </p:txBody>
      </p:sp>
      <p:grpSp>
        <p:nvGrpSpPr>
          <p:cNvPr name="Group 20" id="20"/>
          <p:cNvGrpSpPr/>
          <p:nvPr/>
        </p:nvGrpSpPr>
        <p:grpSpPr>
          <a:xfrm rot="0">
            <a:off x="3970634" y="6656402"/>
            <a:ext cx="13288666" cy="1671734"/>
            <a:chOff x="0" y="0"/>
            <a:chExt cx="3499896" cy="440292"/>
          </a:xfrm>
        </p:grpSpPr>
        <p:sp>
          <p:nvSpPr>
            <p:cNvPr name="Freeform 21" id="21"/>
            <p:cNvSpPr/>
            <p:nvPr/>
          </p:nvSpPr>
          <p:spPr>
            <a:xfrm flipH="false" flipV="false" rot="0">
              <a:off x="0" y="0"/>
              <a:ext cx="3499896" cy="440292"/>
            </a:xfrm>
            <a:custGeom>
              <a:avLst/>
              <a:gdLst/>
              <a:ahLst/>
              <a:cxnLst/>
              <a:rect r="r" b="b" t="t" l="l"/>
              <a:pathLst>
                <a:path h="440292" w="3499896">
                  <a:moveTo>
                    <a:pt x="24469" y="0"/>
                  </a:moveTo>
                  <a:lnTo>
                    <a:pt x="3475427" y="0"/>
                  </a:lnTo>
                  <a:cubicBezTo>
                    <a:pt x="3481916" y="0"/>
                    <a:pt x="3488140" y="2578"/>
                    <a:pt x="3492729" y="7167"/>
                  </a:cubicBezTo>
                  <a:cubicBezTo>
                    <a:pt x="3497318" y="11756"/>
                    <a:pt x="3499896" y="17979"/>
                    <a:pt x="3499896" y="24469"/>
                  </a:cubicBezTo>
                  <a:lnTo>
                    <a:pt x="3499896" y="415823"/>
                  </a:lnTo>
                  <a:cubicBezTo>
                    <a:pt x="3499896" y="422313"/>
                    <a:pt x="3497318" y="428536"/>
                    <a:pt x="3492729" y="433125"/>
                  </a:cubicBezTo>
                  <a:cubicBezTo>
                    <a:pt x="3488140" y="437714"/>
                    <a:pt x="3481916" y="440292"/>
                    <a:pt x="3475427" y="440292"/>
                  </a:cubicBezTo>
                  <a:lnTo>
                    <a:pt x="24469" y="440292"/>
                  </a:lnTo>
                  <a:cubicBezTo>
                    <a:pt x="17979" y="440292"/>
                    <a:pt x="11756" y="437714"/>
                    <a:pt x="7167" y="433125"/>
                  </a:cubicBezTo>
                  <a:cubicBezTo>
                    <a:pt x="2578" y="428536"/>
                    <a:pt x="0" y="422313"/>
                    <a:pt x="0" y="415823"/>
                  </a:cubicBezTo>
                  <a:lnTo>
                    <a:pt x="0" y="24469"/>
                  </a:lnTo>
                  <a:cubicBezTo>
                    <a:pt x="0" y="17979"/>
                    <a:pt x="2578" y="11756"/>
                    <a:pt x="7167" y="7167"/>
                  </a:cubicBezTo>
                  <a:cubicBezTo>
                    <a:pt x="11756" y="2578"/>
                    <a:pt x="17979" y="0"/>
                    <a:pt x="24469" y="0"/>
                  </a:cubicBezTo>
                  <a:close/>
                </a:path>
              </a:pathLst>
            </a:custGeom>
            <a:gradFill rotWithShape="true">
              <a:gsLst>
                <a:gs pos="0">
                  <a:srgbClr val="000F9B">
                    <a:alpha val="100000"/>
                  </a:srgbClr>
                </a:gs>
                <a:gs pos="50000">
                  <a:srgbClr val="EB0000">
                    <a:alpha val="100000"/>
                  </a:srgbClr>
                </a:gs>
                <a:gs pos="100000">
                  <a:srgbClr val="A000EB">
                    <a:alpha val="100000"/>
                  </a:srgbClr>
                </a:gs>
              </a:gsLst>
              <a:path path="circle">
                <a:fillToRect l="0" r="100000" t="0" b="100000"/>
              </a:path>
              <a:tileRect r="0" l="-100000" b="0" t="-100000"/>
            </a:gradFill>
          </p:spPr>
        </p:sp>
        <p:sp>
          <p:nvSpPr>
            <p:cNvPr name="TextBox 22" id="22"/>
            <p:cNvSpPr txBox="true"/>
            <p:nvPr/>
          </p:nvSpPr>
          <p:spPr>
            <a:xfrm>
              <a:off x="0" y="-66675"/>
              <a:ext cx="3499896" cy="506967"/>
            </a:xfrm>
            <a:prstGeom prst="rect">
              <a:avLst/>
            </a:prstGeom>
          </p:spPr>
          <p:txBody>
            <a:bodyPr anchor="ctr" rtlCol="false" tIns="50800" lIns="50800" bIns="50800" rIns="50800"/>
            <a:lstStyle/>
            <a:p>
              <a:pPr algn="ctr">
                <a:lnSpc>
                  <a:spcPts val="3151"/>
                </a:lnSpc>
              </a:pPr>
            </a:p>
          </p:txBody>
        </p:sp>
      </p:grpSp>
      <p:sp>
        <p:nvSpPr>
          <p:cNvPr name="TextBox 23" id="23"/>
          <p:cNvSpPr txBox="true"/>
          <p:nvPr/>
        </p:nvSpPr>
        <p:spPr>
          <a:xfrm rot="0">
            <a:off x="4517743" y="6871620"/>
            <a:ext cx="12577612" cy="1098423"/>
          </a:xfrm>
          <a:prstGeom prst="rect">
            <a:avLst/>
          </a:prstGeom>
        </p:spPr>
        <p:txBody>
          <a:bodyPr anchor="t" rtlCol="false" tIns="0" lIns="0" bIns="0" rIns="0">
            <a:spAutoFit/>
          </a:bodyPr>
          <a:lstStyle/>
          <a:p>
            <a:pPr algn="just">
              <a:lnSpc>
                <a:spcPts val="4445"/>
              </a:lnSpc>
            </a:pPr>
            <a:r>
              <a:rPr lang="en-US" sz="2599">
                <a:solidFill>
                  <a:srgbClr val="FFFFFF"/>
                </a:solidFill>
                <a:latin typeface="Poppins"/>
                <a:ea typeface="Poppins"/>
                <a:cs typeface="Poppins"/>
                <a:sym typeface="Poppins"/>
              </a:rPr>
              <a:t>Tweet/Social Media: Curated election-related tweets (sample, e.g., 500–1,000), with features: text, time, user/meta, propagation patterns.</a:t>
            </a:r>
          </a:p>
        </p:txBody>
      </p:sp>
    </p:spTree>
  </p:cSld>
  <p:clrMapOvr>
    <a:masterClrMapping/>
  </p:clrMapOvr>
  <p:transition spd="slow">
    <p:push dir="l"/>
  </p:transition>
</p:sld>
</file>

<file path=ppt/slides/slide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9033D">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grpSp>
        <p:nvGrpSpPr>
          <p:cNvPr name="Group 2" id="2"/>
          <p:cNvGrpSpPr/>
          <p:nvPr/>
        </p:nvGrpSpPr>
        <p:grpSpPr>
          <a:xfrm rot="0">
            <a:off x="803986" y="1545717"/>
            <a:ext cx="6429027" cy="1368985"/>
            <a:chOff x="0" y="0"/>
            <a:chExt cx="1827018" cy="389042"/>
          </a:xfrm>
        </p:grpSpPr>
        <p:sp>
          <p:nvSpPr>
            <p:cNvPr name="Freeform 3" id="3"/>
            <p:cNvSpPr/>
            <p:nvPr/>
          </p:nvSpPr>
          <p:spPr>
            <a:xfrm flipH="false" flipV="false" rot="0">
              <a:off x="0" y="0"/>
              <a:ext cx="1827018" cy="389042"/>
            </a:xfrm>
            <a:custGeom>
              <a:avLst/>
              <a:gdLst/>
              <a:ahLst/>
              <a:cxnLst/>
              <a:rect r="r" b="b" t="t" l="l"/>
              <a:pathLst>
                <a:path h="389042" w="1827018">
                  <a:moveTo>
                    <a:pt x="67436" y="0"/>
                  </a:moveTo>
                  <a:lnTo>
                    <a:pt x="1759582" y="0"/>
                  </a:lnTo>
                  <a:cubicBezTo>
                    <a:pt x="1777467" y="0"/>
                    <a:pt x="1794619" y="7105"/>
                    <a:pt x="1807266" y="19752"/>
                  </a:cubicBezTo>
                  <a:cubicBezTo>
                    <a:pt x="1819913" y="32398"/>
                    <a:pt x="1827018" y="49551"/>
                    <a:pt x="1827018" y="67436"/>
                  </a:cubicBezTo>
                  <a:lnTo>
                    <a:pt x="1827018" y="321606"/>
                  </a:lnTo>
                  <a:cubicBezTo>
                    <a:pt x="1827018" y="339491"/>
                    <a:pt x="1819913" y="356644"/>
                    <a:pt x="1807266" y="369290"/>
                  </a:cubicBezTo>
                  <a:cubicBezTo>
                    <a:pt x="1794619" y="381937"/>
                    <a:pt x="1777467" y="389042"/>
                    <a:pt x="1759582" y="389042"/>
                  </a:cubicBezTo>
                  <a:lnTo>
                    <a:pt x="67436" y="389042"/>
                  </a:lnTo>
                  <a:cubicBezTo>
                    <a:pt x="30192" y="389042"/>
                    <a:pt x="0" y="358850"/>
                    <a:pt x="0" y="321606"/>
                  </a:cubicBezTo>
                  <a:lnTo>
                    <a:pt x="0" y="67436"/>
                  </a:lnTo>
                  <a:cubicBezTo>
                    <a:pt x="0" y="49551"/>
                    <a:pt x="7105" y="32398"/>
                    <a:pt x="19752" y="19752"/>
                  </a:cubicBezTo>
                  <a:cubicBezTo>
                    <a:pt x="32398" y="7105"/>
                    <a:pt x="49551" y="0"/>
                    <a:pt x="67436" y="0"/>
                  </a:cubicBezTo>
                  <a:close/>
                </a:path>
              </a:pathLst>
            </a:custGeom>
            <a:gradFill rotWithShape="true">
              <a:gsLst>
                <a:gs pos="0">
                  <a:srgbClr val="000000">
                    <a:alpha val="78000"/>
                  </a:srgbClr>
                </a:gs>
                <a:gs pos="100000">
                  <a:srgbClr val="DDDDDD">
                    <a:alpha val="14820"/>
                  </a:srgbClr>
                </a:gs>
              </a:gsLst>
              <a:lin ang="2700000"/>
            </a:gradFill>
          </p:spPr>
        </p:sp>
        <p:sp>
          <p:nvSpPr>
            <p:cNvPr name="TextBox 4" id="4"/>
            <p:cNvSpPr txBox="true"/>
            <p:nvPr/>
          </p:nvSpPr>
          <p:spPr>
            <a:xfrm>
              <a:off x="0" y="-66675"/>
              <a:ext cx="1827018" cy="455717"/>
            </a:xfrm>
            <a:prstGeom prst="rect">
              <a:avLst/>
            </a:prstGeom>
          </p:spPr>
          <p:txBody>
            <a:bodyPr anchor="ctr" rtlCol="false" tIns="50800" lIns="50800" bIns="50800" rIns="50800"/>
            <a:lstStyle/>
            <a:p>
              <a:pPr algn="ctr">
                <a:lnSpc>
                  <a:spcPts val="3151"/>
                </a:lnSpc>
              </a:pPr>
            </a:p>
          </p:txBody>
        </p:sp>
      </p:grpSp>
      <p:grpSp>
        <p:nvGrpSpPr>
          <p:cNvPr name="Group 5" id="5"/>
          <p:cNvGrpSpPr/>
          <p:nvPr/>
        </p:nvGrpSpPr>
        <p:grpSpPr>
          <a:xfrm rot="0">
            <a:off x="803986" y="3207005"/>
            <a:ext cx="16884996" cy="6089395"/>
            <a:chOff x="0" y="0"/>
            <a:chExt cx="4447077" cy="1603791"/>
          </a:xfrm>
        </p:grpSpPr>
        <p:sp>
          <p:nvSpPr>
            <p:cNvPr name="Freeform 6" id="6"/>
            <p:cNvSpPr/>
            <p:nvPr/>
          </p:nvSpPr>
          <p:spPr>
            <a:xfrm flipH="false" flipV="false" rot="0">
              <a:off x="0" y="0"/>
              <a:ext cx="4447077" cy="1603791"/>
            </a:xfrm>
            <a:custGeom>
              <a:avLst/>
              <a:gdLst/>
              <a:ahLst/>
              <a:cxnLst/>
              <a:rect r="r" b="b" t="t" l="l"/>
              <a:pathLst>
                <a:path h="1603791" w="4447077">
                  <a:moveTo>
                    <a:pt x="25676" y="0"/>
                  </a:moveTo>
                  <a:lnTo>
                    <a:pt x="4421401" y="0"/>
                  </a:lnTo>
                  <a:cubicBezTo>
                    <a:pt x="4435581" y="0"/>
                    <a:pt x="4447077" y="11496"/>
                    <a:pt x="4447077" y="25676"/>
                  </a:cubicBezTo>
                  <a:lnTo>
                    <a:pt x="4447077" y="1578115"/>
                  </a:lnTo>
                  <a:cubicBezTo>
                    <a:pt x="4447077" y="1584925"/>
                    <a:pt x="4444372" y="1591456"/>
                    <a:pt x="4439557" y="1596271"/>
                  </a:cubicBezTo>
                  <a:cubicBezTo>
                    <a:pt x="4434741" y="1601086"/>
                    <a:pt x="4428210" y="1603791"/>
                    <a:pt x="4421401" y="1603791"/>
                  </a:cubicBezTo>
                  <a:lnTo>
                    <a:pt x="25676" y="1603791"/>
                  </a:lnTo>
                  <a:cubicBezTo>
                    <a:pt x="11496" y="1603791"/>
                    <a:pt x="0" y="1592296"/>
                    <a:pt x="0" y="1578115"/>
                  </a:cubicBezTo>
                  <a:lnTo>
                    <a:pt x="0" y="25676"/>
                  </a:lnTo>
                  <a:cubicBezTo>
                    <a:pt x="0" y="11496"/>
                    <a:pt x="11496" y="0"/>
                    <a:pt x="25676" y="0"/>
                  </a:cubicBezTo>
                  <a:close/>
                </a:path>
              </a:pathLst>
            </a:custGeom>
            <a:solidFill>
              <a:srgbClr val="000000">
                <a:alpha val="0"/>
              </a:srgbClr>
            </a:solidFill>
            <a:ln w="28575" cap="rnd">
              <a:solidFill>
                <a:srgbClr val="FFFFFF"/>
              </a:solidFill>
              <a:prstDash val="solid"/>
              <a:round/>
            </a:ln>
          </p:spPr>
        </p:sp>
        <p:sp>
          <p:nvSpPr>
            <p:cNvPr name="TextBox 7" id="7"/>
            <p:cNvSpPr txBox="true"/>
            <p:nvPr/>
          </p:nvSpPr>
          <p:spPr>
            <a:xfrm>
              <a:off x="0" y="-66675"/>
              <a:ext cx="4447077" cy="1670466"/>
            </a:xfrm>
            <a:prstGeom prst="rect">
              <a:avLst/>
            </a:prstGeom>
          </p:spPr>
          <p:txBody>
            <a:bodyPr anchor="ctr" rtlCol="false" tIns="50800" lIns="50800" bIns="50800" rIns="50800"/>
            <a:lstStyle/>
            <a:p>
              <a:pPr algn="ctr">
                <a:lnSpc>
                  <a:spcPts val="3151"/>
                </a:lnSpc>
              </a:pPr>
            </a:p>
          </p:txBody>
        </p:sp>
      </p:grpSp>
      <p:grpSp>
        <p:nvGrpSpPr>
          <p:cNvPr name="Group 8" id="8"/>
          <p:cNvGrpSpPr/>
          <p:nvPr/>
        </p:nvGrpSpPr>
        <p:grpSpPr>
          <a:xfrm rot="0">
            <a:off x="1363845" y="3614228"/>
            <a:ext cx="15895455" cy="1003531"/>
            <a:chOff x="0" y="0"/>
            <a:chExt cx="4186457" cy="264304"/>
          </a:xfrm>
        </p:grpSpPr>
        <p:sp>
          <p:nvSpPr>
            <p:cNvPr name="Freeform 9" id="9"/>
            <p:cNvSpPr/>
            <p:nvPr/>
          </p:nvSpPr>
          <p:spPr>
            <a:xfrm flipH="false" flipV="false" rot="0">
              <a:off x="0" y="0"/>
              <a:ext cx="4186457" cy="264304"/>
            </a:xfrm>
            <a:custGeom>
              <a:avLst/>
              <a:gdLst/>
              <a:ahLst/>
              <a:cxnLst/>
              <a:rect r="r" b="b" t="t" l="l"/>
              <a:pathLst>
                <a:path h="264304" w="4186457">
                  <a:moveTo>
                    <a:pt x="20456" y="0"/>
                  </a:moveTo>
                  <a:lnTo>
                    <a:pt x="4166001" y="0"/>
                  </a:lnTo>
                  <a:cubicBezTo>
                    <a:pt x="4171426" y="0"/>
                    <a:pt x="4176630" y="2155"/>
                    <a:pt x="4180466" y="5991"/>
                  </a:cubicBezTo>
                  <a:cubicBezTo>
                    <a:pt x="4184302" y="9828"/>
                    <a:pt x="4186457" y="15031"/>
                    <a:pt x="4186457" y="20456"/>
                  </a:cubicBezTo>
                  <a:lnTo>
                    <a:pt x="4186457" y="243848"/>
                  </a:lnTo>
                  <a:cubicBezTo>
                    <a:pt x="4186457" y="255146"/>
                    <a:pt x="4177299" y="264304"/>
                    <a:pt x="4166001" y="264304"/>
                  </a:cubicBezTo>
                  <a:lnTo>
                    <a:pt x="20456" y="264304"/>
                  </a:lnTo>
                  <a:cubicBezTo>
                    <a:pt x="15031" y="264304"/>
                    <a:pt x="9828" y="262149"/>
                    <a:pt x="5991" y="258313"/>
                  </a:cubicBezTo>
                  <a:cubicBezTo>
                    <a:pt x="2155" y="254477"/>
                    <a:pt x="0" y="249274"/>
                    <a:pt x="0" y="243848"/>
                  </a:cubicBezTo>
                  <a:lnTo>
                    <a:pt x="0" y="20456"/>
                  </a:lnTo>
                  <a:cubicBezTo>
                    <a:pt x="0" y="15031"/>
                    <a:pt x="2155" y="9828"/>
                    <a:pt x="5991" y="5991"/>
                  </a:cubicBezTo>
                  <a:cubicBezTo>
                    <a:pt x="9828" y="2155"/>
                    <a:pt x="15031" y="0"/>
                    <a:pt x="20456" y="0"/>
                  </a:cubicBezTo>
                  <a:close/>
                </a:path>
              </a:pathLst>
            </a:custGeom>
            <a:gradFill rotWithShape="true">
              <a:gsLst>
                <a:gs pos="0">
                  <a:srgbClr val="000F9B">
                    <a:alpha val="100000"/>
                  </a:srgbClr>
                </a:gs>
                <a:gs pos="50000">
                  <a:srgbClr val="EB0000">
                    <a:alpha val="100000"/>
                  </a:srgbClr>
                </a:gs>
                <a:gs pos="100000">
                  <a:srgbClr val="A000EB">
                    <a:alpha val="100000"/>
                  </a:srgbClr>
                </a:gs>
              </a:gsLst>
              <a:path path="circle">
                <a:fillToRect l="0" r="100000" t="0" b="100000"/>
              </a:path>
              <a:tileRect r="0" l="-100000" b="0" t="-100000"/>
            </a:gradFill>
          </p:spPr>
        </p:sp>
        <p:sp>
          <p:nvSpPr>
            <p:cNvPr name="TextBox 10" id="10"/>
            <p:cNvSpPr txBox="true"/>
            <p:nvPr/>
          </p:nvSpPr>
          <p:spPr>
            <a:xfrm>
              <a:off x="0" y="-66675"/>
              <a:ext cx="4186457" cy="330979"/>
            </a:xfrm>
            <a:prstGeom prst="rect">
              <a:avLst/>
            </a:prstGeom>
          </p:spPr>
          <p:txBody>
            <a:bodyPr anchor="ctr" rtlCol="false" tIns="50800" lIns="50800" bIns="50800" rIns="50800"/>
            <a:lstStyle/>
            <a:p>
              <a:pPr algn="ctr">
                <a:lnSpc>
                  <a:spcPts val="3151"/>
                </a:lnSpc>
              </a:pPr>
            </a:p>
          </p:txBody>
        </p:sp>
      </p:grpSp>
      <p:sp>
        <p:nvSpPr>
          <p:cNvPr name="Freeform 11" id="11"/>
          <p:cNvSpPr/>
          <p:nvPr/>
        </p:nvSpPr>
        <p:spPr>
          <a:xfrm flipH="false" flipV="false" rot="0">
            <a:off x="5947701" y="1843637"/>
            <a:ext cx="764938" cy="764938"/>
          </a:xfrm>
          <a:custGeom>
            <a:avLst/>
            <a:gdLst/>
            <a:ahLst/>
            <a:cxnLst/>
            <a:rect r="r" b="b" t="t" l="l"/>
            <a:pathLst>
              <a:path h="764938" w="764938">
                <a:moveTo>
                  <a:pt x="0" y="0"/>
                </a:moveTo>
                <a:lnTo>
                  <a:pt x="764938" y="0"/>
                </a:lnTo>
                <a:lnTo>
                  <a:pt x="764938" y="764938"/>
                </a:lnTo>
                <a:lnTo>
                  <a:pt x="0" y="7649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803986" y="803986"/>
            <a:ext cx="449429" cy="449429"/>
          </a:xfrm>
          <a:custGeom>
            <a:avLst/>
            <a:gdLst/>
            <a:ahLst/>
            <a:cxnLst/>
            <a:rect r="r" b="b" t="t" l="l"/>
            <a:pathLst>
              <a:path h="449429" w="449429">
                <a:moveTo>
                  <a:pt x="0" y="0"/>
                </a:moveTo>
                <a:lnTo>
                  <a:pt x="449428" y="0"/>
                </a:lnTo>
                <a:lnTo>
                  <a:pt x="449428" y="449428"/>
                </a:lnTo>
                <a:lnTo>
                  <a:pt x="0" y="44942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3" id="13"/>
          <p:cNvSpPr txBox="true"/>
          <p:nvPr/>
        </p:nvSpPr>
        <p:spPr>
          <a:xfrm rot="0">
            <a:off x="9144000" y="841660"/>
            <a:ext cx="1662550" cy="409541"/>
          </a:xfrm>
          <a:prstGeom prst="rect">
            <a:avLst/>
          </a:prstGeom>
        </p:spPr>
        <p:txBody>
          <a:bodyPr anchor="t" rtlCol="false" tIns="0" lIns="0" bIns="0" rIns="0">
            <a:spAutoFit/>
          </a:bodyPr>
          <a:lstStyle/>
          <a:p>
            <a:pPr algn="r" marL="0" indent="0" lvl="0">
              <a:lnSpc>
                <a:spcPts val="3151"/>
              </a:lnSpc>
              <a:spcBef>
                <a:spcPct val="0"/>
              </a:spcBef>
            </a:pPr>
            <a:r>
              <a:rPr lang="en-US" sz="2251">
                <a:solidFill>
                  <a:srgbClr val="FFFFFF"/>
                </a:solidFill>
                <a:latin typeface="Poppins"/>
                <a:ea typeface="Poppins"/>
                <a:cs typeface="Poppins"/>
                <a:sym typeface="Poppins"/>
              </a:rPr>
              <a:t>Home</a:t>
            </a:r>
          </a:p>
        </p:txBody>
      </p:sp>
      <p:sp>
        <p:nvSpPr>
          <p:cNvPr name="TextBox 14" id="14"/>
          <p:cNvSpPr txBox="true"/>
          <p:nvPr/>
        </p:nvSpPr>
        <p:spPr>
          <a:xfrm rot="0">
            <a:off x="11408122" y="843874"/>
            <a:ext cx="1907082" cy="409541"/>
          </a:xfrm>
          <a:prstGeom prst="rect">
            <a:avLst/>
          </a:prstGeom>
        </p:spPr>
        <p:txBody>
          <a:bodyPr anchor="t" rtlCol="false" tIns="0" lIns="0" bIns="0" rIns="0">
            <a:spAutoFit/>
          </a:bodyPr>
          <a:lstStyle/>
          <a:p>
            <a:pPr algn="ctr" marL="0" indent="0" lvl="0">
              <a:lnSpc>
                <a:spcPts val="3151"/>
              </a:lnSpc>
              <a:spcBef>
                <a:spcPct val="0"/>
              </a:spcBef>
            </a:pPr>
            <a:r>
              <a:rPr lang="en-US" sz="2251">
                <a:solidFill>
                  <a:srgbClr val="FFFFFF"/>
                </a:solidFill>
                <a:latin typeface="Poppins"/>
                <a:ea typeface="Poppins"/>
                <a:cs typeface="Poppins"/>
                <a:sym typeface="Poppins"/>
              </a:rPr>
              <a:t>About</a:t>
            </a:r>
          </a:p>
        </p:txBody>
      </p:sp>
      <p:sp>
        <p:nvSpPr>
          <p:cNvPr name="TextBox 15" id="15"/>
          <p:cNvSpPr txBox="true"/>
          <p:nvPr/>
        </p:nvSpPr>
        <p:spPr>
          <a:xfrm rot="0">
            <a:off x="13726729" y="819695"/>
            <a:ext cx="1916881" cy="409541"/>
          </a:xfrm>
          <a:prstGeom prst="rect">
            <a:avLst/>
          </a:prstGeom>
        </p:spPr>
        <p:txBody>
          <a:bodyPr anchor="t" rtlCol="false" tIns="0" lIns="0" bIns="0" rIns="0">
            <a:spAutoFit/>
          </a:bodyPr>
          <a:lstStyle/>
          <a:p>
            <a:pPr algn="ctr" marL="0" indent="0" lvl="0">
              <a:lnSpc>
                <a:spcPts val="3151"/>
              </a:lnSpc>
              <a:spcBef>
                <a:spcPct val="0"/>
              </a:spcBef>
            </a:pPr>
            <a:r>
              <a:rPr lang="en-US" b="true" sz="2251">
                <a:solidFill>
                  <a:srgbClr val="FFFFFF"/>
                </a:solidFill>
                <a:latin typeface="Poppins Bold"/>
                <a:ea typeface="Poppins Bold"/>
                <a:cs typeface="Poppins Bold"/>
                <a:sym typeface="Poppins Bold"/>
              </a:rPr>
              <a:t>Content</a:t>
            </a:r>
          </a:p>
        </p:txBody>
      </p:sp>
      <p:sp>
        <p:nvSpPr>
          <p:cNvPr name="TextBox 16" id="16"/>
          <p:cNvSpPr txBox="true"/>
          <p:nvPr/>
        </p:nvSpPr>
        <p:spPr>
          <a:xfrm rot="0">
            <a:off x="15034325" y="841660"/>
            <a:ext cx="2224975" cy="409541"/>
          </a:xfrm>
          <a:prstGeom prst="rect">
            <a:avLst/>
          </a:prstGeom>
        </p:spPr>
        <p:txBody>
          <a:bodyPr anchor="t" rtlCol="false" tIns="0" lIns="0" bIns="0" rIns="0">
            <a:spAutoFit/>
          </a:bodyPr>
          <a:lstStyle/>
          <a:p>
            <a:pPr algn="r" marL="0" indent="0" lvl="0">
              <a:lnSpc>
                <a:spcPts val="3151"/>
              </a:lnSpc>
              <a:spcBef>
                <a:spcPct val="0"/>
              </a:spcBef>
            </a:pPr>
            <a:r>
              <a:rPr lang="en-US" sz="2251">
                <a:solidFill>
                  <a:srgbClr val="FFFFFF"/>
                </a:solidFill>
                <a:latin typeface="Poppins"/>
                <a:ea typeface="Poppins"/>
                <a:cs typeface="Poppins"/>
                <a:sym typeface="Poppins"/>
              </a:rPr>
              <a:t>Others</a:t>
            </a:r>
          </a:p>
        </p:txBody>
      </p:sp>
      <p:sp>
        <p:nvSpPr>
          <p:cNvPr name="TextBox 17" id="17"/>
          <p:cNvSpPr txBox="true"/>
          <p:nvPr/>
        </p:nvSpPr>
        <p:spPr>
          <a:xfrm rot="0">
            <a:off x="2134847" y="3741216"/>
            <a:ext cx="15124453" cy="597154"/>
          </a:xfrm>
          <a:prstGeom prst="rect">
            <a:avLst/>
          </a:prstGeom>
        </p:spPr>
        <p:txBody>
          <a:bodyPr anchor="t" rtlCol="false" tIns="0" lIns="0" bIns="0" rIns="0">
            <a:spAutoFit/>
          </a:bodyPr>
          <a:lstStyle/>
          <a:p>
            <a:pPr algn="just">
              <a:lnSpc>
                <a:spcPts val="4837"/>
              </a:lnSpc>
            </a:pPr>
            <a:r>
              <a:rPr lang="en-US" sz="2949">
                <a:solidFill>
                  <a:srgbClr val="FFFFFF"/>
                </a:solidFill>
                <a:latin typeface="Poppins"/>
                <a:ea typeface="Poppins"/>
                <a:cs typeface="Poppins"/>
                <a:sym typeface="Poppins"/>
              </a:rPr>
              <a:t>Cleaned redundant entries, standardized text, and formatted numeric fields.</a:t>
            </a:r>
          </a:p>
        </p:txBody>
      </p:sp>
      <p:sp>
        <p:nvSpPr>
          <p:cNvPr name="TextBox 18" id="18"/>
          <p:cNvSpPr txBox="true"/>
          <p:nvPr/>
        </p:nvSpPr>
        <p:spPr>
          <a:xfrm rot="0">
            <a:off x="1252218" y="1879494"/>
            <a:ext cx="10155904" cy="729081"/>
          </a:xfrm>
          <a:prstGeom prst="rect">
            <a:avLst/>
          </a:prstGeom>
        </p:spPr>
        <p:txBody>
          <a:bodyPr anchor="t" rtlCol="false" tIns="0" lIns="0" bIns="0" rIns="0">
            <a:spAutoFit/>
          </a:bodyPr>
          <a:lstStyle/>
          <a:p>
            <a:pPr algn="l">
              <a:lnSpc>
                <a:spcPts val="5021"/>
              </a:lnSpc>
            </a:pPr>
            <a:r>
              <a:rPr lang="en-US" sz="4923" spc="-221" b="true">
                <a:solidFill>
                  <a:srgbClr val="FFFFFF"/>
                </a:solidFill>
                <a:latin typeface="Telegraf Bold"/>
                <a:ea typeface="Telegraf Bold"/>
                <a:cs typeface="Telegraf Bold"/>
                <a:sym typeface="Telegraf Bold"/>
              </a:rPr>
              <a:t>Preprocessing</a:t>
            </a:r>
          </a:p>
        </p:txBody>
      </p:sp>
      <p:sp>
        <p:nvSpPr>
          <p:cNvPr name="TextBox 19" id="19"/>
          <p:cNvSpPr txBox="true"/>
          <p:nvPr/>
        </p:nvSpPr>
        <p:spPr>
          <a:xfrm rot="0">
            <a:off x="1363845" y="768097"/>
            <a:ext cx="3551055" cy="445006"/>
          </a:xfrm>
          <a:prstGeom prst="rect">
            <a:avLst/>
          </a:prstGeom>
        </p:spPr>
        <p:txBody>
          <a:bodyPr anchor="t" rtlCol="false" tIns="0" lIns="0" bIns="0" rIns="0">
            <a:spAutoFit/>
          </a:bodyPr>
          <a:lstStyle/>
          <a:p>
            <a:pPr algn="l">
              <a:lnSpc>
                <a:spcPts val="3391"/>
              </a:lnSpc>
              <a:spcBef>
                <a:spcPct val="0"/>
              </a:spcBef>
            </a:pPr>
            <a:r>
              <a:rPr lang="en-US" b="true" sz="2422" spc="-109">
                <a:solidFill>
                  <a:srgbClr val="FFFFFF"/>
                </a:solidFill>
                <a:latin typeface="Telegraf Bold"/>
                <a:ea typeface="Telegraf Bold"/>
                <a:cs typeface="Telegraf Bold"/>
                <a:sym typeface="Telegraf Bold"/>
              </a:rPr>
              <a:t>Forensics Analytics</a:t>
            </a:r>
          </a:p>
        </p:txBody>
      </p:sp>
      <p:grpSp>
        <p:nvGrpSpPr>
          <p:cNvPr name="Group 20" id="20"/>
          <p:cNvGrpSpPr/>
          <p:nvPr/>
        </p:nvGrpSpPr>
        <p:grpSpPr>
          <a:xfrm rot="0">
            <a:off x="1363845" y="6456817"/>
            <a:ext cx="15895455" cy="996072"/>
            <a:chOff x="0" y="0"/>
            <a:chExt cx="4186457" cy="262340"/>
          </a:xfrm>
        </p:grpSpPr>
        <p:sp>
          <p:nvSpPr>
            <p:cNvPr name="Freeform 21" id="21"/>
            <p:cNvSpPr/>
            <p:nvPr/>
          </p:nvSpPr>
          <p:spPr>
            <a:xfrm flipH="false" flipV="false" rot="0">
              <a:off x="0" y="0"/>
              <a:ext cx="4186457" cy="262340"/>
            </a:xfrm>
            <a:custGeom>
              <a:avLst/>
              <a:gdLst/>
              <a:ahLst/>
              <a:cxnLst/>
              <a:rect r="r" b="b" t="t" l="l"/>
              <a:pathLst>
                <a:path h="262340" w="4186457">
                  <a:moveTo>
                    <a:pt x="20456" y="0"/>
                  </a:moveTo>
                  <a:lnTo>
                    <a:pt x="4166001" y="0"/>
                  </a:lnTo>
                  <a:cubicBezTo>
                    <a:pt x="4171426" y="0"/>
                    <a:pt x="4176630" y="2155"/>
                    <a:pt x="4180466" y="5991"/>
                  </a:cubicBezTo>
                  <a:cubicBezTo>
                    <a:pt x="4184302" y="9828"/>
                    <a:pt x="4186457" y="15031"/>
                    <a:pt x="4186457" y="20456"/>
                  </a:cubicBezTo>
                  <a:lnTo>
                    <a:pt x="4186457" y="241884"/>
                  </a:lnTo>
                  <a:cubicBezTo>
                    <a:pt x="4186457" y="247309"/>
                    <a:pt x="4184302" y="252512"/>
                    <a:pt x="4180466" y="256348"/>
                  </a:cubicBezTo>
                  <a:cubicBezTo>
                    <a:pt x="4176630" y="260185"/>
                    <a:pt x="4171426" y="262340"/>
                    <a:pt x="4166001" y="262340"/>
                  </a:cubicBezTo>
                  <a:lnTo>
                    <a:pt x="20456" y="262340"/>
                  </a:lnTo>
                  <a:cubicBezTo>
                    <a:pt x="15031" y="262340"/>
                    <a:pt x="9828" y="260185"/>
                    <a:pt x="5991" y="256348"/>
                  </a:cubicBezTo>
                  <a:cubicBezTo>
                    <a:pt x="2155" y="252512"/>
                    <a:pt x="0" y="247309"/>
                    <a:pt x="0" y="241884"/>
                  </a:cubicBezTo>
                  <a:lnTo>
                    <a:pt x="0" y="20456"/>
                  </a:lnTo>
                  <a:cubicBezTo>
                    <a:pt x="0" y="15031"/>
                    <a:pt x="2155" y="9828"/>
                    <a:pt x="5991" y="5991"/>
                  </a:cubicBezTo>
                  <a:cubicBezTo>
                    <a:pt x="9828" y="2155"/>
                    <a:pt x="15031" y="0"/>
                    <a:pt x="20456" y="0"/>
                  </a:cubicBezTo>
                  <a:close/>
                </a:path>
              </a:pathLst>
            </a:custGeom>
            <a:gradFill rotWithShape="true">
              <a:gsLst>
                <a:gs pos="0">
                  <a:srgbClr val="000F9B">
                    <a:alpha val="100000"/>
                  </a:srgbClr>
                </a:gs>
                <a:gs pos="50000">
                  <a:srgbClr val="EB0000">
                    <a:alpha val="100000"/>
                  </a:srgbClr>
                </a:gs>
                <a:gs pos="100000">
                  <a:srgbClr val="A000EB">
                    <a:alpha val="100000"/>
                  </a:srgbClr>
                </a:gs>
              </a:gsLst>
              <a:path path="circle">
                <a:fillToRect l="0" r="100000" t="0" b="100000"/>
              </a:path>
              <a:tileRect r="0" l="-100000" b="0" t="-100000"/>
            </a:gradFill>
          </p:spPr>
        </p:sp>
        <p:sp>
          <p:nvSpPr>
            <p:cNvPr name="TextBox 22" id="22"/>
            <p:cNvSpPr txBox="true"/>
            <p:nvPr/>
          </p:nvSpPr>
          <p:spPr>
            <a:xfrm>
              <a:off x="0" y="-66675"/>
              <a:ext cx="4186457" cy="329015"/>
            </a:xfrm>
            <a:prstGeom prst="rect">
              <a:avLst/>
            </a:prstGeom>
          </p:spPr>
          <p:txBody>
            <a:bodyPr anchor="ctr" rtlCol="false" tIns="50800" lIns="50800" bIns="50800" rIns="50800"/>
            <a:lstStyle/>
            <a:p>
              <a:pPr algn="ctr">
                <a:lnSpc>
                  <a:spcPts val="3151"/>
                </a:lnSpc>
              </a:pPr>
            </a:p>
          </p:txBody>
        </p:sp>
      </p:grpSp>
      <p:sp>
        <p:nvSpPr>
          <p:cNvPr name="TextBox 23" id="23"/>
          <p:cNvSpPr txBox="true"/>
          <p:nvPr/>
        </p:nvSpPr>
        <p:spPr>
          <a:xfrm rot="0">
            <a:off x="2107557" y="6542542"/>
            <a:ext cx="12577612" cy="602743"/>
          </a:xfrm>
          <a:prstGeom prst="rect">
            <a:avLst/>
          </a:prstGeom>
        </p:spPr>
        <p:txBody>
          <a:bodyPr anchor="t" rtlCol="false" tIns="0" lIns="0" bIns="0" rIns="0">
            <a:spAutoFit/>
          </a:bodyPr>
          <a:lstStyle/>
          <a:p>
            <a:pPr algn="just">
              <a:lnSpc>
                <a:spcPts val="4958"/>
              </a:lnSpc>
            </a:pPr>
            <a:r>
              <a:rPr lang="en-US" sz="2899">
                <a:solidFill>
                  <a:srgbClr val="FFFFFF"/>
                </a:solidFill>
                <a:latin typeface="Poppins"/>
                <a:ea typeface="Poppins"/>
                <a:cs typeface="Poppins"/>
                <a:sym typeface="Poppins"/>
              </a:rPr>
              <a:t>Derived turnout %, vote share, and victory margin features.</a:t>
            </a:r>
          </a:p>
        </p:txBody>
      </p:sp>
      <p:grpSp>
        <p:nvGrpSpPr>
          <p:cNvPr name="Group 24" id="24"/>
          <p:cNvGrpSpPr/>
          <p:nvPr/>
        </p:nvGrpSpPr>
        <p:grpSpPr>
          <a:xfrm rot="0">
            <a:off x="1363845" y="5018750"/>
            <a:ext cx="15895455" cy="1038017"/>
            <a:chOff x="0" y="0"/>
            <a:chExt cx="4186457" cy="273387"/>
          </a:xfrm>
        </p:grpSpPr>
        <p:sp>
          <p:nvSpPr>
            <p:cNvPr name="Freeform 25" id="25"/>
            <p:cNvSpPr/>
            <p:nvPr/>
          </p:nvSpPr>
          <p:spPr>
            <a:xfrm flipH="false" flipV="false" rot="0">
              <a:off x="0" y="0"/>
              <a:ext cx="4186457" cy="273387"/>
            </a:xfrm>
            <a:custGeom>
              <a:avLst/>
              <a:gdLst/>
              <a:ahLst/>
              <a:cxnLst/>
              <a:rect r="r" b="b" t="t" l="l"/>
              <a:pathLst>
                <a:path h="273387" w="4186457">
                  <a:moveTo>
                    <a:pt x="20456" y="0"/>
                  </a:moveTo>
                  <a:lnTo>
                    <a:pt x="4166001" y="0"/>
                  </a:lnTo>
                  <a:cubicBezTo>
                    <a:pt x="4171426" y="0"/>
                    <a:pt x="4176630" y="2155"/>
                    <a:pt x="4180466" y="5991"/>
                  </a:cubicBezTo>
                  <a:cubicBezTo>
                    <a:pt x="4184302" y="9828"/>
                    <a:pt x="4186457" y="15031"/>
                    <a:pt x="4186457" y="20456"/>
                  </a:cubicBezTo>
                  <a:lnTo>
                    <a:pt x="4186457" y="252931"/>
                  </a:lnTo>
                  <a:cubicBezTo>
                    <a:pt x="4186457" y="258356"/>
                    <a:pt x="4184302" y="263559"/>
                    <a:pt x="4180466" y="267396"/>
                  </a:cubicBezTo>
                  <a:cubicBezTo>
                    <a:pt x="4176630" y="271232"/>
                    <a:pt x="4171426" y="273387"/>
                    <a:pt x="4166001" y="273387"/>
                  </a:cubicBezTo>
                  <a:lnTo>
                    <a:pt x="20456" y="273387"/>
                  </a:lnTo>
                  <a:cubicBezTo>
                    <a:pt x="9159" y="273387"/>
                    <a:pt x="0" y="264229"/>
                    <a:pt x="0" y="252931"/>
                  </a:cubicBezTo>
                  <a:lnTo>
                    <a:pt x="0" y="20456"/>
                  </a:lnTo>
                  <a:cubicBezTo>
                    <a:pt x="0" y="15031"/>
                    <a:pt x="2155" y="9828"/>
                    <a:pt x="5991" y="5991"/>
                  </a:cubicBezTo>
                  <a:cubicBezTo>
                    <a:pt x="9828" y="2155"/>
                    <a:pt x="15031" y="0"/>
                    <a:pt x="20456" y="0"/>
                  </a:cubicBezTo>
                  <a:close/>
                </a:path>
              </a:pathLst>
            </a:custGeom>
            <a:gradFill rotWithShape="true">
              <a:gsLst>
                <a:gs pos="0">
                  <a:srgbClr val="000F9B">
                    <a:alpha val="100000"/>
                  </a:srgbClr>
                </a:gs>
                <a:gs pos="50000">
                  <a:srgbClr val="EB0000">
                    <a:alpha val="100000"/>
                  </a:srgbClr>
                </a:gs>
                <a:gs pos="100000">
                  <a:srgbClr val="A000EB">
                    <a:alpha val="100000"/>
                  </a:srgbClr>
                </a:gs>
              </a:gsLst>
              <a:path path="circle">
                <a:fillToRect l="0" r="100000" t="0" b="100000"/>
              </a:path>
              <a:tileRect r="0" l="-100000" b="0" t="-100000"/>
            </a:gradFill>
          </p:spPr>
        </p:sp>
        <p:sp>
          <p:nvSpPr>
            <p:cNvPr name="TextBox 26" id="26"/>
            <p:cNvSpPr txBox="true"/>
            <p:nvPr/>
          </p:nvSpPr>
          <p:spPr>
            <a:xfrm>
              <a:off x="0" y="-66675"/>
              <a:ext cx="4186457" cy="340062"/>
            </a:xfrm>
            <a:prstGeom prst="rect">
              <a:avLst/>
            </a:prstGeom>
          </p:spPr>
          <p:txBody>
            <a:bodyPr anchor="ctr" rtlCol="false" tIns="50800" lIns="50800" bIns="50800" rIns="50800"/>
            <a:lstStyle/>
            <a:p>
              <a:pPr algn="ctr">
                <a:lnSpc>
                  <a:spcPts val="3151"/>
                </a:lnSpc>
              </a:pPr>
            </a:p>
          </p:txBody>
        </p:sp>
      </p:grpSp>
      <p:grpSp>
        <p:nvGrpSpPr>
          <p:cNvPr name="Group 27" id="27"/>
          <p:cNvGrpSpPr/>
          <p:nvPr/>
        </p:nvGrpSpPr>
        <p:grpSpPr>
          <a:xfrm rot="0">
            <a:off x="1458742" y="7852939"/>
            <a:ext cx="15705662" cy="888207"/>
            <a:chOff x="0" y="0"/>
            <a:chExt cx="4136471" cy="233931"/>
          </a:xfrm>
        </p:grpSpPr>
        <p:sp>
          <p:nvSpPr>
            <p:cNvPr name="Freeform 28" id="28"/>
            <p:cNvSpPr/>
            <p:nvPr/>
          </p:nvSpPr>
          <p:spPr>
            <a:xfrm flipH="false" flipV="false" rot="0">
              <a:off x="0" y="0"/>
              <a:ext cx="4136470" cy="233931"/>
            </a:xfrm>
            <a:custGeom>
              <a:avLst/>
              <a:gdLst/>
              <a:ahLst/>
              <a:cxnLst/>
              <a:rect r="r" b="b" t="t" l="l"/>
              <a:pathLst>
                <a:path h="233931" w="4136470">
                  <a:moveTo>
                    <a:pt x="20703" y="0"/>
                  </a:moveTo>
                  <a:lnTo>
                    <a:pt x="4115767" y="0"/>
                  </a:lnTo>
                  <a:cubicBezTo>
                    <a:pt x="4121258" y="0"/>
                    <a:pt x="4126524" y="2181"/>
                    <a:pt x="4130406" y="6064"/>
                  </a:cubicBezTo>
                  <a:cubicBezTo>
                    <a:pt x="4134289" y="9947"/>
                    <a:pt x="4136470" y="15213"/>
                    <a:pt x="4136470" y="20703"/>
                  </a:cubicBezTo>
                  <a:lnTo>
                    <a:pt x="4136470" y="213228"/>
                  </a:lnTo>
                  <a:cubicBezTo>
                    <a:pt x="4136470" y="218719"/>
                    <a:pt x="4134289" y="223985"/>
                    <a:pt x="4130406" y="227867"/>
                  </a:cubicBezTo>
                  <a:cubicBezTo>
                    <a:pt x="4126524" y="231750"/>
                    <a:pt x="4121258" y="233931"/>
                    <a:pt x="4115767" y="233931"/>
                  </a:cubicBezTo>
                  <a:lnTo>
                    <a:pt x="20703" y="233931"/>
                  </a:lnTo>
                  <a:cubicBezTo>
                    <a:pt x="9269" y="233931"/>
                    <a:pt x="0" y="224662"/>
                    <a:pt x="0" y="213228"/>
                  </a:cubicBezTo>
                  <a:lnTo>
                    <a:pt x="0" y="20703"/>
                  </a:lnTo>
                  <a:cubicBezTo>
                    <a:pt x="0" y="15213"/>
                    <a:pt x="2181" y="9947"/>
                    <a:pt x="6064" y="6064"/>
                  </a:cubicBezTo>
                  <a:cubicBezTo>
                    <a:pt x="9947" y="2181"/>
                    <a:pt x="15213" y="0"/>
                    <a:pt x="20703" y="0"/>
                  </a:cubicBezTo>
                  <a:close/>
                </a:path>
              </a:pathLst>
            </a:custGeom>
            <a:gradFill rotWithShape="true">
              <a:gsLst>
                <a:gs pos="0">
                  <a:srgbClr val="000F9B">
                    <a:alpha val="100000"/>
                  </a:srgbClr>
                </a:gs>
                <a:gs pos="50000">
                  <a:srgbClr val="EB0000">
                    <a:alpha val="100000"/>
                  </a:srgbClr>
                </a:gs>
                <a:gs pos="100000">
                  <a:srgbClr val="A000EB">
                    <a:alpha val="100000"/>
                  </a:srgbClr>
                </a:gs>
              </a:gsLst>
              <a:path path="circle">
                <a:fillToRect l="0" r="100000" t="0" b="100000"/>
              </a:path>
              <a:tileRect r="0" l="-100000" b="0" t="-100000"/>
            </a:gradFill>
          </p:spPr>
        </p:sp>
        <p:sp>
          <p:nvSpPr>
            <p:cNvPr name="TextBox 29" id="29"/>
            <p:cNvSpPr txBox="true"/>
            <p:nvPr/>
          </p:nvSpPr>
          <p:spPr>
            <a:xfrm>
              <a:off x="0" y="-66675"/>
              <a:ext cx="4136471" cy="300606"/>
            </a:xfrm>
            <a:prstGeom prst="rect">
              <a:avLst/>
            </a:prstGeom>
          </p:spPr>
          <p:txBody>
            <a:bodyPr anchor="ctr" rtlCol="false" tIns="50800" lIns="50800" bIns="50800" rIns="50800"/>
            <a:lstStyle/>
            <a:p>
              <a:pPr algn="ctr">
                <a:lnSpc>
                  <a:spcPts val="3151"/>
                </a:lnSpc>
              </a:pPr>
            </a:p>
          </p:txBody>
        </p:sp>
      </p:grpSp>
      <p:sp>
        <p:nvSpPr>
          <p:cNvPr name="TextBox 30" id="30"/>
          <p:cNvSpPr txBox="true"/>
          <p:nvPr/>
        </p:nvSpPr>
        <p:spPr>
          <a:xfrm rot="0">
            <a:off x="803986" y="5227578"/>
            <a:ext cx="15646216" cy="534636"/>
          </a:xfrm>
          <a:prstGeom prst="rect">
            <a:avLst/>
          </a:prstGeom>
        </p:spPr>
        <p:txBody>
          <a:bodyPr anchor="t" rtlCol="false" tIns="0" lIns="0" bIns="0" rIns="0">
            <a:spAutoFit/>
          </a:bodyPr>
          <a:lstStyle/>
          <a:p>
            <a:pPr algn="ctr">
              <a:lnSpc>
                <a:spcPts val="4131"/>
              </a:lnSpc>
              <a:spcBef>
                <a:spcPct val="0"/>
              </a:spcBef>
            </a:pPr>
            <a:r>
              <a:rPr lang="en-US" sz="2951">
                <a:solidFill>
                  <a:srgbClr val="FFFFFF"/>
                </a:solidFill>
                <a:latin typeface="Poppins"/>
                <a:ea typeface="Poppins"/>
                <a:cs typeface="Poppins"/>
                <a:sym typeface="Poppins"/>
              </a:rPr>
              <a:t>Excluded missing key IDs, imputed minor numeric gaps with medians.</a:t>
            </a:r>
          </a:p>
        </p:txBody>
      </p:sp>
      <p:sp>
        <p:nvSpPr>
          <p:cNvPr name="TextBox 31" id="31"/>
          <p:cNvSpPr txBox="true"/>
          <p:nvPr/>
        </p:nvSpPr>
        <p:spPr>
          <a:xfrm rot="0">
            <a:off x="1028700" y="7986289"/>
            <a:ext cx="15705662" cy="534636"/>
          </a:xfrm>
          <a:prstGeom prst="rect">
            <a:avLst/>
          </a:prstGeom>
        </p:spPr>
        <p:txBody>
          <a:bodyPr anchor="t" rtlCol="false" tIns="0" lIns="0" bIns="0" rIns="0">
            <a:spAutoFit/>
          </a:bodyPr>
          <a:lstStyle/>
          <a:p>
            <a:pPr algn="ctr">
              <a:lnSpc>
                <a:spcPts val="4131"/>
              </a:lnSpc>
              <a:spcBef>
                <a:spcPct val="0"/>
              </a:spcBef>
            </a:pPr>
            <a:r>
              <a:rPr lang="en-US" sz="2951">
                <a:solidFill>
                  <a:srgbClr val="FFFFFF"/>
                </a:solidFill>
                <a:latin typeface="Poppins"/>
                <a:ea typeface="Poppins"/>
                <a:cs typeface="Poppins"/>
                <a:sym typeface="Poppins"/>
              </a:rPr>
              <a:t>Performed stratified random sampling for balanced exploratory testing.</a:t>
            </a:r>
          </a:p>
        </p:txBody>
      </p:sp>
    </p:spTree>
  </p:cSld>
  <p:clrMapOvr>
    <a:masterClrMapping/>
  </p:clrMapOvr>
  <p:transition spd="slow">
    <p:push dir="l"/>
  </p:transition>
</p:sld>
</file>

<file path=ppt/slides/slide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9033D">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grpSp>
        <p:nvGrpSpPr>
          <p:cNvPr name="Group 2" id="2"/>
          <p:cNvGrpSpPr/>
          <p:nvPr/>
        </p:nvGrpSpPr>
        <p:grpSpPr>
          <a:xfrm rot="0">
            <a:off x="545054" y="1894724"/>
            <a:ext cx="8953381" cy="1477143"/>
            <a:chOff x="0" y="0"/>
            <a:chExt cx="2358092" cy="389042"/>
          </a:xfrm>
        </p:grpSpPr>
        <p:sp>
          <p:nvSpPr>
            <p:cNvPr name="Freeform 3" id="3"/>
            <p:cNvSpPr/>
            <p:nvPr/>
          </p:nvSpPr>
          <p:spPr>
            <a:xfrm flipH="false" flipV="false" rot="0">
              <a:off x="0" y="0"/>
              <a:ext cx="2358092" cy="389042"/>
            </a:xfrm>
            <a:custGeom>
              <a:avLst/>
              <a:gdLst/>
              <a:ahLst/>
              <a:cxnLst/>
              <a:rect r="r" b="b" t="t" l="l"/>
              <a:pathLst>
                <a:path h="389042" w="2358092">
                  <a:moveTo>
                    <a:pt x="48423" y="0"/>
                  </a:moveTo>
                  <a:lnTo>
                    <a:pt x="2309669" y="0"/>
                  </a:lnTo>
                  <a:cubicBezTo>
                    <a:pt x="2322512" y="0"/>
                    <a:pt x="2334828" y="5102"/>
                    <a:pt x="2343909" y="14183"/>
                  </a:cubicBezTo>
                  <a:cubicBezTo>
                    <a:pt x="2352990" y="23264"/>
                    <a:pt x="2358092" y="35580"/>
                    <a:pt x="2358092" y="48423"/>
                  </a:cubicBezTo>
                  <a:lnTo>
                    <a:pt x="2358092" y="340619"/>
                  </a:lnTo>
                  <a:cubicBezTo>
                    <a:pt x="2358092" y="353462"/>
                    <a:pt x="2352990" y="365778"/>
                    <a:pt x="2343909" y="374859"/>
                  </a:cubicBezTo>
                  <a:cubicBezTo>
                    <a:pt x="2334828" y="383940"/>
                    <a:pt x="2322512" y="389042"/>
                    <a:pt x="2309669" y="389042"/>
                  </a:cubicBezTo>
                  <a:lnTo>
                    <a:pt x="48423" y="389042"/>
                  </a:lnTo>
                  <a:cubicBezTo>
                    <a:pt x="35580" y="389042"/>
                    <a:pt x="23264" y="383940"/>
                    <a:pt x="14183" y="374859"/>
                  </a:cubicBezTo>
                  <a:cubicBezTo>
                    <a:pt x="5102" y="365778"/>
                    <a:pt x="0" y="353462"/>
                    <a:pt x="0" y="340619"/>
                  </a:cubicBezTo>
                  <a:lnTo>
                    <a:pt x="0" y="48423"/>
                  </a:lnTo>
                  <a:cubicBezTo>
                    <a:pt x="0" y="35580"/>
                    <a:pt x="5102" y="23264"/>
                    <a:pt x="14183" y="14183"/>
                  </a:cubicBezTo>
                  <a:cubicBezTo>
                    <a:pt x="23264" y="5102"/>
                    <a:pt x="35580" y="0"/>
                    <a:pt x="48423" y="0"/>
                  </a:cubicBezTo>
                  <a:close/>
                </a:path>
              </a:pathLst>
            </a:custGeom>
            <a:gradFill rotWithShape="true">
              <a:gsLst>
                <a:gs pos="0">
                  <a:srgbClr val="000000">
                    <a:alpha val="78000"/>
                  </a:srgbClr>
                </a:gs>
                <a:gs pos="100000">
                  <a:srgbClr val="DDDDDD">
                    <a:alpha val="14820"/>
                  </a:srgbClr>
                </a:gs>
              </a:gsLst>
              <a:lin ang="2700000"/>
            </a:gradFill>
          </p:spPr>
        </p:sp>
        <p:sp>
          <p:nvSpPr>
            <p:cNvPr name="TextBox 4" id="4"/>
            <p:cNvSpPr txBox="true"/>
            <p:nvPr/>
          </p:nvSpPr>
          <p:spPr>
            <a:xfrm>
              <a:off x="0" y="-66675"/>
              <a:ext cx="2358092" cy="455717"/>
            </a:xfrm>
            <a:prstGeom prst="rect">
              <a:avLst/>
            </a:prstGeom>
          </p:spPr>
          <p:txBody>
            <a:bodyPr anchor="ctr" rtlCol="false" tIns="50800" lIns="50800" bIns="50800" rIns="50800"/>
            <a:lstStyle/>
            <a:p>
              <a:pPr algn="ctr">
                <a:lnSpc>
                  <a:spcPts val="3151"/>
                </a:lnSpc>
              </a:pPr>
            </a:p>
          </p:txBody>
        </p:sp>
      </p:grpSp>
      <p:grpSp>
        <p:nvGrpSpPr>
          <p:cNvPr name="Group 5" id="5"/>
          <p:cNvGrpSpPr/>
          <p:nvPr/>
        </p:nvGrpSpPr>
        <p:grpSpPr>
          <a:xfrm rot="0">
            <a:off x="803986" y="3835909"/>
            <a:ext cx="16884996" cy="4942484"/>
            <a:chOff x="0" y="0"/>
            <a:chExt cx="4447077" cy="1301724"/>
          </a:xfrm>
        </p:grpSpPr>
        <p:sp>
          <p:nvSpPr>
            <p:cNvPr name="Freeform 6" id="6"/>
            <p:cNvSpPr/>
            <p:nvPr/>
          </p:nvSpPr>
          <p:spPr>
            <a:xfrm flipH="false" flipV="false" rot="0">
              <a:off x="0" y="0"/>
              <a:ext cx="4447077" cy="1301724"/>
            </a:xfrm>
            <a:custGeom>
              <a:avLst/>
              <a:gdLst/>
              <a:ahLst/>
              <a:cxnLst/>
              <a:rect r="r" b="b" t="t" l="l"/>
              <a:pathLst>
                <a:path h="1301724" w="4447077">
                  <a:moveTo>
                    <a:pt x="25676" y="0"/>
                  </a:moveTo>
                  <a:lnTo>
                    <a:pt x="4421401" y="0"/>
                  </a:lnTo>
                  <a:cubicBezTo>
                    <a:pt x="4435581" y="0"/>
                    <a:pt x="4447077" y="11496"/>
                    <a:pt x="4447077" y="25676"/>
                  </a:cubicBezTo>
                  <a:lnTo>
                    <a:pt x="4447077" y="1276048"/>
                  </a:lnTo>
                  <a:cubicBezTo>
                    <a:pt x="4447077" y="1290228"/>
                    <a:pt x="4435581" y="1301724"/>
                    <a:pt x="4421401" y="1301724"/>
                  </a:cubicBezTo>
                  <a:lnTo>
                    <a:pt x="25676" y="1301724"/>
                  </a:lnTo>
                  <a:cubicBezTo>
                    <a:pt x="18867" y="1301724"/>
                    <a:pt x="12336" y="1299019"/>
                    <a:pt x="7520" y="1294204"/>
                  </a:cubicBezTo>
                  <a:cubicBezTo>
                    <a:pt x="2705" y="1289388"/>
                    <a:pt x="0" y="1282857"/>
                    <a:pt x="0" y="1276048"/>
                  </a:cubicBezTo>
                  <a:lnTo>
                    <a:pt x="0" y="25676"/>
                  </a:lnTo>
                  <a:cubicBezTo>
                    <a:pt x="0" y="11496"/>
                    <a:pt x="11496" y="0"/>
                    <a:pt x="25676" y="0"/>
                  </a:cubicBezTo>
                  <a:close/>
                </a:path>
              </a:pathLst>
            </a:custGeom>
            <a:solidFill>
              <a:srgbClr val="000000">
                <a:alpha val="0"/>
              </a:srgbClr>
            </a:solidFill>
            <a:ln w="28575" cap="rnd">
              <a:solidFill>
                <a:srgbClr val="FFFFFF"/>
              </a:solidFill>
              <a:prstDash val="solid"/>
              <a:round/>
            </a:ln>
          </p:spPr>
        </p:sp>
        <p:sp>
          <p:nvSpPr>
            <p:cNvPr name="TextBox 7" id="7"/>
            <p:cNvSpPr txBox="true"/>
            <p:nvPr/>
          </p:nvSpPr>
          <p:spPr>
            <a:xfrm>
              <a:off x="0" y="-66675"/>
              <a:ext cx="4447077" cy="1368399"/>
            </a:xfrm>
            <a:prstGeom prst="rect">
              <a:avLst/>
            </a:prstGeom>
          </p:spPr>
          <p:txBody>
            <a:bodyPr anchor="ctr" rtlCol="false" tIns="50800" lIns="50800" bIns="50800" rIns="50800"/>
            <a:lstStyle/>
            <a:p>
              <a:pPr algn="ctr">
                <a:lnSpc>
                  <a:spcPts val="3151"/>
                </a:lnSpc>
              </a:pPr>
            </a:p>
          </p:txBody>
        </p:sp>
      </p:grpSp>
      <p:grpSp>
        <p:nvGrpSpPr>
          <p:cNvPr name="Group 8" id="8"/>
          <p:cNvGrpSpPr/>
          <p:nvPr/>
        </p:nvGrpSpPr>
        <p:grpSpPr>
          <a:xfrm rot="0">
            <a:off x="6080590" y="4362467"/>
            <a:ext cx="11178710" cy="1258995"/>
            <a:chOff x="0" y="0"/>
            <a:chExt cx="2944187" cy="331587"/>
          </a:xfrm>
        </p:grpSpPr>
        <p:sp>
          <p:nvSpPr>
            <p:cNvPr name="Freeform 9" id="9"/>
            <p:cNvSpPr/>
            <p:nvPr/>
          </p:nvSpPr>
          <p:spPr>
            <a:xfrm flipH="false" flipV="false" rot="0">
              <a:off x="0" y="0"/>
              <a:ext cx="2944187" cy="331587"/>
            </a:xfrm>
            <a:custGeom>
              <a:avLst/>
              <a:gdLst/>
              <a:ahLst/>
              <a:cxnLst/>
              <a:rect r="r" b="b" t="t" l="l"/>
              <a:pathLst>
                <a:path h="331587" w="2944187">
                  <a:moveTo>
                    <a:pt x="29087" y="0"/>
                  </a:moveTo>
                  <a:lnTo>
                    <a:pt x="2915100" y="0"/>
                  </a:lnTo>
                  <a:cubicBezTo>
                    <a:pt x="2922814" y="0"/>
                    <a:pt x="2930213" y="3065"/>
                    <a:pt x="2935668" y="8520"/>
                  </a:cubicBezTo>
                  <a:cubicBezTo>
                    <a:pt x="2941123" y="13974"/>
                    <a:pt x="2944187" y="21373"/>
                    <a:pt x="2944187" y="29087"/>
                  </a:cubicBezTo>
                  <a:lnTo>
                    <a:pt x="2944187" y="302500"/>
                  </a:lnTo>
                  <a:cubicBezTo>
                    <a:pt x="2944187" y="318564"/>
                    <a:pt x="2931164" y="331587"/>
                    <a:pt x="2915100" y="331587"/>
                  </a:cubicBezTo>
                  <a:lnTo>
                    <a:pt x="29087" y="331587"/>
                  </a:lnTo>
                  <a:cubicBezTo>
                    <a:pt x="21373" y="331587"/>
                    <a:pt x="13974" y="328523"/>
                    <a:pt x="8520" y="323068"/>
                  </a:cubicBezTo>
                  <a:cubicBezTo>
                    <a:pt x="3065" y="317613"/>
                    <a:pt x="0" y="310214"/>
                    <a:pt x="0" y="302500"/>
                  </a:cubicBezTo>
                  <a:lnTo>
                    <a:pt x="0" y="29087"/>
                  </a:lnTo>
                  <a:cubicBezTo>
                    <a:pt x="0" y="21373"/>
                    <a:pt x="3065" y="13974"/>
                    <a:pt x="8520" y="8520"/>
                  </a:cubicBezTo>
                  <a:cubicBezTo>
                    <a:pt x="13974" y="3065"/>
                    <a:pt x="21373" y="0"/>
                    <a:pt x="29087" y="0"/>
                  </a:cubicBezTo>
                  <a:close/>
                </a:path>
              </a:pathLst>
            </a:custGeom>
            <a:gradFill rotWithShape="true">
              <a:gsLst>
                <a:gs pos="0">
                  <a:srgbClr val="000F9B">
                    <a:alpha val="100000"/>
                  </a:srgbClr>
                </a:gs>
                <a:gs pos="50000">
                  <a:srgbClr val="EB0000">
                    <a:alpha val="100000"/>
                  </a:srgbClr>
                </a:gs>
                <a:gs pos="100000">
                  <a:srgbClr val="A000EB">
                    <a:alpha val="100000"/>
                  </a:srgbClr>
                </a:gs>
              </a:gsLst>
              <a:path path="circle">
                <a:fillToRect l="0" r="100000" t="0" b="100000"/>
              </a:path>
              <a:tileRect r="0" l="-100000" b="0" t="-100000"/>
            </a:gradFill>
          </p:spPr>
        </p:sp>
        <p:sp>
          <p:nvSpPr>
            <p:cNvPr name="TextBox 10" id="10"/>
            <p:cNvSpPr txBox="true"/>
            <p:nvPr/>
          </p:nvSpPr>
          <p:spPr>
            <a:xfrm>
              <a:off x="0" y="-66675"/>
              <a:ext cx="2944187" cy="398262"/>
            </a:xfrm>
            <a:prstGeom prst="rect">
              <a:avLst/>
            </a:prstGeom>
          </p:spPr>
          <p:txBody>
            <a:bodyPr anchor="ctr" rtlCol="false" tIns="50800" lIns="50800" bIns="50800" rIns="50800"/>
            <a:lstStyle/>
            <a:p>
              <a:pPr algn="ctr">
                <a:lnSpc>
                  <a:spcPts val="3151"/>
                </a:lnSpc>
              </a:pPr>
            </a:p>
          </p:txBody>
        </p:sp>
      </p:grpSp>
      <p:sp>
        <p:nvSpPr>
          <p:cNvPr name="Freeform 11" id="11"/>
          <p:cNvSpPr/>
          <p:nvPr/>
        </p:nvSpPr>
        <p:spPr>
          <a:xfrm flipH="false" flipV="false" rot="0">
            <a:off x="8318627" y="2220609"/>
            <a:ext cx="825373" cy="825373"/>
          </a:xfrm>
          <a:custGeom>
            <a:avLst/>
            <a:gdLst/>
            <a:ahLst/>
            <a:cxnLst/>
            <a:rect r="r" b="b" t="t" l="l"/>
            <a:pathLst>
              <a:path h="825373" w="825373">
                <a:moveTo>
                  <a:pt x="0" y="0"/>
                </a:moveTo>
                <a:lnTo>
                  <a:pt x="825373" y="0"/>
                </a:lnTo>
                <a:lnTo>
                  <a:pt x="825373" y="825373"/>
                </a:lnTo>
                <a:lnTo>
                  <a:pt x="0" y="8253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803986" y="803986"/>
            <a:ext cx="449429" cy="449429"/>
          </a:xfrm>
          <a:custGeom>
            <a:avLst/>
            <a:gdLst/>
            <a:ahLst/>
            <a:cxnLst/>
            <a:rect r="r" b="b" t="t" l="l"/>
            <a:pathLst>
              <a:path h="449429" w="449429">
                <a:moveTo>
                  <a:pt x="0" y="0"/>
                </a:moveTo>
                <a:lnTo>
                  <a:pt x="449428" y="0"/>
                </a:lnTo>
                <a:lnTo>
                  <a:pt x="449428" y="449428"/>
                </a:lnTo>
                <a:lnTo>
                  <a:pt x="0" y="44942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3" id="13"/>
          <p:cNvSpPr txBox="true"/>
          <p:nvPr/>
        </p:nvSpPr>
        <p:spPr>
          <a:xfrm rot="0">
            <a:off x="9144000" y="841660"/>
            <a:ext cx="1662550" cy="409541"/>
          </a:xfrm>
          <a:prstGeom prst="rect">
            <a:avLst/>
          </a:prstGeom>
        </p:spPr>
        <p:txBody>
          <a:bodyPr anchor="t" rtlCol="false" tIns="0" lIns="0" bIns="0" rIns="0">
            <a:spAutoFit/>
          </a:bodyPr>
          <a:lstStyle/>
          <a:p>
            <a:pPr algn="r" marL="0" indent="0" lvl="0">
              <a:lnSpc>
                <a:spcPts val="3151"/>
              </a:lnSpc>
              <a:spcBef>
                <a:spcPct val="0"/>
              </a:spcBef>
            </a:pPr>
            <a:r>
              <a:rPr lang="en-US" sz="2251">
                <a:solidFill>
                  <a:srgbClr val="FFFFFF"/>
                </a:solidFill>
                <a:latin typeface="Poppins"/>
                <a:ea typeface="Poppins"/>
                <a:cs typeface="Poppins"/>
                <a:sym typeface="Poppins"/>
              </a:rPr>
              <a:t>Home</a:t>
            </a:r>
          </a:p>
        </p:txBody>
      </p:sp>
      <p:sp>
        <p:nvSpPr>
          <p:cNvPr name="TextBox 14" id="14"/>
          <p:cNvSpPr txBox="true"/>
          <p:nvPr/>
        </p:nvSpPr>
        <p:spPr>
          <a:xfrm rot="0">
            <a:off x="11408122" y="843874"/>
            <a:ext cx="1907082" cy="409541"/>
          </a:xfrm>
          <a:prstGeom prst="rect">
            <a:avLst/>
          </a:prstGeom>
        </p:spPr>
        <p:txBody>
          <a:bodyPr anchor="t" rtlCol="false" tIns="0" lIns="0" bIns="0" rIns="0">
            <a:spAutoFit/>
          </a:bodyPr>
          <a:lstStyle/>
          <a:p>
            <a:pPr algn="ctr" marL="0" indent="0" lvl="0">
              <a:lnSpc>
                <a:spcPts val="3151"/>
              </a:lnSpc>
              <a:spcBef>
                <a:spcPct val="0"/>
              </a:spcBef>
            </a:pPr>
            <a:r>
              <a:rPr lang="en-US" sz="2251">
                <a:solidFill>
                  <a:srgbClr val="FFFFFF"/>
                </a:solidFill>
                <a:latin typeface="Poppins"/>
                <a:ea typeface="Poppins"/>
                <a:cs typeface="Poppins"/>
                <a:sym typeface="Poppins"/>
              </a:rPr>
              <a:t>About</a:t>
            </a:r>
          </a:p>
        </p:txBody>
      </p:sp>
      <p:sp>
        <p:nvSpPr>
          <p:cNvPr name="TextBox 15" id="15"/>
          <p:cNvSpPr txBox="true"/>
          <p:nvPr/>
        </p:nvSpPr>
        <p:spPr>
          <a:xfrm rot="0">
            <a:off x="13726729" y="819695"/>
            <a:ext cx="1916881" cy="409541"/>
          </a:xfrm>
          <a:prstGeom prst="rect">
            <a:avLst/>
          </a:prstGeom>
        </p:spPr>
        <p:txBody>
          <a:bodyPr anchor="t" rtlCol="false" tIns="0" lIns="0" bIns="0" rIns="0">
            <a:spAutoFit/>
          </a:bodyPr>
          <a:lstStyle/>
          <a:p>
            <a:pPr algn="ctr" marL="0" indent="0" lvl="0">
              <a:lnSpc>
                <a:spcPts val="3151"/>
              </a:lnSpc>
              <a:spcBef>
                <a:spcPct val="0"/>
              </a:spcBef>
            </a:pPr>
            <a:r>
              <a:rPr lang="en-US" b="true" sz="2251">
                <a:solidFill>
                  <a:srgbClr val="FFFFFF"/>
                </a:solidFill>
                <a:latin typeface="Poppins Bold"/>
                <a:ea typeface="Poppins Bold"/>
                <a:cs typeface="Poppins Bold"/>
                <a:sym typeface="Poppins Bold"/>
              </a:rPr>
              <a:t>Content</a:t>
            </a:r>
          </a:p>
        </p:txBody>
      </p:sp>
      <p:sp>
        <p:nvSpPr>
          <p:cNvPr name="TextBox 16" id="16"/>
          <p:cNvSpPr txBox="true"/>
          <p:nvPr/>
        </p:nvSpPr>
        <p:spPr>
          <a:xfrm rot="0">
            <a:off x="15034325" y="841660"/>
            <a:ext cx="2224975" cy="409541"/>
          </a:xfrm>
          <a:prstGeom prst="rect">
            <a:avLst/>
          </a:prstGeom>
        </p:spPr>
        <p:txBody>
          <a:bodyPr anchor="t" rtlCol="false" tIns="0" lIns="0" bIns="0" rIns="0">
            <a:spAutoFit/>
          </a:bodyPr>
          <a:lstStyle/>
          <a:p>
            <a:pPr algn="r" marL="0" indent="0" lvl="0">
              <a:lnSpc>
                <a:spcPts val="3151"/>
              </a:lnSpc>
              <a:spcBef>
                <a:spcPct val="0"/>
              </a:spcBef>
            </a:pPr>
            <a:r>
              <a:rPr lang="en-US" sz="2251">
                <a:solidFill>
                  <a:srgbClr val="FFFFFF"/>
                </a:solidFill>
                <a:latin typeface="Poppins"/>
                <a:ea typeface="Poppins"/>
                <a:cs typeface="Poppins"/>
                <a:sym typeface="Poppins"/>
              </a:rPr>
              <a:t>Others</a:t>
            </a:r>
          </a:p>
        </p:txBody>
      </p:sp>
      <p:sp>
        <p:nvSpPr>
          <p:cNvPr name="TextBox 17" id="17"/>
          <p:cNvSpPr txBox="true"/>
          <p:nvPr/>
        </p:nvSpPr>
        <p:spPr>
          <a:xfrm rot="0">
            <a:off x="6774104" y="4636809"/>
            <a:ext cx="10425751" cy="567437"/>
          </a:xfrm>
          <a:prstGeom prst="rect">
            <a:avLst/>
          </a:prstGeom>
        </p:spPr>
        <p:txBody>
          <a:bodyPr anchor="t" rtlCol="false" tIns="0" lIns="0" bIns="0" rIns="0">
            <a:spAutoFit/>
          </a:bodyPr>
          <a:lstStyle/>
          <a:p>
            <a:pPr algn="just">
              <a:lnSpc>
                <a:spcPts val="4591"/>
              </a:lnSpc>
            </a:pPr>
            <a:r>
              <a:rPr lang="en-US" sz="2799">
                <a:solidFill>
                  <a:srgbClr val="FFFFFF"/>
                </a:solidFill>
                <a:latin typeface="Poppins"/>
                <a:ea typeface="Poppins"/>
                <a:cs typeface="Poppins"/>
                <a:sym typeface="Poppins"/>
              </a:rPr>
              <a:t>Registry: Age, ID, address, citizenship, risk scoring</a:t>
            </a:r>
          </a:p>
        </p:txBody>
      </p:sp>
      <p:sp>
        <p:nvSpPr>
          <p:cNvPr name="TextBox 18" id="18"/>
          <p:cNvSpPr txBox="true"/>
          <p:nvPr/>
        </p:nvSpPr>
        <p:spPr>
          <a:xfrm rot="0">
            <a:off x="1028700" y="2262891"/>
            <a:ext cx="6979478" cy="778662"/>
          </a:xfrm>
          <a:prstGeom prst="rect">
            <a:avLst/>
          </a:prstGeom>
        </p:spPr>
        <p:txBody>
          <a:bodyPr anchor="t" rtlCol="false" tIns="0" lIns="0" bIns="0" rIns="0">
            <a:spAutoFit/>
          </a:bodyPr>
          <a:lstStyle/>
          <a:p>
            <a:pPr algn="l">
              <a:lnSpc>
                <a:spcPts val="5418"/>
              </a:lnSpc>
            </a:pPr>
            <a:r>
              <a:rPr lang="en-US" sz="5312" spc="-239" b="true">
                <a:solidFill>
                  <a:srgbClr val="FFFFFF"/>
                </a:solidFill>
                <a:latin typeface="Telegraf Bold"/>
                <a:ea typeface="Telegraf Bold"/>
                <a:cs typeface="Telegraf Bold"/>
                <a:sym typeface="Telegraf Bold"/>
              </a:rPr>
              <a:t>Feature engineering</a:t>
            </a:r>
          </a:p>
        </p:txBody>
      </p:sp>
      <p:sp>
        <p:nvSpPr>
          <p:cNvPr name="TextBox 19" id="19"/>
          <p:cNvSpPr txBox="true"/>
          <p:nvPr/>
        </p:nvSpPr>
        <p:spPr>
          <a:xfrm rot="0">
            <a:off x="1363845" y="797199"/>
            <a:ext cx="3551055" cy="445006"/>
          </a:xfrm>
          <a:prstGeom prst="rect">
            <a:avLst/>
          </a:prstGeom>
        </p:spPr>
        <p:txBody>
          <a:bodyPr anchor="t" rtlCol="false" tIns="0" lIns="0" bIns="0" rIns="0">
            <a:spAutoFit/>
          </a:bodyPr>
          <a:lstStyle/>
          <a:p>
            <a:pPr algn="l">
              <a:lnSpc>
                <a:spcPts val="3391"/>
              </a:lnSpc>
              <a:spcBef>
                <a:spcPct val="0"/>
              </a:spcBef>
            </a:pPr>
            <a:r>
              <a:rPr lang="en-US" b="true" sz="2422" spc="-109">
                <a:solidFill>
                  <a:srgbClr val="FFFFFF"/>
                </a:solidFill>
                <a:latin typeface="Telegraf Bold"/>
                <a:ea typeface="Telegraf Bold"/>
                <a:cs typeface="Telegraf Bold"/>
                <a:sym typeface="Telegraf Bold"/>
              </a:rPr>
              <a:t>Forensics Analytics</a:t>
            </a:r>
          </a:p>
        </p:txBody>
      </p:sp>
      <p:grpSp>
        <p:nvGrpSpPr>
          <p:cNvPr name="Group 20" id="20"/>
          <p:cNvGrpSpPr/>
          <p:nvPr/>
        </p:nvGrpSpPr>
        <p:grpSpPr>
          <a:xfrm rot="0">
            <a:off x="1363845" y="6640637"/>
            <a:ext cx="14586912" cy="1687499"/>
            <a:chOff x="0" y="0"/>
            <a:chExt cx="3841820" cy="444444"/>
          </a:xfrm>
        </p:grpSpPr>
        <p:sp>
          <p:nvSpPr>
            <p:cNvPr name="Freeform 21" id="21"/>
            <p:cNvSpPr/>
            <p:nvPr/>
          </p:nvSpPr>
          <p:spPr>
            <a:xfrm flipH="false" flipV="false" rot="0">
              <a:off x="0" y="0"/>
              <a:ext cx="3841821" cy="444444"/>
            </a:xfrm>
            <a:custGeom>
              <a:avLst/>
              <a:gdLst/>
              <a:ahLst/>
              <a:cxnLst/>
              <a:rect r="r" b="b" t="t" l="l"/>
              <a:pathLst>
                <a:path h="444444" w="3841821">
                  <a:moveTo>
                    <a:pt x="22291" y="0"/>
                  </a:moveTo>
                  <a:lnTo>
                    <a:pt x="3819529" y="0"/>
                  </a:lnTo>
                  <a:cubicBezTo>
                    <a:pt x="3825441" y="0"/>
                    <a:pt x="3831111" y="2349"/>
                    <a:pt x="3835291" y="6529"/>
                  </a:cubicBezTo>
                  <a:cubicBezTo>
                    <a:pt x="3839472" y="10709"/>
                    <a:pt x="3841821" y="16379"/>
                    <a:pt x="3841821" y="22291"/>
                  </a:cubicBezTo>
                  <a:lnTo>
                    <a:pt x="3841821" y="422153"/>
                  </a:lnTo>
                  <a:cubicBezTo>
                    <a:pt x="3841821" y="434464"/>
                    <a:pt x="3831841" y="444444"/>
                    <a:pt x="3819529" y="444444"/>
                  </a:cubicBezTo>
                  <a:lnTo>
                    <a:pt x="22291" y="444444"/>
                  </a:lnTo>
                  <a:cubicBezTo>
                    <a:pt x="16379" y="444444"/>
                    <a:pt x="10709" y="442096"/>
                    <a:pt x="6529" y="437915"/>
                  </a:cubicBezTo>
                  <a:cubicBezTo>
                    <a:pt x="2349" y="433735"/>
                    <a:pt x="0" y="428065"/>
                    <a:pt x="0" y="422153"/>
                  </a:cubicBezTo>
                  <a:lnTo>
                    <a:pt x="0" y="22291"/>
                  </a:lnTo>
                  <a:cubicBezTo>
                    <a:pt x="0" y="16379"/>
                    <a:pt x="2349" y="10709"/>
                    <a:pt x="6529" y="6529"/>
                  </a:cubicBezTo>
                  <a:cubicBezTo>
                    <a:pt x="10709" y="2349"/>
                    <a:pt x="16379" y="0"/>
                    <a:pt x="22291" y="0"/>
                  </a:cubicBezTo>
                  <a:close/>
                </a:path>
              </a:pathLst>
            </a:custGeom>
            <a:gradFill rotWithShape="true">
              <a:gsLst>
                <a:gs pos="0">
                  <a:srgbClr val="000F9B">
                    <a:alpha val="100000"/>
                  </a:srgbClr>
                </a:gs>
                <a:gs pos="50000">
                  <a:srgbClr val="EB0000">
                    <a:alpha val="100000"/>
                  </a:srgbClr>
                </a:gs>
                <a:gs pos="100000">
                  <a:srgbClr val="A000EB">
                    <a:alpha val="100000"/>
                  </a:srgbClr>
                </a:gs>
              </a:gsLst>
              <a:path path="circle">
                <a:fillToRect l="0" r="100000" t="0" b="100000"/>
              </a:path>
              <a:tileRect r="0" l="-100000" b="0" t="-100000"/>
            </a:gradFill>
          </p:spPr>
        </p:sp>
        <p:sp>
          <p:nvSpPr>
            <p:cNvPr name="TextBox 22" id="22"/>
            <p:cNvSpPr txBox="true"/>
            <p:nvPr/>
          </p:nvSpPr>
          <p:spPr>
            <a:xfrm>
              <a:off x="0" y="-66675"/>
              <a:ext cx="3841820" cy="511119"/>
            </a:xfrm>
            <a:prstGeom prst="rect">
              <a:avLst/>
            </a:prstGeom>
          </p:spPr>
          <p:txBody>
            <a:bodyPr anchor="ctr" rtlCol="false" tIns="50800" lIns="50800" bIns="50800" rIns="50800"/>
            <a:lstStyle/>
            <a:p>
              <a:pPr algn="ctr">
                <a:lnSpc>
                  <a:spcPts val="3151"/>
                </a:lnSpc>
              </a:pPr>
            </a:p>
          </p:txBody>
        </p:sp>
      </p:grpSp>
      <p:sp>
        <p:nvSpPr>
          <p:cNvPr name="TextBox 23" id="23"/>
          <p:cNvSpPr txBox="true"/>
          <p:nvPr/>
        </p:nvSpPr>
        <p:spPr>
          <a:xfrm rot="0">
            <a:off x="1719372" y="6871620"/>
            <a:ext cx="13489147" cy="1098423"/>
          </a:xfrm>
          <a:prstGeom prst="rect">
            <a:avLst/>
          </a:prstGeom>
        </p:spPr>
        <p:txBody>
          <a:bodyPr anchor="t" rtlCol="false" tIns="0" lIns="0" bIns="0" rIns="0">
            <a:spAutoFit/>
          </a:bodyPr>
          <a:lstStyle/>
          <a:p>
            <a:pPr algn="just">
              <a:lnSpc>
                <a:spcPts val="4445"/>
              </a:lnSpc>
            </a:pPr>
            <a:r>
              <a:rPr lang="en-US" sz="2599">
                <a:solidFill>
                  <a:srgbClr val="FFFFFF"/>
                </a:solidFill>
                <a:latin typeface="Poppins"/>
                <a:ea typeface="Poppins"/>
                <a:cs typeface="Poppins"/>
                <a:sym typeface="Poppins"/>
              </a:rPr>
              <a:t>Tweets: Sentiment (VADER/TextBlob), bot probability (Botometer-like features), hashtag frequency, rumor propagation speed, user influence score.</a:t>
            </a:r>
          </a:p>
        </p:txBody>
      </p:sp>
    </p:spTree>
  </p:cSld>
  <p:clrMapOvr>
    <a:masterClrMapping/>
  </p:clrMapOvr>
  <p:transition spd="slow">
    <p:push dir="l"/>
  </p:transition>
</p:sld>
</file>

<file path=ppt/slides/slide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9033D">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grpSp>
        <p:nvGrpSpPr>
          <p:cNvPr name="Group 2" id="2"/>
          <p:cNvGrpSpPr/>
          <p:nvPr/>
        </p:nvGrpSpPr>
        <p:grpSpPr>
          <a:xfrm rot="0">
            <a:off x="545054" y="1894724"/>
            <a:ext cx="8598946" cy="1477143"/>
            <a:chOff x="0" y="0"/>
            <a:chExt cx="2264743" cy="389042"/>
          </a:xfrm>
        </p:grpSpPr>
        <p:sp>
          <p:nvSpPr>
            <p:cNvPr name="Freeform 3" id="3"/>
            <p:cNvSpPr/>
            <p:nvPr/>
          </p:nvSpPr>
          <p:spPr>
            <a:xfrm flipH="false" flipV="false" rot="0">
              <a:off x="0" y="0"/>
              <a:ext cx="2264743" cy="389042"/>
            </a:xfrm>
            <a:custGeom>
              <a:avLst/>
              <a:gdLst/>
              <a:ahLst/>
              <a:cxnLst/>
              <a:rect r="r" b="b" t="t" l="l"/>
              <a:pathLst>
                <a:path h="389042" w="2264743">
                  <a:moveTo>
                    <a:pt x="50419" y="0"/>
                  </a:moveTo>
                  <a:lnTo>
                    <a:pt x="2214324" y="0"/>
                  </a:lnTo>
                  <a:cubicBezTo>
                    <a:pt x="2227696" y="0"/>
                    <a:pt x="2240520" y="5312"/>
                    <a:pt x="2249976" y="14767"/>
                  </a:cubicBezTo>
                  <a:cubicBezTo>
                    <a:pt x="2259431" y="24223"/>
                    <a:pt x="2264743" y="37047"/>
                    <a:pt x="2264743" y="50419"/>
                  </a:cubicBezTo>
                  <a:lnTo>
                    <a:pt x="2264743" y="338623"/>
                  </a:lnTo>
                  <a:cubicBezTo>
                    <a:pt x="2264743" y="351995"/>
                    <a:pt x="2259431" y="364819"/>
                    <a:pt x="2249976" y="374275"/>
                  </a:cubicBezTo>
                  <a:cubicBezTo>
                    <a:pt x="2240520" y="383730"/>
                    <a:pt x="2227696" y="389042"/>
                    <a:pt x="2214324" y="389042"/>
                  </a:cubicBezTo>
                  <a:lnTo>
                    <a:pt x="50419" y="389042"/>
                  </a:lnTo>
                  <a:cubicBezTo>
                    <a:pt x="37047" y="389042"/>
                    <a:pt x="24223" y="383730"/>
                    <a:pt x="14767" y="374275"/>
                  </a:cubicBezTo>
                  <a:cubicBezTo>
                    <a:pt x="5312" y="364819"/>
                    <a:pt x="0" y="351995"/>
                    <a:pt x="0" y="338623"/>
                  </a:cubicBezTo>
                  <a:lnTo>
                    <a:pt x="0" y="50419"/>
                  </a:lnTo>
                  <a:cubicBezTo>
                    <a:pt x="0" y="37047"/>
                    <a:pt x="5312" y="24223"/>
                    <a:pt x="14767" y="14767"/>
                  </a:cubicBezTo>
                  <a:cubicBezTo>
                    <a:pt x="24223" y="5312"/>
                    <a:pt x="37047" y="0"/>
                    <a:pt x="50419" y="0"/>
                  </a:cubicBezTo>
                  <a:close/>
                </a:path>
              </a:pathLst>
            </a:custGeom>
            <a:gradFill rotWithShape="true">
              <a:gsLst>
                <a:gs pos="0">
                  <a:srgbClr val="000000">
                    <a:alpha val="78000"/>
                  </a:srgbClr>
                </a:gs>
                <a:gs pos="100000">
                  <a:srgbClr val="DDDDDD">
                    <a:alpha val="14820"/>
                  </a:srgbClr>
                </a:gs>
              </a:gsLst>
              <a:lin ang="2700000"/>
            </a:gradFill>
          </p:spPr>
        </p:sp>
        <p:sp>
          <p:nvSpPr>
            <p:cNvPr name="TextBox 4" id="4"/>
            <p:cNvSpPr txBox="true"/>
            <p:nvPr/>
          </p:nvSpPr>
          <p:spPr>
            <a:xfrm>
              <a:off x="0" y="-66675"/>
              <a:ext cx="2264743" cy="455717"/>
            </a:xfrm>
            <a:prstGeom prst="rect">
              <a:avLst/>
            </a:prstGeom>
          </p:spPr>
          <p:txBody>
            <a:bodyPr anchor="ctr" rtlCol="false" tIns="50800" lIns="50800" bIns="50800" rIns="50800"/>
            <a:lstStyle/>
            <a:p>
              <a:pPr algn="ctr">
                <a:lnSpc>
                  <a:spcPts val="3151"/>
                </a:lnSpc>
              </a:pPr>
            </a:p>
          </p:txBody>
        </p:sp>
      </p:grpSp>
      <p:grpSp>
        <p:nvGrpSpPr>
          <p:cNvPr name="Group 5" id="5"/>
          <p:cNvGrpSpPr/>
          <p:nvPr/>
        </p:nvGrpSpPr>
        <p:grpSpPr>
          <a:xfrm rot="0">
            <a:off x="803986" y="3808287"/>
            <a:ext cx="16884996" cy="5633040"/>
            <a:chOff x="0" y="0"/>
            <a:chExt cx="4447077" cy="1483599"/>
          </a:xfrm>
        </p:grpSpPr>
        <p:sp>
          <p:nvSpPr>
            <p:cNvPr name="Freeform 6" id="6"/>
            <p:cNvSpPr/>
            <p:nvPr/>
          </p:nvSpPr>
          <p:spPr>
            <a:xfrm flipH="false" flipV="false" rot="0">
              <a:off x="0" y="0"/>
              <a:ext cx="4447077" cy="1483599"/>
            </a:xfrm>
            <a:custGeom>
              <a:avLst/>
              <a:gdLst/>
              <a:ahLst/>
              <a:cxnLst/>
              <a:rect r="r" b="b" t="t" l="l"/>
              <a:pathLst>
                <a:path h="1483599" w="4447077">
                  <a:moveTo>
                    <a:pt x="25676" y="0"/>
                  </a:moveTo>
                  <a:lnTo>
                    <a:pt x="4421401" y="0"/>
                  </a:lnTo>
                  <a:cubicBezTo>
                    <a:pt x="4435581" y="0"/>
                    <a:pt x="4447077" y="11496"/>
                    <a:pt x="4447077" y="25676"/>
                  </a:cubicBezTo>
                  <a:lnTo>
                    <a:pt x="4447077" y="1457922"/>
                  </a:lnTo>
                  <a:cubicBezTo>
                    <a:pt x="4447077" y="1464732"/>
                    <a:pt x="4444372" y="1471263"/>
                    <a:pt x="4439557" y="1476079"/>
                  </a:cubicBezTo>
                  <a:cubicBezTo>
                    <a:pt x="4434741" y="1480894"/>
                    <a:pt x="4428210" y="1483599"/>
                    <a:pt x="4421401" y="1483599"/>
                  </a:cubicBezTo>
                  <a:lnTo>
                    <a:pt x="25676" y="1483599"/>
                  </a:lnTo>
                  <a:cubicBezTo>
                    <a:pt x="11496" y="1483599"/>
                    <a:pt x="0" y="1472103"/>
                    <a:pt x="0" y="1457922"/>
                  </a:cubicBezTo>
                  <a:lnTo>
                    <a:pt x="0" y="25676"/>
                  </a:lnTo>
                  <a:cubicBezTo>
                    <a:pt x="0" y="11496"/>
                    <a:pt x="11496" y="0"/>
                    <a:pt x="25676" y="0"/>
                  </a:cubicBezTo>
                  <a:close/>
                </a:path>
              </a:pathLst>
            </a:custGeom>
            <a:solidFill>
              <a:srgbClr val="000000">
                <a:alpha val="0"/>
              </a:srgbClr>
            </a:solidFill>
            <a:ln w="28575" cap="rnd">
              <a:solidFill>
                <a:srgbClr val="FFFFFF"/>
              </a:solidFill>
              <a:prstDash val="solid"/>
              <a:round/>
            </a:ln>
          </p:spPr>
        </p:sp>
        <p:sp>
          <p:nvSpPr>
            <p:cNvPr name="TextBox 7" id="7"/>
            <p:cNvSpPr txBox="true"/>
            <p:nvPr/>
          </p:nvSpPr>
          <p:spPr>
            <a:xfrm>
              <a:off x="0" y="-66675"/>
              <a:ext cx="4447077" cy="1550274"/>
            </a:xfrm>
            <a:prstGeom prst="rect">
              <a:avLst/>
            </a:prstGeom>
          </p:spPr>
          <p:txBody>
            <a:bodyPr anchor="ctr" rtlCol="false" tIns="50800" lIns="50800" bIns="50800" rIns="50800"/>
            <a:lstStyle/>
            <a:p>
              <a:pPr algn="ctr">
                <a:lnSpc>
                  <a:spcPts val="3151"/>
                </a:lnSpc>
              </a:pPr>
            </a:p>
          </p:txBody>
        </p:sp>
      </p:grpSp>
      <p:grpSp>
        <p:nvGrpSpPr>
          <p:cNvPr name="Group 8" id="8"/>
          <p:cNvGrpSpPr/>
          <p:nvPr/>
        </p:nvGrpSpPr>
        <p:grpSpPr>
          <a:xfrm rot="0">
            <a:off x="1182953" y="4160757"/>
            <a:ext cx="13851372" cy="1809845"/>
            <a:chOff x="0" y="0"/>
            <a:chExt cx="3648098" cy="476667"/>
          </a:xfrm>
        </p:grpSpPr>
        <p:sp>
          <p:nvSpPr>
            <p:cNvPr name="Freeform 9" id="9"/>
            <p:cNvSpPr/>
            <p:nvPr/>
          </p:nvSpPr>
          <p:spPr>
            <a:xfrm flipH="false" flipV="false" rot="0">
              <a:off x="0" y="0"/>
              <a:ext cx="3648098" cy="476667"/>
            </a:xfrm>
            <a:custGeom>
              <a:avLst/>
              <a:gdLst/>
              <a:ahLst/>
              <a:cxnLst/>
              <a:rect r="r" b="b" t="t" l="l"/>
              <a:pathLst>
                <a:path h="476667" w="3648098">
                  <a:moveTo>
                    <a:pt x="23475" y="0"/>
                  </a:moveTo>
                  <a:lnTo>
                    <a:pt x="3624623" y="0"/>
                  </a:lnTo>
                  <a:cubicBezTo>
                    <a:pt x="3630849" y="0"/>
                    <a:pt x="3636820" y="2473"/>
                    <a:pt x="3641222" y="6876"/>
                  </a:cubicBezTo>
                  <a:cubicBezTo>
                    <a:pt x="3645625" y="11278"/>
                    <a:pt x="3648098" y="17249"/>
                    <a:pt x="3648098" y="23475"/>
                  </a:cubicBezTo>
                  <a:lnTo>
                    <a:pt x="3648098" y="453192"/>
                  </a:lnTo>
                  <a:cubicBezTo>
                    <a:pt x="3648098" y="466157"/>
                    <a:pt x="3637588" y="476667"/>
                    <a:pt x="3624623" y="476667"/>
                  </a:cubicBezTo>
                  <a:lnTo>
                    <a:pt x="23475" y="476667"/>
                  </a:lnTo>
                  <a:cubicBezTo>
                    <a:pt x="10510" y="476667"/>
                    <a:pt x="0" y="466157"/>
                    <a:pt x="0" y="453192"/>
                  </a:cubicBezTo>
                  <a:lnTo>
                    <a:pt x="0" y="23475"/>
                  </a:lnTo>
                  <a:cubicBezTo>
                    <a:pt x="0" y="10510"/>
                    <a:pt x="10510" y="0"/>
                    <a:pt x="23475" y="0"/>
                  </a:cubicBezTo>
                  <a:close/>
                </a:path>
              </a:pathLst>
            </a:custGeom>
            <a:gradFill rotWithShape="true">
              <a:gsLst>
                <a:gs pos="0">
                  <a:srgbClr val="000F9B">
                    <a:alpha val="100000"/>
                  </a:srgbClr>
                </a:gs>
                <a:gs pos="50000">
                  <a:srgbClr val="EB0000">
                    <a:alpha val="100000"/>
                  </a:srgbClr>
                </a:gs>
                <a:gs pos="100000">
                  <a:srgbClr val="A000EB">
                    <a:alpha val="100000"/>
                  </a:srgbClr>
                </a:gs>
              </a:gsLst>
              <a:path path="circle">
                <a:fillToRect l="0" r="100000" t="0" b="100000"/>
              </a:path>
              <a:tileRect r="0" l="-100000" b="0" t="-100000"/>
            </a:gradFill>
          </p:spPr>
        </p:sp>
        <p:sp>
          <p:nvSpPr>
            <p:cNvPr name="TextBox 10" id="10"/>
            <p:cNvSpPr txBox="true"/>
            <p:nvPr/>
          </p:nvSpPr>
          <p:spPr>
            <a:xfrm>
              <a:off x="0" y="-66675"/>
              <a:ext cx="3648098" cy="543342"/>
            </a:xfrm>
            <a:prstGeom prst="rect">
              <a:avLst/>
            </a:prstGeom>
          </p:spPr>
          <p:txBody>
            <a:bodyPr anchor="ctr" rtlCol="false" tIns="50800" lIns="50800" bIns="50800" rIns="50800"/>
            <a:lstStyle/>
            <a:p>
              <a:pPr algn="ctr">
                <a:lnSpc>
                  <a:spcPts val="3151"/>
                </a:lnSpc>
              </a:pPr>
            </a:p>
          </p:txBody>
        </p:sp>
      </p:grpSp>
      <p:sp>
        <p:nvSpPr>
          <p:cNvPr name="Freeform 11" id="11"/>
          <p:cNvSpPr/>
          <p:nvPr/>
        </p:nvSpPr>
        <p:spPr>
          <a:xfrm flipH="false" flipV="false" rot="0">
            <a:off x="7614377" y="2234316"/>
            <a:ext cx="825373" cy="825373"/>
          </a:xfrm>
          <a:custGeom>
            <a:avLst/>
            <a:gdLst/>
            <a:ahLst/>
            <a:cxnLst/>
            <a:rect r="r" b="b" t="t" l="l"/>
            <a:pathLst>
              <a:path h="825373" w="825373">
                <a:moveTo>
                  <a:pt x="0" y="0"/>
                </a:moveTo>
                <a:lnTo>
                  <a:pt x="825373" y="0"/>
                </a:lnTo>
                <a:lnTo>
                  <a:pt x="825373" y="825373"/>
                </a:lnTo>
                <a:lnTo>
                  <a:pt x="0" y="8253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803986" y="803986"/>
            <a:ext cx="449429" cy="449429"/>
          </a:xfrm>
          <a:custGeom>
            <a:avLst/>
            <a:gdLst/>
            <a:ahLst/>
            <a:cxnLst/>
            <a:rect r="r" b="b" t="t" l="l"/>
            <a:pathLst>
              <a:path h="449429" w="449429">
                <a:moveTo>
                  <a:pt x="0" y="0"/>
                </a:moveTo>
                <a:lnTo>
                  <a:pt x="449428" y="0"/>
                </a:lnTo>
                <a:lnTo>
                  <a:pt x="449428" y="449428"/>
                </a:lnTo>
                <a:lnTo>
                  <a:pt x="0" y="44942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3" id="13"/>
          <p:cNvSpPr txBox="true"/>
          <p:nvPr/>
        </p:nvSpPr>
        <p:spPr>
          <a:xfrm rot="0">
            <a:off x="9144000" y="841660"/>
            <a:ext cx="1662550" cy="409541"/>
          </a:xfrm>
          <a:prstGeom prst="rect">
            <a:avLst/>
          </a:prstGeom>
        </p:spPr>
        <p:txBody>
          <a:bodyPr anchor="t" rtlCol="false" tIns="0" lIns="0" bIns="0" rIns="0">
            <a:spAutoFit/>
          </a:bodyPr>
          <a:lstStyle/>
          <a:p>
            <a:pPr algn="r" marL="0" indent="0" lvl="0">
              <a:lnSpc>
                <a:spcPts val="3151"/>
              </a:lnSpc>
              <a:spcBef>
                <a:spcPct val="0"/>
              </a:spcBef>
            </a:pPr>
            <a:r>
              <a:rPr lang="en-US" sz="2251">
                <a:solidFill>
                  <a:srgbClr val="FFFFFF"/>
                </a:solidFill>
                <a:latin typeface="Poppins"/>
                <a:ea typeface="Poppins"/>
                <a:cs typeface="Poppins"/>
                <a:sym typeface="Poppins"/>
              </a:rPr>
              <a:t>Home</a:t>
            </a:r>
          </a:p>
        </p:txBody>
      </p:sp>
      <p:sp>
        <p:nvSpPr>
          <p:cNvPr name="TextBox 14" id="14"/>
          <p:cNvSpPr txBox="true"/>
          <p:nvPr/>
        </p:nvSpPr>
        <p:spPr>
          <a:xfrm rot="0">
            <a:off x="11408122" y="843874"/>
            <a:ext cx="1907082" cy="409541"/>
          </a:xfrm>
          <a:prstGeom prst="rect">
            <a:avLst/>
          </a:prstGeom>
        </p:spPr>
        <p:txBody>
          <a:bodyPr anchor="t" rtlCol="false" tIns="0" lIns="0" bIns="0" rIns="0">
            <a:spAutoFit/>
          </a:bodyPr>
          <a:lstStyle/>
          <a:p>
            <a:pPr algn="ctr" marL="0" indent="0" lvl="0">
              <a:lnSpc>
                <a:spcPts val="3151"/>
              </a:lnSpc>
              <a:spcBef>
                <a:spcPct val="0"/>
              </a:spcBef>
            </a:pPr>
            <a:r>
              <a:rPr lang="en-US" sz="2251">
                <a:solidFill>
                  <a:srgbClr val="FFFFFF"/>
                </a:solidFill>
                <a:latin typeface="Poppins"/>
                <a:ea typeface="Poppins"/>
                <a:cs typeface="Poppins"/>
                <a:sym typeface="Poppins"/>
              </a:rPr>
              <a:t>About</a:t>
            </a:r>
          </a:p>
        </p:txBody>
      </p:sp>
      <p:sp>
        <p:nvSpPr>
          <p:cNvPr name="TextBox 15" id="15"/>
          <p:cNvSpPr txBox="true"/>
          <p:nvPr/>
        </p:nvSpPr>
        <p:spPr>
          <a:xfrm rot="0">
            <a:off x="13726729" y="819695"/>
            <a:ext cx="1916881" cy="409541"/>
          </a:xfrm>
          <a:prstGeom prst="rect">
            <a:avLst/>
          </a:prstGeom>
        </p:spPr>
        <p:txBody>
          <a:bodyPr anchor="t" rtlCol="false" tIns="0" lIns="0" bIns="0" rIns="0">
            <a:spAutoFit/>
          </a:bodyPr>
          <a:lstStyle/>
          <a:p>
            <a:pPr algn="ctr" marL="0" indent="0" lvl="0">
              <a:lnSpc>
                <a:spcPts val="3151"/>
              </a:lnSpc>
              <a:spcBef>
                <a:spcPct val="0"/>
              </a:spcBef>
            </a:pPr>
            <a:r>
              <a:rPr lang="en-US" b="true" sz="2251">
                <a:solidFill>
                  <a:srgbClr val="FFFFFF"/>
                </a:solidFill>
                <a:latin typeface="Poppins Bold"/>
                <a:ea typeface="Poppins Bold"/>
                <a:cs typeface="Poppins Bold"/>
                <a:sym typeface="Poppins Bold"/>
              </a:rPr>
              <a:t>Content</a:t>
            </a:r>
          </a:p>
        </p:txBody>
      </p:sp>
      <p:sp>
        <p:nvSpPr>
          <p:cNvPr name="TextBox 16" id="16"/>
          <p:cNvSpPr txBox="true"/>
          <p:nvPr/>
        </p:nvSpPr>
        <p:spPr>
          <a:xfrm rot="0">
            <a:off x="15034325" y="841660"/>
            <a:ext cx="2224975" cy="409541"/>
          </a:xfrm>
          <a:prstGeom prst="rect">
            <a:avLst/>
          </a:prstGeom>
        </p:spPr>
        <p:txBody>
          <a:bodyPr anchor="t" rtlCol="false" tIns="0" lIns="0" bIns="0" rIns="0">
            <a:spAutoFit/>
          </a:bodyPr>
          <a:lstStyle/>
          <a:p>
            <a:pPr algn="r" marL="0" indent="0" lvl="0">
              <a:lnSpc>
                <a:spcPts val="3151"/>
              </a:lnSpc>
              <a:spcBef>
                <a:spcPct val="0"/>
              </a:spcBef>
            </a:pPr>
            <a:r>
              <a:rPr lang="en-US" sz="2251">
                <a:solidFill>
                  <a:srgbClr val="FFFFFF"/>
                </a:solidFill>
                <a:latin typeface="Poppins"/>
                <a:ea typeface="Poppins"/>
                <a:cs typeface="Poppins"/>
                <a:sym typeface="Poppins"/>
              </a:rPr>
              <a:t>Others</a:t>
            </a:r>
          </a:p>
        </p:txBody>
      </p:sp>
      <p:sp>
        <p:nvSpPr>
          <p:cNvPr name="TextBox 17" id="17"/>
          <p:cNvSpPr txBox="true"/>
          <p:nvPr/>
        </p:nvSpPr>
        <p:spPr>
          <a:xfrm rot="0">
            <a:off x="1561229" y="4391436"/>
            <a:ext cx="14082382" cy="1205739"/>
          </a:xfrm>
          <a:prstGeom prst="rect">
            <a:avLst/>
          </a:prstGeom>
        </p:spPr>
        <p:txBody>
          <a:bodyPr anchor="t" rtlCol="false" tIns="0" lIns="0" bIns="0" rIns="0">
            <a:spAutoFit/>
          </a:bodyPr>
          <a:lstStyle/>
          <a:p>
            <a:pPr algn="just">
              <a:lnSpc>
                <a:spcPts val="4815"/>
              </a:lnSpc>
            </a:pPr>
            <a:r>
              <a:rPr lang="en-US" sz="2799" b="true">
                <a:solidFill>
                  <a:srgbClr val="FFFFFF"/>
                </a:solidFill>
                <a:latin typeface="Poppins Bold"/>
                <a:ea typeface="Poppins Bold"/>
                <a:cs typeface="Poppins Bold"/>
                <a:sym typeface="Poppins Bold"/>
              </a:rPr>
              <a:t>Statistical Forensics:</a:t>
            </a:r>
            <a:r>
              <a:rPr lang="en-US" sz="2799">
                <a:solidFill>
                  <a:srgbClr val="FFFFFF"/>
                </a:solidFill>
                <a:latin typeface="Poppins"/>
                <a:ea typeface="Poppins"/>
                <a:cs typeface="Poppins"/>
                <a:sym typeface="Poppins"/>
              </a:rPr>
              <a:t> Benford’s Law, t/chi²/normality tests (voters)</a:t>
            </a:r>
          </a:p>
          <a:p>
            <a:pPr algn="just">
              <a:lnSpc>
                <a:spcPts val="4815"/>
              </a:lnSpc>
            </a:pPr>
            <a:r>
              <a:rPr lang="en-US" sz="2799" b="true">
                <a:solidFill>
                  <a:srgbClr val="FFFFFF"/>
                </a:solidFill>
                <a:latin typeface="Poppins Bold"/>
                <a:ea typeface="Poppins Bold"/>
                <a:cs typeface="Poppins Bold"/>
                <a:sym typeface="Poppins Bold"/>
              </a:rPr>
              <a:t>NLP: </a:t>
            </a:r>
            <a:r>
              <a:rPr lang="en-US" sz="2799">
                <a:solidFill>
                  <a:srgbClr val="FFFFFF"/>
                </a:solidFill>
                <a:latin typeface="Poppins"/>
                <a:ea typeface="Poppins"/>
                <a:cs typeface="Poppins"/>
                <a:sym typeface="Poppins"/>
              </a:rPr>
              <a:t>Sentiment, topic modeling, rumor detection, network graphs (tweets)</a:t>
            </a:r>
          </a:p>
        </p:txBody>
      </p:sp>
      <p:sp>
        <p:nvSpPr>
          <p:cNvPr name="TextBox 18" id="18"/>
          <p:cNvSpPr txBox="true"/>
          <p:nvPr/>
        </p:nvSpPr>
        <p:spPr>
          <a:xfrm rot="0">
            <a:off x="1028700" y="2262891"/>
            <a:ext cx="5066453" cy="778662"/>
          </a:xfrm>
          <a:prstGeom prst="rect">
            <a:avLst/>
          </a:prstGeom>
        </p:spPr>
        <p:txBody>
          <a:bodyPr anchor="t" rtlCol="false" tIns="0" lIns="0" bIns="0" rIns="0">
            <a:spAutoFit/>
          </a:bodyPr>
          <a:lstStyle/>
          <a:p>
            <a:pPr algn="l">
              <a:lnSpc>
                <a:spcPts val="5418"/>
              </a:lnSpc>
            </a:pPr>
            <a:r>
              <a:rPr lang="en-US" sz="5312" spc="-239" b="true">
                <a:solidFill>
                  <a:srgbClr val="FFFFFF"/>
                </a:solidFill>
                <a:latin typeface="Telegraf Bold"/>
                <a:ea typeface="Telegraf Bold"/>
                <a:cs typeface="Telegraf Bold"/>
                <a:sym typeface="Telegraf Bold"/>
              </a:rPr>
              <a:t>Analytical Tools</a:t>
            </a:r>
          </a:p>
        </p:txBody>
      </p:sp>
      <p:sp>
        <p:nvSpPr>
          <p:cNvPr name="TextBox 19" id="19"/>
          <p:cNvSpPr txBox="true"/>
          <p:nvPr/>
        </p:nvSpPr>
        <p:spPr>
          <a:xfrm rot="0">
            <a:off x="1363845" y="768097"/>
            <a:ext cx="3551055" cy="445006"/>
          </a:xfrm>
          <a:prstGeom prst="rect">
            <a:avLst/>
          </a:prstGeom>
        </p:spPr>
        <p:txBody>
          <a:bodyPr anchor="t" rtlCol="false" tIns="0" lIns="0" bIns="0" rIns="0">
            <a:spAutoFit/>
          </a:bodyPr>
          <a:lstStyle/>
          <a:p>
            <a:pPr algn="l">
              <a:lnSpc>
                <a:spcPts val="3391"/>
              </a:lnSpc>
              <a:spcBef>
                <a:spcPct val="0"/>
              </a:spcBef>
            </a:pPr>
            <a:r>
              <a:rPr lang="en-US" b="true" sz="2422" spc="-109">
                <a:solidFill>
                  <a:srgbClr val="FFFFFF"/>
                </a:solidFill>
                <a:latin typeface="Telegraf Bold"/>
                <a:ea typeface="Telegraf Bold"/>
                <a:cs typeface="Telegraf Bold"/>
                <a:sym typeface="Telegraf Bold"/>
              </a:rPr>
              <a:t>Forensics Analytics</a:t>
            </a:r>
          </a:p>
        </p:txBody>
      </p:sp>
      <p:grpSp>
        <p:nvGrpSpPr>
          <p:cNvPr name="Group 20" id="20"/>
          <p:cNvGrpSpPr/>
          <p:nvPr/>
        </p:nvGrpSpPr>
        <p:grpSpPr>
          <a:xfrm rot="0">
            <a:off x="3561927" y="6293340"/>
            <a:ext cx="13697373" cy="2752974"/>
            <a:chOff x="0" y="0"/>
            <a:chExt cx="3607539" cy="725063"/>
          </a:xfrm>
        </p:grpSpPr>
        <p:sp>
          <p:nvSpPr>
            <p:cNvPr name="Freeform 21" id="21"/>
            <p:cNvSpPr/>
            <p:nvPr/>
          </p:nvSpPr>
          <p:spPr>
            <a:xfrm flipH="false" flipV="false" rot="0">
              <a:off x="0" y="0"/>
              <a:ext cx="3607539" cy="725063"/>
            </a:xfrm>
            <a:custGeom>
              <a:avLst/>
              <a:gdLst/>
              <a:ahLst/>
              <a:cxnLst/>
              <a:rect r="r" b="b" t="t" l="l"/>
              <a:pathLst>
                <a:path h="725063" w="3607539">
                  <a:moveTo>
                    <a:pt x="23739" y="0"/>
                  </a:moveTo>
                  <a:lnTo>
                    <a:pt x="3583800" y="0"/>
                  </a:lnTo>
                  <a:cubicBezTo>
                    <a:pt x="3596910" y="0"/>
                    <a:pt x="3607539" y="10628"/>
                    <a:pt x="3607539" y="23739"/>
                  </a:cubicBezTo>
                  <a:lnTo>
                    <a:pt x="3607539" y="701324"/>
                  </a:lnTo>
                  <a:cubicBezTo>
                    <a:pt x="3607539" y="707620"/>
                    <a:pt x="3605038" y="713658"/>
                    <a:pt x="3600586" y="718110"/>
                  </a:cubicBezTo>
                  <a:cubicBezTo>
                    <a:pt x="3596134" y="722562"/>
                    <a:pt x="3590096" y="725063"/>
                    <a:pt x="3583800" y="725063"/>
                  </a:cubicBezTo>
                  <a:lnTo>
                    <a:pt x="23739" y="725063"/>
                  </a:lnTo>
                  <a:cubicBezTo>
                    <a:pt x="17443" y="725063"/>
                    <a:pt x="11405" y="722562"/>
                    <a:pt x="6953" y="718110"/>
                  </a:cubicBezTo>
                  <a:cubicBezTo>
                    <a:pt x="2501" y="713658"/>
                    <a:pt x="0" y="707620"/>
                    <a:pt x="0" y="701324"/>
                  </a:cubicBezTo>
                  <a:lnTo>
                    <a:pt x="0" y="23739"/>
                  </a:lnTo>
                  <a:cubicBezTo>
                    <a:pt x="0" y="17443"/>
                    <a:pt x="2501" y="11405"/>
                    <a:pt x="6953" y="6953"/>
                  </a:cubicBezTo>
                  <a:cubicBezTo>
                    <a:pt x="11405" y="2501"/>
                    <a:pt x="17443" y="0"/>
                    <a:pt x="23739" y="0"/>
                  </a:cubicBezTo>
                  <a:close/>
                </a:path>
              </a:pathLst>
            </a:custGeom>
            <a:gradFill rotWithShape="true">
              <a:gsLst>
                <a:gs pos="0">
                  <a:srgbClr val="000F9B">
                    <a:alpha val="100000"/>
                  </a:srgbClr>
                </a:gs>
                <a:gs pos="50000">
                  <a:srgbClr val="EB0000">
                    <a:alpha val="100000"/>
                  </a:srgbClr>
                </a:gs>
                <a:gs pos="100000">
                  <a:srgbClr val="A000EB">
                    <a:alpha val="100000"/>
                  </a:srgbClr>
                </a:gs>
              </a:gsLst>
              <a:path path="circle">
                <a:fillToRect l="0" r="100000" t="0" b="100000"/>
              </a:path>
              <a:tileRect r="0" l="-100000" b="0" t="-100000"/>
            </a:gradFill>
          </p:spPr>
        </p:sp>
        <p:sp>
          <p:nvSpPr>
            <p:cNvPr name="TextBox 22" id="22"/>
            <p:cNvSpPr txBox="true"/>
            <p:nvPr/>
          </p:nvSpPr>
          <p:spPr>
            <a:xfrm>
              <a:off x="0" y="-66675"/>
              <a:ext cx="3607539" cy="791738"/>
            </a:xfrm>
            <a:prstGeom prst="rect">
              <a:avLst/>
            </a:prstGeom>
          </p:spPr>
          <p:txBody>
            <a:bodyPr anchor="ctr" rtlCol="false" tIns="50800" lIns="50800" bIns="50800" rIns="50800"/>
            <a:lstStyle/>
            <a:p>
              <a:pPr algn="ctr">
                <a:lnSpc>
                  <a:spcPts val="3151"/>
                </a:lnSpc>
              </a:pPr>
            </a:p>
          </p:txBody>
        </p:sp>
      </p:grpSp>
      <p:sp>
        <p:nvSpPr>
          <p:cNvPr name="TextBox 23" id="23"/>
          <p:cNvSpPr txBox="true"/>
          <p:nvPr/>
        </p:nvSpPr>
        <p:spPr>
          <a:xfrm rot="0">
            <a:off x="4071402" y="6446852"/>
            <a:ext cx="12511365" cy="2285365"/>
          </a:xfrm>
          <a:prstGeom prst="rect">
            <a:avLst/>
          </a:prstGeom>
        </p:spPr>
        <p:txBody>
          <a:bodyPr anchor="t" rtlCol="false" tIns="0" lIns="0" bIns="0" rIns="0">
            <a:spAutoFit/>
          </a:bodyPr>
          <a:lstStyle/>
          <a:p>
            <a:pPr algn="just">
              <a:lnSpc>
                <a:spcPts val="4653"/>
              </a:lnSpc>
            </a:pPr>
            <a:r>
              <a:rPr lang="en-US" sz="2599" b="true">
                <a:solidFill>
                  <a:srgbClr val="FFFFFF"/>
                </a:solidFill>
                <a:latin typeface="Poppins Bold"/>
                <a:ea typeface="Poppins Bold"/>
                <a:cs typeface="Poppins Bold"/>
                <a:sym typeface="Poppins Bold"/>
              </a:rPr>
              <a:t>ML:</a:t>
            </a:r>
            <a:r>
              <a:rPr lang="en-US" sz="2599">
                <a:solidFill>
                  <a:srgbClr val="FFFFFF"/>
                </a:solidFill>
                <a:latin typeface="Poppins"/>
                <a:ea typeface="Poppins"/>
                <a:cs typeface="Poppins"/>
                <a:sym typeface="Poppins"/>
              </a:rPr>
              <a:t> Random Forest/GBM (classification of risk), Isolation Forest/DBSCAN (anomaly detection) applied to both datasets</a:t>
            </a:r>
          </a:p>
          <a:p>
            <a:pPr algn="just">
              <a:lnSpc>
                <a:spcPts val="4445"/>
              </a:lnSpc>
            </a:pPr>
            <a:r>
              <a:rPr lang="en-US" sz="2599" b="true">
                <a:solidFill>
                  <a:srgbClr val="FFFFFF"/>
                </a:solidFill>
                <a:latin typeface="Poppins Bold"/>
                <a:ea typeface="Poppins Bold"/>
                <a:cs typeface="Poppins Bold"/>
                <a:sym typeface="Poppins Bold"/>
              </a:rPr>
              <a:t>Fusion:</a:t>
            </a:r>
            <a:r>
              <a:rPr lang="en-US" sz="2599">
                <a:solidFill>
                  <a:srgbClr val="FFFFFF"/>
                </a:solidFill>
                <a:latin typeface="Poppins"/>
                <a:ea typeface="Poppins"/>
                <a:cs typeface="Poppins"/>
                <a:sym typeface="Poppins"/>
              </a:rPr>
              <a:t> Composite risk—highest risk for user-record in either dataset triggers review.</a:t>
            </a:r>
          </a:p>
        </p:txBody>
      </p:sp>
    </p:spTree>
  </p:cSld>
  <p:clrMapOvr>
    <a:masterClrMapping/>
  </p:clrMapOvr>
  <p:transition spd="slow">
    <p:push dir="l"/>
  </p:transition>
</p:sld>
</file>

<file path=ppt/slides/slide1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9033D">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grpSp>
        <p:nvGrpSpPr>
          <p:cNvPr name="Group 2" id="2"/>
          <p:cNvGrpSpPr/>
          <p:nvPr/>
        </p:nvGrpSpPr>
        <p:grpSpPr>
          <a:xfrm rot="0">
            <a:off x="605096" y="2236688"/>
            <a:ext cx="8598946" cy="1477143"/>
            <a:chOff x="0" y="0"/>
            <a:chExt cx="2264743" cy="389042"/>
          </a:xfrm>
        </p:grpSpPr>
        <p:sp>
          <p:nvSpPr>
            <p:cNvPr name="Freeform 3" id="3"/>
            <p:cNvSpPr/>
            <p:nvPr/>
          </p:nvSpPr>
          <p:spPr>
            <a:xfrm flipH="false" flipV="false" rot="0">
              <a:off x="0" y="0"/>
              <a:ext cx="2264743" cy="389042"/>
            </a:xfrm>
            <a:custGeom>
              <a:avLst/>
              <a:gdLst/>
              <a:ahLst/>
              <a:cxnLst/>
              <a:rect r="r" b="b" t="t" l="l"/>
              <a:pathLst>
                <a:path h="389042" w="2264743">
                  <a:moveTo>
                    <a:pt x="50419" y="0"/>
                  </a:moveTo>
                  <a:lnTo>
                    <a:pt x="2214324" y="0"/>
                  </a:lnTo>
                  <a:cubicBezTo>
                    <a:pt x="2227696" y="0"/>
                    <a:pt x="2240520" y="5312"/>
                    <a:pt x="2249976" y="14767"/>
                  </a:cubicBezTo>
                  <a:cubicBezTo>
                    <a:pt x="2259431" y="24223"/>
                    <a:pt x="2264743" y="37047"/>
                    <a:pt x="2264743" y="50419"/>
                  </a:cubicBezTo>
                  <a:lnTo>
                    <a:pt x="2264743" y="338623"/>
                  </a:lnTo>
                  <a:cubicBezTo>
                    <a:pt x="2264743" y="351995"/>
                    <a:pt x="2259431" y="364819"/>
                    <a:pt x="2249976" y="374275"/>
                  </a:cubicBezTo>
                  <a:cubicBezTo>
                    <a:pt x="2240520" y="383730"/>
                    <a:pt x="2227696" y="389042"/>
                    <a:pt x="2214324" y="389042"/>
                  </a:cubicBezTo>
                  <a:lnTo>
                    <a:pt x="50419" y="389042"/>
                  </a:lnTo>
                  <a:cubicBezTo>
                    <a:pt x="37047" y="389042"/>
                    <a:pt x="24223" y="383730"/>
                    <a:pt x="14767" y="374275"/>
                  </a:cubicBezTo>
                  <a:cubicBezTo>
                    <a:pt x="5312" y="364819"/>
                    <a:pt x="0" y="351995"/>
                    <a:pt x="0" y="338623"/>
                  </a:cubicBezTo>
                  <a:lnTo>
                    <a:pt x="0" y="50419"/>
                  </a:lnTo>
                  <a:cubicBezTo>
                    <a:pt x="0" y="37047"/>
                    <a:pt x="5312" y="24223"/>
                    <a:pt x="14767" y="14767"/>
                  </a:cubicBezTo>
                  <a:cubicBezTo>
                    <a:pt x="24223" y="5312"/>
                    <a:pt x="37047" y="0"/>
                    <a:pt x="50419" y="0"/>
                  </a:cubicBezTo>
                  <a:close/>
                </a:path>
              </a:pathLst>
            </a:custGeom>
            <a:gradFill rotWithShape="true">
              <a:gsLst>
                <a:gs pos="0">
                  <a:srgbClr val="000000">
                    <a:alpha val="78000"/>
                  </a:srgbClr>
                </a:gs>
                <a:gs pos="100000">
                  <a:srgbClr val="DDDDDD">
                    <a:alpha val="14820"/>
                  </a:srgbClr>
                </a:gs>
              </a:gsLst>
              <a:lin ang="2700000"/>
            </a:gradFill>
          </p:spPr>
        </p:sp>
        <p:sp>
          <p:nvSpPr>
            <p:cNvPr name="TextBox 4" id="4"/>
            <p:cNvSpPr txBox="true"/>
            <p:nvPr/>
          </p:nvSpPr>
          <p:spPr>
            <a:xfrm>
              <a:off x="0" y="-66675"/>
              <a:ext cx="2264743" cy="455717"/>
            </a:xfrm>
            <a:prstGeom prst="rect">
              <a:avLst/>
            </a:prstGeom>
          </p:spPr>
          <p:txBody>
            <a:bodyPr anchor="ctr" rtlCol="false" tIns="50800" lIns="50800" bIns="50800" rIns="50800"/>
            <a:lstStyle/>
            <a:p>
              <a:pPr algn="ctr">
                <a:lnSpc>
                  <a:spcPts val="3151"/>
                </a:lnSpc>
              </a:pPr>
            </a:p>
          </p:txBody>
        </p:sp>
      </p:grpSp>
      <p:grpSp>
        <p:nvGrpSpPr>
          <p:cNvPr name="Group 5" id="5"/>
          <p:cNvGrpSpPr/>
          <p:nvPr/>
        </p:nvGrpSpPr>
        <p:grpSpPr>
          <a:xfrm rot="0">
            <a:off x="1088742" y="4352007"/>
            <a:ext cx="8115300" cy="3698305"/>
            <a:chOff x="0" y="0"/>
            <a:chExt cx="2137363" cy="974039"/>
          </a:xfrm>
        </p:grpSpPr>
        <p:sp>
          <p:nvSpPr>
            <p:cNvPr name="Freeform 6" id="6"/>
            <p:cNvSpPr/>
            <p:nvPr/>
          </p:nvSpPr>
          <p:spPr>
            <a:xfrm flipH="false" flipV="false" rot="0">
              <a:off x="0" y="0"/>
              <a:ext cx="2137363" cy="974039"/>
            </a:xfrm>
            <a:custGeom>
              <a:avLst/>
              <a:gdLst/>
              <a:ahLst/>
              <a:cxnLst/>
              <a:rect r="r" b="b" t="t" l="l"/>
              <a:pathLst>
                <a:path h="974039" w="2137363">
                  <a:moveTo>
                    <a:pt x="53423" y="0"/>
                  </a:moveTo>
                  <a:lnTo>
                    <a:pt x="2083939" y="0"/>
                  </a:lnTo>
                  <a:cubicBezTo>
                    <a:pt x="2098108" y="0"/>
                    <a:pt x="2111697" y="5629"/>
                    <a:pt x="2121716" y="15647"/>
                  </a:cubicBezTo>
                  <a:cubicBezTo>
                    <a:pt x="2131734" y="25666"/>
                    <a:pt x="2137363" y="39255"/>
                    <a:pt x="2137363" y="53423"/>
                  </a:cubicBezTo>
                  <a:lnTo>
                    <a:pt x="2137363" y="920616"/>
                  </a:lnTo>
                  <a:cubicBezTo>
                    <a:pt x="2137363" y="934785"/>
                    <a:pt x="2131734" y="948373"/>
                    <a:pt x="2121716" y="958392"/>
                  </a:cubicBezTo>
                  <a:cubicBezTo>
                    <a:pt x="2111697" y="968411"/>
                    <a:pt x="2098108" y="974039"/>
                    <a:pt x="2083939" y="974039"/>
                  </a:cubicBezTo>
                  <a:lnTo>
                    <a:pt x="53423" y="974039"/>
                  </a:lnTo>
                  <a:cubicBezTo>
                    <a:pt x="23919" y="974039"/>
                    <a:pt x="0" y="950121"/>
                    <a:pt x="0" y="920616"/>
                  </a:cubicBezTo>
                  <a:lnTo>
                    <a:pt x="0" y="53423"/>
                  </a:lnTo>
                  <a:cubicBezTo>
                    <a:pt x="0" y="23919"/>
                    <a:pt x="23919" y="0"/>
                    <a:pt x="53423" y="0"/>
                  </a:cubicBezTo>
                  <a:close/>
                </a:path>
              </a:pathLst>
            </a:custGeom>
            <a:solidFill>
              <a:srgbClr val="000000">
                <a:alpha val="0"/>
              </a:srgbClr>
            </a:solidFill>
            <a:ln w="28575" cap="rnd">
              <a:solidFill>
                <a:srgbClr val="FFFFFF"/>
              </a:solidFill>
              <a:prstDash val="solid"/>
              <a:round/>
            </a:ln>
          </p:spPr>
        </p:sp>
        <p:sp>
          <p:nvSpPr>
            <p:cNvPr name="TextBox 7" id="7"/>
            <p:cNvSpPr txBox="true"/>
            <p:nvPr/>
          </p:nvSpPr>
          <p:spPr>
            <a:xfrm>
              <a:off x="0" y="-66675"/>
              <a:ext cx="2137363" cy="1040714"/>
            </a:xfrm>
            <a:prstGeom prst="rect">
              <a:avLst/>
            </a:prstGeom>
          </p:spPr>
          <p:txBody>
            <a:bodyPr anchor="ctr" rtlCol="false" tIns="50800" lIns="50800" bIns="50800" rIns="50800"/>
            <a:lstStyle/>
            <a:p>
              <a:pPr algn="ctr">
                <a:lnSpc>
                  <a:spcPts val="3151"/>
                </a:lnSpc>
              </a:pPr>
            </a:p>
          </p:txBody>
        </p:sp>
      </p:grpSp>
      <p:sp>
        <p:nvSpPr>
          <p:cNvPr name="Freeform 8" id="8"/>
          <p:cNvSpPr/>
          <p:nvPr/>
        </p:nvSpPr>
        <p:spPr>
          <a:xfrm flipH="false" flipV="false" rot="0">
            <a:off x="7674419" y="2576281"/>
            <a:ext cx="825373" cy="825373"/>
          </a:xfrm>
          <a:custGeom>
            <a:avLst/>
            <a:gdLst/>
            <a:ahLst/>
            <a:cxnLst/>
            <a:rect r="r" b="b" t="t" l="l"/>
            <a:pathLst>
              <a:path h="825373" w="825373">
                <a:moveTo>
                  <a:pt x="0" y="0"/>
                </a:moveTo>
                <a:lnTo>
                  <a:pt x="825372" y="0"/>
                </a:lnTo>
                <a:lnTo>
                  <a:pt x="825372" y="825372"/>
                </a:lnTo>
                <a:lnTo>
                  <a:pt x="0" y="82537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803986" y="803986"/>
            <a:ext cx="449429" cy="449429"/>
          </a:xfrm>
          <a:custGeom>
            <a:avLst/>
            <a:gdLst/>
            <a:ahLst/>
            <a:cxnLst/>
            <a:rect r="r" b="b" t="t" l="l"/>
            <a:pathLst>
              <a:path h="449429" w="449429">
                <a:moveTo>
                  <a:pt x="0" y="0"/>
                </a:moveTo>
                <a:lnTo>
                  <a:pt x="449428" y="0"/>
                </a:lnTo>
                <a:lnTo>
                  <a:pt x="449428" y="449428"/>
                </a:lnTo>
                <a:lnTo>
                  <a:pt x="0" y="44942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0351558" y="2576281"/>
            <a:ext cx="7331346" cy="5461206"/>
          </a:xfrm>
          <a:custGeom>
            <a:avLst/>
            <a:gdLst/>
            <a:ahLst/>
            <a:cxnLst/>
            <a:rect r="r" b="b" t="t" l="l"/>
            <a:pathLst>
              <a:path h="5461206" w="7331346">
                <a:moveTo>
                  <a:pt x="0" y="0"/>
                </a:moveTo>
                <a:lnTo>
                  <a:pt x="7331346" y="0"/>
                </a:lnTo>
                <a:lnTo>
                  <a:pt x="7331346" y="5461206"/>
                </a:lnTo>
                <a:lnTo>
                  <a:pt x="0" y="5461206"/>
                </a:lnTo>
                <a:lnTo>
                  <a:pt x="0" y="0"/>
                </a:lnTo>
                <a:close/>
              </a:path>
            </a:pathLst>
          </a:custGeom>
          <a:blipFill>
            <a:blip r:embed="rId6"/>
            <a:stretch>
              <a:fillRect l="0" t="0" r="0" b="0"/>
            </a:stretch>
          </a:blipFill>
        </p:spPr>
      </p:sp>
      <p:grpSp>
        <p:nvGrpSpPr>
          <p:cNvPr name="Group 11" id="11"/>
          <p:cNvGrpSpPr/>
          <p:nvPr/>
        </p:nvGrpSpPr>
        <p:grpSpPr>
          <a:xfrm rot="0">
            <a:off x="9144000" y="886370"/>
            <a:ext cx="8115300" cy="367045"/>
            <a:chOff x="0" y="0"/>
            <a:chExt cx="10820400" cy="489393"/>
          </a:xfrm>
        </p:grpSpPr>
        <p:sp>
          <p:nvSpPr>
            <p:cNvPr name="TextBox 12" id="12"/>
            <p:cNvSpPr txBox="true"/>
            <p:nvPr/>
          </p:nvSpPr>
          <p:spPr>
            <a:xfrm rot="0">
              <a:off x="0" y="-37387"/>
              <a:ext cx="2216733" cy="523829"/>
            </a:xfrm>
            <a:prstGeom prst="rect">
              <a:avLst/>
            </a:prstGeom>
          </p:spPr>
          <p:txBody>
            <a:bodyPr anchor="t" rtlCol="false" tIns="0" lIns="0" bIns="0" rIns="0">
              <a:spAutoFit/>
            </a:bodyPr>
            <a:lstStyle/>
            <a:p>
              <a:pPr algn="r" marL="0" indent="0" lvl="0">
                <a:lnSpc>
                  <a:spcPts val="3151"/>
                </a:lnSpc>
                <a:spcBef>
                  <a:spcPct val="0"/>
                </a:spcBef>
              </a:pPr>
              <a:r>
                <a:rPr lang="en-US" sz="2251">
                  <a:solidFill>
                    <a:srgbClr val="FFFFFF"/>
                  </a:solidFill>
                  <a:latin typeface="Poppins"/>
                  <a:ea typeface="Poppins"/>
                  <a:cs typeface="Poppins"/>
                  <a:sym typeface="Poppins"/>
                </a:rPr>
                <a:t>Home</a:t>
              </a:r>
            </a:p>
          </p:txBody>
        </p:sp>
        <p:sp>
          <p:nvSpPr>
            <p:cNvPr name="TextBox 13" id="13"/>
            <p:cNvSpPr txBox="true"/>
            <p:nvPr/>
          </p:nvSpPr>
          <p:spPr>
            <a:xfrm rot="0">
              <a:off x="3018830" y="-34436"/>
              <a:ext cx="2542777" cy="523829"/>
            </a:xfrm>
            <a:prstGeom prst="rect">
              <a:avLst/>
            </a:prstGeom>
          </p:spPr>
          <p:txBody>
            <a:bodyPr anchor="t" rtlCol="false" tIns="0" lIns="0" bIns="0" rIns="0">
              <a:spAutoFit/>
            </a:bodyPr>
            <a:lstStyle/>
            <a:p>
              <a:pPr algn="ctr" marL="0" indent="0" lvl="0">
                <a:lnSpc>
                  <a:spcPts val="3151"/>
                </a:lnSpc>
                <a:spcBef>
                  <a:spcPct val="0"/>
                </a:spcBef>
              </a:pPr>
              <a:r>
                <a:rPr lang="en-US" sz="2251">
                  <a:solidFill>
                    <a:srgbClr val="FFFFFF"/>
                  </a:solidFill>
                  <a:latin typeface="Poppins"/>
                  <a:ea typeface="Poppins"/>
                  <a:cs typeface="Poppins"/>
                  <a:sym typeface="Poppins"/>
                </a:rPr>
                <a:t>About</a:t>
              </a:r>
            </a:p>
          </p:txBody>
        </p:sp>
        <p:sp>
          <p:nvSpPr>
            <p:cNvPr name="TextBox 14" id="14"/>
            <p:cNvSpPr txBox="true"/>
            <p:nvPr/>
          </p:nvSpPr>
          <p:spPr>
            <a:xfrm rot="0">
              <a:off x="6110306" y="-66675"/>
              <a:ext cx="2555842" cy="523829"/>
            </a:xfrm>
            <a:prstGeom prst="rect">
              <a:avLst/>
            </a:prstGeom>
          </p:spPr>
          <p:txBody>
            <a:bodyPr anchor="t" rtlCol="false" tIns="0" lIns="0" bIns="0" rIns="0">
              <a:spAutoFit/>
            </a:bodyPr>
            <a:lstStyle/>
            <a:p>
              <a:pPr algn="ctr" marL="0" indent="0" lvl="0">
                <a:lnSpc>
                  <a:spcPts val="3151"/>
                </a:lnSpc>
                <a:spcBef>
                  <a:spcPct val="0"/>
                </a:spcBef>
              </a:pPr>
              <a:r>
                <a:rPr lang="en-US" b="true" sz="2251">
                  <a:solidFill>
                    <a:srgbClr val="FFFFFF"/>
                  </a:solidFill>
                  <a:latin typeface="Poppins Bold"/>
                  <a:ea typeface="Poppins Bold"/>
                  <a:cs typeface="Poppins Bold"/>
                  <a:sym typeface="Poppins Bold"/>
                </a:rPr>
                <a:t>Content</a:t>
              </a:r>
            </a:p>
          </p:txBody>
        </p:sp>
        <p:sp>
          <p:nvSpPr>
            <p:cNvPr name="TextBox 15" id="15"/>
            <p:cNvSpPr txBox="true"/>
            <p:nvPr/>
          </p:nvSpPr>
          <p:spPr>
            <a:xfrm rot="0">
              <a:off x="7853767" y="-37387"/>
              <a:ext cx="2966633" cy="523829"/>
            </a:xfrm>
            <a:prstGeom prst="rect">
              <a:avLst/>
            </a:prstGeom>
          </p:spPr>
          <p:txBody>
            <a:bodyPr anchor="t" rtlCol="false" tIns="0" lIns="0" bIns="0" rIns="0">
              <a:spAutoFit/>
            </a:bodyPr>
            <a:lstStyle/>
            <a:p>
              <a:pPr algn="r" marL="0" indent="0" lvl="0">
                <a:lnSpc>
                  <a:spcPts val="3151"/>
                </a:lnSpc>
                <a:spcBef>
                  <a:spcPct val="0"/>
                </a:spcBef>
              </a:pPr>
              <a:r>
                <a:rPr lang="en-US" sz="2251">
                  <a:solidFill>
                    <a:srgbClr val="FFFFFF"/>
                  </a:solidFill>
                  <a:latin typeface="Poppins"/>
                  <a:ea typeface="Poppins"/>
                  <a:cs typeface="Poppins"/>
                  <a:sym typeface="Poppins"/>
                </a:rPr>
                <a:t>Others</a:t>
              </a:r>
            </a:p>
          </p:txBody>
        </p:sp>
      </p:grpSp>
      <p:sp>
        <p:nvSpPr>
          <p:cNvPr name="TextBox 16" id="16"/>
          <p:cNvSpPr txBox="true"/>
          <p:nvPr/>
        </p:nvSpPr>
        <p:spPr>
          <a:xfrm rot="0">
            <a:off x="1607049" y="4636847"/>
            <a:ext cx="7078685" cy="2424939"/>
          </a:xfrm>
          <a:prstGeom prst="rect">
            <a:avLst/>
          </a:prstGeom>
        </p:spPr>
        <p:txBody>
          <a:bodyPr anchor="t" rtlCol="false" tIns="0" lIns="0" bIns="0" rIns="0">
            <a:spAutoFit/>
          </a:bodyPr>
          <a:lstStyle/>
          <a:p>
            <a:pPr algn="just">
              <a:lnSpc>
                <a:spcPts val="4815"/>
              </a:lnSpc>
            </a:pPr>
            <a:r>
              <a:rPr lang="en-US" sz="2799">
                <a:solidFill>
                  <a:srgbClr val="FFFFFF"/>
                </a:solidFill>
                <a:latin typeface="Poppins"/>
                <a:ea typeface="Poppins"/>
                <a:cs typeface="Poppins"/>
                <a:sym typeface="Poppins"/>
              </a:rPr>
              <a:t>Integrated dashboard displaying both registry and tweets risk metrics (side-by-side or overlay), network propagation map, top-keyword cloud.</a:t>
            </a:r>
          </a:p>
        </p:txBody>
      </p:sp>
      <p:sp>
        <p:nvSpPr>
          <p:cNvPr name="TextBox 17" id="17"/>
          <p:cNvSpPr txBox="true"/>
          <p:nvPr/>
        </p:nvSpPr>
        <p:spPr>
          <a:xfrm rot="0">
            <a:off x="1088742" y="2604856"/>
            <a:ext cx="5066453" cy="778662"/>
          </a:xfrm>
          <a:prstGeom prst="rect">
            <a:avLst/>
          </a:prstGeom>
        </p:spPr>
        <p:txBody>
          <a:bodyPr anchor="t" rtlCol="false" tIns="0" lIns="0" bIns="0" rIns="0">
            <a:spAutoFit/>
          </a:bodyPr>
          <a:lstStyle/>
          <a:p>
            <a:pPr algn="l">
              <a:lnSpc>
                <a:spcPts val="5418"/>
              </a:lnSpc>
            </a:pPr>
            <a:r>
              <a:rPr lang="en-US" sz="5312" spc="-239" b="true">
                <a:solidFill>
                  <a:srgbClr val="FFFFFF"/>
                </a:solidFill>
                <a:latin typeface="Telegraf Bold"/>
                <a:ea typeface="Telegraf Bold"/>
                <a:cs typeface="Telegraf Bold"/>
                <a:sym typeface="Telegraf Bold"/>
              </a:rPr>
              <a:t>Visualizations</a:t>
            </a:r>
          </a:p>
        </p:txBody>
      </p:sp>
      <p:sp>
        <p:nvSpPr>
          <p:cNvPr name="TextBox 18" id="18"/>
          <p:cNvSpPr txBox="true"/>
          <p:nvPr/>
        </p:nvSpPr>
        <p:spPr>
          <a:xfrm rot="0">
            <a:off x="1363845" y="768097"/>
            <a:ext cx="3551055" cy="445006"/>
          </a:xfrm>
          <a:prstGeom prst="rect">
            <a:avLst/>
          </a:prstGeom>
        </p:spPr>
        <p:txBody>
          <a:bodyPr anchor="t" rtlCol="false" tIns="0" lIns="0" bIns="0" rIns="0">
            <a:spAutoFit/>
          </a:bodyPr>
          <a:lstStyle/>
          <a:p>
            <a:pPr algn="l">
              <a:lnSpc>
                <a:spcPts val="3391"/>
              </a:lnSpc>
              <a:spcBef>
                <a:spcPct val="0"/>
              </a:spcBef>
            </a:pPr>
            <a:r>
              <a:rPr lang="en-US" b="true" sz="2422" spc="-109">
                <a:solidFill>
                  <a:srgbClr val="FFFFFF"/>
                </a:solidFill>
                <a:latin typeface="Telegraf Bold"/>
                <a:ea typeface="Telegraf Bold"/>
                <a:cs typeface="Telegraf Bold"/>
                <a:sym typeface="Telegraf Bold"/>
              </a:rPr>
              <a:t>Forensics Analytics</a:t>
            </a:r>
          </a:p>
        </p:txBody>
      </p:sp>
    </p:spTree>
  </p:cSld>
  <p:clrMapOvr>
    <a:masterClrMapping/>
  </p:clrMapOvr>
  <p:transition spd="slow">
    <p:push dir="l"/>
  </p:transition>
</p:sld>
</file>

<file path=ppt/slides/slide1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9033D">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0">
            <a:off x="803986" y="803986"/>
            <a:ext cx="449429" cy="449429"/>
          </a:xfrm>
          <a:custGeom>
            <a:avLst/>
            <a:gdLst/>
            <a:ahLst/>
            <a:cxnLst/>
            <a:rect r="r" b="b" t="t" l="l"/>
            <a:pathLst>
              <a:path h="449429" w="449429">
                <a:moveTo>
                  <a:pt x="0" y="0"/>
                </a:moveTo>
                <a:lnTo>
                  <a:pt x="449428" y="0"/>
                </a:lnTo>
                <a:lnTo>
                  <a:pt x="449428" y="449428"/>
                </a:lnTo>
                <a:lnTo>
                  <a:pt x="0" y="4494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2398288" y="3458610"/>
            <a:ext cx="11347491" cy="5799690"/>
            <a:chOff x="0" y="0"/>
            <a:chExt cx="2661604" cy="1360343"/>
          </a:xfrm>
        </p:grpSpPr>
        <p:sp>
          <p:nvSpPr>
            <p:cNvPr name="Freeform 4" id="4"/>
            <p:cNvSpPr/>
            <p:nvPr/>
          </p:nvSpPr>
          <p:spPr>
            <a:xfrm flipH="false" flipV="false" rot="0">
              <a:off x="0" y="0"/>
              <a:ext cx="2661604" cy="1360343"/>
            </a:xfrm>
            <a:custGeom>
              <a:avLst/>
              <a:gdLst/>
              <a:ahLst/>
              <a:cxnLst/>
              <a:rect r="r" b="b" t="t" l="l"/>
              <a:pathLst>
                <a:path h="1360343" w="2661604">
                  <a:moveTo>
                    <a:pt x="38206" y="0"/>
                  </a:moveTo>
                  <a:lnTo>
                    <a:pt x="2623397" y="0"/>
                  </a:lnTo>
                  <a:cubicBezTo>
                    <a:pt x="2633530" y="0"/>
                    <a:pt x="2643248" y="4025"/>
                    <a:pt x="2650413" y="11190"/>
                  </a:cubicBezTo>
                  <a:cubicBezTo>
                    <a:pt x="2657578" y="18356"/>
                    <a:pt x="2661604" y="28073"/>
                    <a:pt x="2661604" y="38206"/>
                  </a:cubicBezTo>
                  <a:lnTo>
                    <a:pt x="2661604" y="1322136"/>
                  </a:lnTo>
                  <a:cubicBezTo>
                    <a:pt x="2661604" y="1343237"/>
                    <a:pt x="2644498" y="1360343"/>
                    <a:pt x="2623397" y="1360343"/>
                  </a:cubicBezTo>
                  <a:lnTo>
                    <a:pt x="38206" y="1360343"/>
                  </a:lnTo>
                  <a:cubicBezTo>
                    <a:pt x="28073" y="1360343"/>
                    <a:pt x="18356" y="1356317"/>
                    <a:pt x="11190" y="1349152"/>
                  </a:cubicBezTo>
                  <a:cubicBezTo>
                    <a:pt x="4025" y="1341987"/>
                    <a:pt x="0" y="1332269"/>
                    <a:pt x="0" y="1322136"/>
                  </a:cubicBezTo>
                  <a:lnTo>
                    <a:pt x="0" y="38206"/>
                  </a:lnTo>
                  <a:cubicBezTo>
                    <a:pt x="0" y="28073"/>
                    <a:pt x="4025" y="18356"/>
                    <a:pt x="11190" y="11190"/>
                  </a:cubicBezTo>
                  <a:cubicBezTo>
                    <a:pt x="18356" y="4025"/>
                    <a:pt x="28073" y="0"/>
                    <a:pt x="38206" y="0"/>
                  </a:cubicBezTo>
                  <a:close/>
                </a:path>
              </a:pathLst>
            </a:custGeom>
            <a:gradFill rotWithShape="true">
              <a:gsLst>
                <a:gs pos="0">
                  <a:srgbClr val="000000">
                    <a:alpha val="78000"/>
                  </a:srgbClr>
                </a:gs>
                <a:gs pos="100000">
                  <a:srgbClr val="DDDDDD">
                    <a:alpha val="14820"/>
                  </a:srgbClr>
                </a:gs>
              </a:gsLst>
              <a:lin ang="2700000"/>
            </a:gradFill>
          </p:spPr>
        </p:sp>
        <p:sp>
          <p:nvSpPr>
            <p:cNvPr name="TextBox 5" id="5"/>
            <p:cNvSpPr txBox="true"/>
            <p:nvPr/>
          </p:nvSpPr>
          <p:spPr>
            <a:xfrm>
              <a:off x="0" y="-66675"/>
              <a:ext cx="2661604" cy="1427018"/>
            </a:xfrm>
            <a:prstGeom prst="rect">
              <a:avLst/>
            </a:prstGeom>
          </p:spPr>
          <p:txBody>
            <a:bodyPr anchor="ctr" rtlCol="false" tIns="50800" lIns="50800" bIns="50800" rIns="50800"/>
            <a:lstStyle/>
            <a:p>
              <a:pPr algn="ctr">
                <a:lnSpc>
                  <a:spcPts val="3151"/>
                </a:lnSpc>
              </a:pPr>
            </a:p>
          </p:txBody>
        </p:sp>
      </p:grpSp>
      <p:sp>
        <p:nvSpPr>
          <p:cNvPr name="Freeform 6" id="6"/>
          <p:cNvSpPr/>
          <p:nvPr/>
        </p:nvSpPr>
        <p:spPr>
          <a:xfrm flipH="false" flipV="false" rot="0">
            <a:off x="14279256" y="5523174"/>
            <a:ext cx="4285976" cy="4114800"/>
          </a:xfrm>
          <a:custGeom>
            <a:avLst/>
            <a:gdLst/>
            <a:ahLst/>
            <a:cxnLst/>
            <a:rect r="r" b="b" t="t" l="l"/>
            <a:pathLst>
              <a:path h="4114800" w="4285976">
                <a:moveTo>
                  <a:pt x="0" y="0"/>
                </a:moveTo>
                <a:lnTo>
                  <a:pt x="4285975" y="0"/>
                </a:lnTo>
                <a:lnTo>
                  <a:pt x="4285975"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2398288" y="2146936"/>
            <a:ext cx="10869177" cy="6752476"/>
          </a:xfrm>
          <a:custGeom>
            <a:avLst/>
            <a:gdLst/>
            <a:ahLst/>
            <a:cxnLst/>
            <a:rect r="r" b="b" t="t" l="l"/>
            <a:pathLst>
              <a:path h="6752476" w="10869177">
                <a:moveTo>
                  <a:pt x="0" y="0"/>
                </a:moveTo>
                <a:lnTo>
                  <a:pt x="10869177" y="0"/>
                </a:lnTo>
                <a:lnTo>
                  <a:pt x="10869177" y="6752476"/>
                </a:lnTo>
                <a:lnTo>
                  <a:pt x="0" y="6752476"/>
                </a:lnTo>
                <a:lnTo>
                  <a:pt x="0" y="0"/>
                </a:lnTo>
                <a:close/>
              </a:path>
            </a:pathLst>
          </a:custGeom>
          <a:blipFill>
            <a:blip r:embed="rId6"/>
            <a:stretch>
              <a:fillRect l="0" t="0" r="0" b="0"/>
            </a:stretch>
          </a:blipFill>
        </p:spPr>
      </p:sp>
      <p:sp>
        <p:nvSpPr>
          <p:cNvPr name="TextBox 8" id="8"/>
          <p:cNvSpPr txBox="true"/>
          <p:nvPr/>
        </p:nvSpPr>
        <p:spPr>
          <a:xfrm rot="0">
            <a:off x="9163050" y="841660"/>
            <a:ext cx="1662550" cy="409541"/>
          </a:xfrm>
          <a:prstGeom prst="rect">
            <a:avLst/>
          </a:prstGeom>
        </p:spPr>
        <p:txBody>
          <a:bodyPr anchor="t" rtlCol="false" tIns="0" lIns="0" bIns="0" rIns="0">
            <a:spAutoFit/>
          </a:bodyPr>
          <a:lstStyle/>
          <a:p>
            <a:pPr algn="r" marL="0" indent="0" lvl="0">
              <a:lnSpc>
                <a:spcPts val="3151"/>
              </a:lnSpc>
              <a:spcBef>
                <a:spcPct val="0"/>
              </a:spcBef>
            </a:pPr>
            <a:r>
              <a:rPr lang="en-US" sz="2251">
                <a:solidFill>
                  <a:srgbClr val="FFFFFF"/>
                </a:solidFill>
                <a:latin typeface="Poppins"/>
                <a:ea typeface="Poppins"/>
                <a:cs typeface="Poppins"/>
                <a:sym typeface="Poppins"/>
              </a:rPr>
              <a:t>Home</a:t>
            </a:r>
          </a:p>
        </p:txBody>
      </p:sp>
      <p:sp>
        <p:nvSpPr>
          <p:cNvPr name="TextBox 9" id="9"/>
          <p:cNvSpPr txBox="true"/>
          <p:nvPr/>
        </p:nvSpPr>
        <p:spPr>
          <a:xfrm rot="0">
            <a:off x="11427172" y="843874"/>
            <a:ext cx="1907082" cy="409541"/>
          </a:xfrm>
          <a:prstGeom prst="rect">
            <a:avLst/>
          </a:prstGeom>
        </p:spPr>
        <p:txBody>
          <a:bodyPr anchor="t" rtlCol="false" tIns="0" lIns="0" bIns="0" rIns="0">
            <a:spAutoFit/>
          </a:bodyPr>
          <a:lstStyle/>
          <a:p>
            <a:pPr algn="ctr" marL="0" indent="0" lvl="0">
              <a:lnSpc>
                <a:spcPts val="3151"/>
              </a:lnSpc>
              <a:spcBef>
                <a:spcPct val="0"/>
              </a:spcBef>
            </a:pPr>
            <a:r>
              <a:rPr lang="en-US" sz="2251">
                <a:solidFill>
                  <a:srgbClr val="FFFFFF"/>
                </a:solidFill>
                <a:latin typeface="Poppins"/>
                <a:ea typeface="Poppins"/>
                <a:cs typeface="Poppins"/>
                <a:sym typeface="Poppins"/>
              </a:rPr>
              <a:t>About</a:t>
            </a:r>
          </a:p>
        </p:txBody>
      </p:sp>
      <p:sp>
        <p:nvSpPr>
          <p:cNvPr name="TextBox 10" id="10"/>
          <p:cNvSpPr txBox="true"/>
          <p:nvPr/>
        </p:nvSpPr>
        <p:spPr>
          <a:xfrm rot="0">
            <a:off x="13745779" y="819695"/>
            <a:ext cx="1916881" cy="409541"/>
          </a:xfrm>
          <a:prstGeom prst="rect">
            <a:avLst/>
          </a:prstGeom>
        </p:spPr>
        <p:txBody>
          <a:bodyPr anchor="t" rtlCol="false" tIns="0" lIns="0" bIns="0" rIns="0">
            <a:spAutoFit/>
          </a:bodyPr>
          <a:lstStyle/>
          <a:p>
            <a:pPr algn="ctr" marL="0" indent="0" lvl="0">
              <a:lnSpc>
                <a:spcPts val="3151"/>
              </a:lnSpc>
              <a:spcBef>
                <a:spcPct val="0"/>
              </a:spcBef>
            </a:pPr>
            <a:r>
              <a:rPr lang="en-US" b="true" sz="2251">
                <a:solidFill>
                  <a:srgbClr val="FFFFFF"/>
                </a:solidFill>
                <a:latin typeface="Poppins Bold"/>
                <a:ea typeface="Poppins Bold"/>
                <a:cs typeface="Poppins Bold"/>
                <a:sym typeface="Poppins Bold"/>
              </a:rPr>
              <a:t>Content</a:t>
            </a:r>
          </a:p>
        </p:txBody>
      </p:sp>
      <p:sp>
        <p:nvSpPr>
          <p:cNvPr name="TextBox 11" id="11"/>
          <p:cNvSpPr txBox="true"/>
          <p:nvPr/>
        </p:nvSpPr>
        <p:spPr>
          <a:xfrm rot="0">
            <a:off x="15053375" y="841660"/>
            <a:ext cx="2224975" cy="409541"/>
          </a:xfrm>
          <a:prstGeom prst="rect">
            <a:avLst/>
          </a:prstGeom>
        </p:spPr>
        <p:txBody>
          <a:bodyPr anchor="t" rtlCol="false" tIns="0" lIns="0" bIns="0" rIns="0">
            <a:spAutoFit/>
          </a:bodyPr>
          <a:lstStyle/>
          <a:p>
            <a:pPr algn="r" marL="0" indent="0" lvl="0">
              <a:lnSpc>
                <a:spcPts val="3151"/>
              </a:lnSpc>
              <a:spcBef>
                <a:spcPct val="0"/>
              </a:spcBef>
            </a:pPr>
            <a:r>
              <a:rPr lang="en-US" sz="2251">
                <a:solidFill>
                  <a:srgbClr val="FFFFFF"/>
                </a:solidFill>
                <a:latin typeface="Poppins"/>
                <a:ea typeface="Poppins"/>
                <a:cs typeface="Poppins"/>
                <a:sym typeface="Poppins"/>
              </a:rPr>
              <a:t>Others</a:t>
            </a:r>
          </a:p>
        </p:txBody>
      </p:sp>
      <p:sp>
        <p:nvSpPr>
          <p:cNvPr name="TextBox 12" id="12"/>
          <p:cNvSpPr txBox="true"/>
          <p:nvPr/>
        </p:nvSpPr>
        <p:spPr>
          <a:xfrm rot="0">
            <a:off x="1363845" y="768097"/>
            <a:ext cx="3551055" cy="445006"/>
          </a:xfrm>
          <a:prstGeom prst="rect">
            <a:avLst/>
          </a:prstGeom>
        </p:spPr>
        <p:txBody>
          <a:bodyPr anchor="t" rtlCol="false" tIns="0" lIns="0" bIns="0" rIns="0">
            <a:spAutoFit/>
          </a:bodyPr>
          <a:lstStyle/>
          <a:p>
            <a:pPr algn="l">
              <a:lnSpc>
                <a:spcPts val="3391"/>
              </a:lnSpc>
              <a:spcBef>
                <a:spcPct val="0"/>
              </a:spcBef>
            </a:pPr>
            <a:r>
              <a:rPr lang="en-US" b="true" sz="2422" spc="-109">
                <a:solidFill>
                  <a:srgbClr val="FFFFFF"/>
                </a:solidFill>
                <a:latin typeface="Telegraf Bold"/>
                <a:ea typeface="Telegraf Bold"/>
                <a:cs typeface="Telegraf Bold"/>
                <a:sym typeface="Telegraf Bold"/>
              </a:rPr>
              <a:t>Forensics Analytics</a:t>
            </a:r>
          </a:p>
        </p:txBody>
      </p:sp>
    </p:spTree>
  </p:cSld>
  <p:clrMapOvr>
    <a:masterClrMapping/>
  </p:clrMapOvr>
  <p:transition spd="slow">
    <p:push dir="l"/>
  </p:transition>
</p:sld>
</file>

<file path=ppt/slides/slide1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9033D">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grpSp>
        <p:nvGrpSpPr>
          <p:cNvPr name="Group 2" id="2"/>
          <p:cNvGrpSpPr/>
          <p:nvPr/>
        </p:nvGrpSpPr>
        <p:grpSpPr>
          <a:xfrm rot="0">
            <a:off x="10592135" y="3299388"/>
            <a:ext cx="6994363" cy="1210078"/>
            <a:chOff x="0" y="0"/>
            <a:chExt cx="2264743" cy="391818"/>
          </a:xfrm>
        </p:grpSpPr>
        <p:sp>
          <p:nvSpPr>
            <p:cNvPr name="Freeform 3" id="3"/>
            <p:cNvSpPr/>
            <p:nvPr/>
          </p:nvSpPr>
          <p:spPr>
            <a:xfrm flipH="false" flipV="false" rot="0">
              <a:off x="0" y="0"/>
              <a:ext cx="2264743" cy="391818"/>
            </a:xfrm>
            <a:custGeom>
              <a:avLst/>
              <a:gdLst/>
              <a:ahLst/>
              <a:cxnLst/>
              <a:rect r="r" b="b" t="t" l="l"/>
              <a:pathLst>
                <a:path h="391818" w="2264743">
                  <a:moveTo>
                    <a:pt x="61985" y="0"/>
                  </a:moveTo>
                  <a:lnTo>
                    <a:pt x="2202758" y="0"/>
                  </a:lnTo>
                  <a:cubicBezTo>
                    <a:pt x="2236991" y="0"/>
                    <a:pt x="2264743" y="27752"/>
                    <a:pt x="2264743" y="61985"/>
                  </a:cubicBezTo>
                  <a:lnTo>
                    <a:pt x="2264743" y="329832"/>
                  </a:lnTo>
                  <a:cubicBezTo>
                    <a:pt x="2264743" y="364066"/>
                    <a:pt x="2236991" y="391818"/>
                    <a:pt x="2202758" y="391818"/>
                  </a:cubicBezTo>
                  <a:lnTo>
                    <a:pt x="61985" y="391818"/>
                  </a:lnTo>
                  <a:cubicBezTo>
                    <a:pt x="45546" y="391818"/>
                    <a:pt x="29780" y="385287"/>
                    <a:pt x="18155" y="373663"/>
                  </a:cubicBezTo>
                  <a:cubicBezTo>
                    <a:pt x="6531" y="362038"/>
                    <a:pt x="0" y="346272"/>
                    <a:pt x="0" y="329832"/>
                  </a:cubicBezTo>
                  <a:lnTo>
                    <a:pt x="0" y="61985"/>
                  </a:lnTo>
                  <a:cubicBezTo>
                    <a:pt x="0" y="27752"/>
                    <a:pt x="27752" y="0"/>
                    <a:pt x="61985" y="0"/>
                  </a:cubicBezTo>
                  <a:close/>
                </a:path>
              </a:pathLst>
            </a:custGeom>
            <a:gradFill rotWithShape="true">
              <a:gsLst>
                <a:gs pos="0">
                  <a:srgbClr val="000000">
                    <a:alpha val="78000"/>
                  </a:srgbClr>
                </a:gs>
                <a:gs pos="100000">
                  <a:srgbClr val="DDDDDD">
                    <a:alpha val="14820"/>
                  </a:srgbClr>
                </a:gs>
              </a:gsLst>
              <a:lin ang="2700000"/>
            </a:gradFill>
          </p:spPr>
        </p:sp>
        <p:sp>
          <p:nvSpPr>
            <p:cNvPr name="TextBox 4" id="4"/>
            <p:cNvSpPr txBox="true"/>
            <p:nvPr/>
          </p:nvSpPr>
          <p:spPr>
            <a:xfrm>
              <a:off x="0" y="-66675"/>
              <a:ext cx="2264743" cy="458493"/>
            </a:xfrm>
            <a:prstGeom prst="rect">
              <a:avLst/>
            </a:prstGeom>
          </p:spPr>
          <p:txBody>
            <a:bodyPr anchor="ctr" rtlCol="false" tIns="50800" lIns="50800" bIns="50800" rIns="50800"/>
            <a:lstStyle/>
            <a:p>
              <a:pPr algn="ctr">
                <a:lnSpc>
                  <a:spcPts val="3151"/>
                </a:lnSpc>
              </a:pPr>
            </a:p>
          </p:txBody>
        </p:sp>
      </p:grpSp>
      <p:grpSp>
        <p:nvGrpSpPr>
          <p:cNvPr name="Group 5" id="5"/>
          <p:cNvGrpSpPr/>
          <p:nvPr/>
        </p:nvGrpSpPr>
        <p:grpSpPr>
          <a:xfrm rot="0">
            <a:off x="803986" y="2447172"/>
            <a:ext cx="9349345" cy="3052120"/>
            <a:chOff x="0" y="0"/>
            <a:chExt cx="2462379" cy="803850"/>
          </a:xfrm>
        </p:grpSpPr>
        <p:sp>
          <p:nvSpPr>
            <p:cNvPr name="Freeform 6" id="6"/>
            <p:cNvSpPr/>
            <p:nvPr/>
          </p:nvSpPr>
          <p:spPr>
            <a:xfrm flipH="false" flipV="false" rot="0">
              <a:off x="0" y="0"/>
              <a:ext cx="2462379" cy="803850"/>
            </a:xfrm>
            <a:custGeom>
              <a:avLst/>
              <a:gdLst/>
              <a:ahLst/>
              <a:cxnLst/>
              <a:rect r="r" b="b" t="t" l="l"/>
              <a:pathLst>
                <a:path h="803850" w="2462379">
                  <a:moveTo>
                    <a:pt x="46372" y="0"/>
                  </a:moveTo>
                  <a:lnTo>
                    <a:pt x="2416007" y="0"/>
                  </a:lnTo>
                  <a:cubicBezTo>
                    <a:pt x="2428306" y="0"/>
                    <a:pt x="2440100" y="4886"/>
                    <a:pt x="2448797" y="13582"/>
                  </a:cubicBezTo>
                  <a:cubicBezTo>
                    <a:pt x="2457493" y="22278"/>
                    <a:pt x="2462379" y="34073"/>
                    <a:pt x="2462379" y="46372"/>
                  </a:cubicBezTo>
                  <a:lnTo>
                    <a:pt x="2462379" y="757478"/>
                  </a:lnTo>
                  <a:cubicBezTo>
                    <a:pt x="2462379" y="769777"/>
                    <a:pt x="2457493" y="781572"/>
                    <a:pt x="2448797" y="790268"/>
                  </a:cubicBezTo>
                  <a:cubicBezTo>
                    <a:pt x="2440100" y="798965"/>
                    <a:pt x="2428306" y="803850"/>
                    <a:pt x="2416007" y="803850"/>
                  </a:cubicBezTo>
                  <a:lnTo>
                    <a:pt x="46372" y="803850"/>
                  </a:lnTo>
                  <a:cubicBezTo>
                    <a:pt x="34073" y="803850"/>
                    <a:pt x="22278" y="798965"/>
                    <a:pt x="13582" y="790268"/>
                  </a:cubicBezTo>
                  <a:cubicBezTo>
                    <a:pt x="4886" y="781572"/>
                    <a:pt x="0" y="769777"/>
                    <a:pt x="0" y="757478"/>
                  </a:cubicBezTo>
                  <a:lnTo>
                    <a:pt x="0" y="46372"/>
                  </a:lnTo>
                  <a:cubicBezTo>
                    <a:pt x="0" y="34073"/>
                    <a:pt x="4886" y="22278"/>
                    <a:pt x="13582" y="13582"/>
                  </a:cubicBezTo>
                  <a:cubicBezTo>
                    <a:pt x="22278" y="4886"/>
                    <a:pt x="34073" y="0"/>
                    <a:pt x="46372" y="0"/>
                  </a:cubicBezTo>
                  <a:close/>
                </a:path>
              </a:pathLst>
            </a:custGeom>
            <a:solidFill>
              <a:srgbClr val="000000">
                <a:alpha val="0"/>
              </a:srgbClr>
            </a:solidFill>
            <a:ln w="28575" cap="rnd">
              <a:solidFill>
                <a:srgbClr val="FFFFFF"/>
              </a:solidFill>
              <a:prstDash val="solid"/>
              <a:round/>
            </a:ln>
          </p:spPr>
        </p:sp>
        <p:sp>
          <p:nvSpPr>
            <p:cNvPr name="TextBox 7" id="7"/>
            <p:cNvSpPr txBox="true"/>
            <p:nvPr/>
          </p:nvSpPr>
          <p:spPr>
            <a:xfrm>
              <a:off x="0" y="-66675"/>
              <a:ext cx="2462379" cy="870525"/>
            </a:xfrm>
            <a:prstGeom prst="rect">
              <a:avLst/>
            </a:prstGeom>
          </p:spPr>
          <p:txBody>
            <a:bodyPr anchor="ctr" rtlCol="false" tIns="50800" lIns="50800" bIns="50800" rIns="50800"/>
            <a:lstStyle/>
            <a:p>
              <a:pPr algn="ctr">
                <a:lnSpc>
                  <a:spcPts val="3151"/>
                </a:lnSpc>
              </a:pPr>
            </a:p>
          </p:txBody>
        </p:sp>
      </p:grpSp>
      <p:grpSp>
        <p:nvGrpSpPr>
          <p:cNvPr name="Group 8" id="8"/>
          <p:cNvGrpSpPr/>
          <p:nvPr/>
        </p:nvGrpSpPr>
        <p:grpSpPr>
          <a:xfrm rot="0">
            <a:off x="1182953" y="2799642"/>
            <a:ext cx="8396359" cy="2209569"/>
            <a:chOff x="0" y="0"/>
            <a:chExt cx="2211387" cy="581944"/>
          </a:xfrm>
        </p:grpSpPr>
        <p:sp>
          <p:nvSpPr>
            <p:cNvPr name="Freeform 9" id="9"/>
            <p:cNvSpPr/>
            <p:nvPr/>
          </p:nvSpPr>
          <p:spPr>
            <a:xfrm flipH="false" flipV="false" rot="0">
              <a:off x="0" y="0"/>
              <a:ext cx="2211387" cy="581944"/>
            </a:xfrm>
            <a:custGeom>
              <a:avLst/>
              <a:gdLst/>
              <a:ahLst/>
              <a:cxnLst/>
              <a:rect r="r" b="b" t="t" l="l"/>
              <a:pathLst>
                <a:path h="581944" w="2211387">
                  <a:moveTo>
                    <a:pt x="38726" y="0"/>
                  </a:moveTo>
                  <a:lnTo>
                    <a:pt x="2172660" y="0"/>
                  </a:lnTo>
                  <a:cubicBezTo>
                    <a:pt x="2194048" y="0"/>
                    <a:pt x="2211387" y="17338"/>
                    <a:pt x="2211387" y="38726"/>
                  </a:cubicBezTo>
                  <a:lnTo>
                    <a:pt x="2211387" y="543218"/>
                  </a:lnTo>
                  <a:cubicBezTo>
                    <a:pt x="2211387" y="564606"/>
                    <a:pt x="2194048" y="581944"/>
                    <a:pt x="2172660" y="581944"/>
                  </a:cubicBezTo>
                  <a:lnTo>
                    <a:pt x="38726" y="581944"/>
                  </a:lnTo>
                  <a:cubicBezTo>
                    <a:pt x="28456" y="581944"/>
                    <a:pt x="18605" y="577864"/>
                    <a:pt x="11343" y="570601"/>
                  </a:cubicBezTo>
                  <a:cubicBezTo>
                    <a:pt x="4080" y="563339"/>
                    <a:pt x="0" y="553489"/>
                    <a:pt x="0" y="543218"/>
                  </a:cubicBezTo>
                  <a:lnTo>
                    <a:pt x="0" y="38726"/>
                  </a:lnTo>
                  <a:cubicBezTo>
                    <a:pt x="0" y="17338"/>
                    <a:pt x="17338" y="0"/>
                    <a:pt x="38726" y="0"/>
                  </a:cubicBezTo>
                  <a:close/>
                </a:path>
              </a:pathLst>
            </a:custGeom>
            <a:gradFill rotWithShape="true">
              <a:gsLst>
                <a:gs pos="0">
                  <a:srgbClr val="000F9B">
                    <a:alpha val="100000"/>
                  </a:srgbClr>
                </a:gs>
                <a:gs pos="50000">
                  <a:srgbClr val="EB0000">
                    <a:alpha val="100000"/>
                  </a:srgbClr>
                </a:gs>
                <a:gs pos="100000">
                  <a:srgbClr val="A000EB">
                    <a:alpha val="100000"/>
                  </a:srgbClr>
                </a:gs>
              </a:gsLst>
              <a:path path="circle">
                <a:fillToRect l="0" r="100000" t="0" b="100000"/>
              </a:path>
              <a:tileRect r="0" l="-100000" b="0" t="-100000"/>
            </a:gradFill>
          </p:spPr>
        </p:sp>
        <p:sp>
          <p:nvSpPr>
            <p:cNvPr name="TextBox 10" id="10"/>
            <p:cNvSpPr txBox="true"/>
            <p:nvPr/>
          </p:nvSpPr>
          <p:spPr>
            <a:xfrm>
              <a:off x="0" y="-66675"/>
              <a:ext cx="2211387" cy="648619"/>
            </a:xfrm>
            <a:prstGeom prst="rect">
              <a:avLst/>
            </a:prstGeom>
          </p:spPr>
          <p:txBody>
            <a:bodyPr anchor="ctr" rtlCol="false" tIns="50800" lIns="50800" bIns="50800" rIns="50800"/>
            <a:lstStyle/>
            <a:p>
              <a:pPr algn="ctr">
                <a:lnSpc>
                  <a:spcPts val="3151"/>
                </a:lnSpc>
              </a:pPr>
            </a:p>
          </p:txBody>
        </p:sp>
      </p:grpSp>
      <p:sp>
        <p:nvSpPr>
          <p:cNvPr name="Freeform 11" id="11"/>
          <p:cNvSpPr/>
          <p:nvPr/>
        </p:nvSpPr>
        <p:spPr>
          <a:xfrm flipH="false" flipV="false" rot="0">
            <a:off x="16342306" y="3575611"/>
            <a:ext cx="671356" cy="671356"/>
          </a:xfrm>
          <a:custGeom>
            <a:avLst/>
            <a:gdLst/>
            <a:ahLst/>
            <a:cxnLst/>
            <a:rect r="r" b="b" t="t" l="l"/>
            <a:pathLst>
              <a:path h="671356" w="671356">
                <a:moveTo>
                  <a:pt x="0" y="0"/>
                </a:moveTo>
                <a:lnTo>
                  <a:pt x="671356" y="0"/>
                </a:lnTo>
                <a:lnTo>
                  <a:pt x="671356" y="671356"/>
                </a:lnTo>
                <a:lnTo>
                  <a:pt x="0" y="67135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803986" y="803986"/>
            <a:ext cx="449429" cy="449429"/>
          </a:xfrm>
          <a:custGeom>
            <a:avLst/>
            <a:gdLst/>
            <a:ahLst/>
            <a:cxnLst/>
            <a:rect r="r" b="b" t="t" l="l"/>
            <a:pathLst>
              <a:path h="449429" w="449429">
                <a:moveTo>
                  <a:pt x="0" y="0"/>
                </a:moveTo>
                <a:lnTo>
                  <a:pt x="449428" y="0"/>
                </a:lnTo>
                <a:lnTo>
                  <a:pt x="449428" y="449428"/>
                </a:lnTo>
                <a:lnTo>
                  <a:pt x="0" y="44942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7036175" y="2941041"/>
            <a:ext cx="2210309" cy="1926771"/>
          </a:xfrm>
          <a:custGeom>
            <a:avLst/>
            <a:gdLst/>
            <a:ahLst/>
            <a:cxnLst/>
            <a:rect r="r" b="b" t="t" l="l"/>
            <a:pathLst>
              <a:path h="1926771" w="2210309">
                <a:moveTo>
                  <a:pt x="0" y="0"/>
                </a:moveTo>
                <a:lnTo>
                  <a:pt x="2210308" y="0"/>
                </a:lnTo>
                <a:lnTo>
                  <a:pt x="2210308" y="1926771"/>
                </a:lnTo>
                <a:lnTo>
                  <a:pt x="0" y="1926771"/>
                </a:lnTo>
                <a:lnTo>
                  <a:pt x="0" y="0"/>
                </a:lnTo>
                <a:close/>
              </a:path>
            </a:pathLst>
          </a:custGeom>
          <a:blipFill>
            <a:blip r:embed="rId6"/>
            <a:stretch>
              <a:fillRect l="-22192" t="0" r="-327055" b="-283896"/>
            </a:stretch>
          </a:blipFill>
        </p:spPr>
      </p:sp>
      <p:sp>
        <p:nvSpPr>
          <p:cNvPr name="TextBox 14" id="14"/>
          <p:cNvSpPr txBox="true"/>
          <p:nvPr/>
        </p:nvSpPr>
        <p:spPr>
          <a:xfrm rot="0">
            <a:off x="1363845" y="3138871"/>
            <a:ext cx="5478382" cy="1407287"/>
          </a:xfrm>
          <a:prstGeom prst="rect">
            <a:avLst/>
          </a:prstGeom>
        </p:spPr>
        <p:txBody>
          <a:bodyPr anchor="t" rtlCol="false" tIns="0" lIns="0" bIns="0" rIns="0">
            <a:spAutoFit/>
          </a:bodyPr>
          <a:lstStyle/>
          <a:p>
            <a:pPr algn="just">
              <a:lnSpc>
                <a:spcPts val="3784"/>
              </a:lnSpc>
            </a:pPr>
            <a:r>
              <a:rPr lang="en-US" sz="2200">
                <a:solidFill>
                  <a:srgbClr val="FFFFFF"/>
                </a:solidFill>
                <a:latin typeface="Poppins"/>
                <a:ea typeface="Poppins"/>
                <a:cs typeface="Poppins"/>
                <a:sym typeface="Poppins"/>
              </a:rPr>
              <a:t>Most records are No or Low Risk, indicating good data quality, but a non-trivial segment needs scrutiny.</a:t>
            </a:r>
          </a:p>
        </p:txBody>
      </p:sp>
      <p:sp>
        <p:nvSpPr>
          <p:cNvPr name="TextBox 15" id="15"/>
          <p:cNvSpPr txBox="true"/>
          <p:nvPr/>
        </p:nvSpPr>
        <p:spPr>
          <a:xfrm rot="0">
            <a:off x="10985531" y="3613711"/>
            <a:ext cx="5079524" cy="826105"/>
          </a:xfrm>
          <a:prstGeom prst="rect">
            <a:avLst/>
          </a:prstGeom>
        </p:spPr>
        <p:txBody>
          <a:bodyPr anchor="t" rtlCol="false" tIns="0" lIns="0" bIns="0" rIns="0">
            <a:spAutoFit/>
          </a:bodyPr>
          <a:lstStyle/>
          <a:p>
            <a:pPr algn="l">
              <a:lnSpc>
                <a:spcPts val="5835"/>
              </a:lnSpc>
            </a:pPr>
            <a:r>
              <a:rPr lang="en-US" sz="5720" spc="-257" b="true">
                <a:solidFill>
                  <a:srgbClr val="FFFFFF"/>
                </a:solidFill>
                <a:latin typeface="Telegraf Bold"/>
                <a:ea typeface="Telegraf Bold"/>
                <a:cs typeface="Telegraf Bold"/>
                <a:sym typeface="Telegraf Bold"/>
              </a:rPr>
              <a:t>Visualizations</a:t>
            </a:r>
          </a:p>
        </p:txBody>
      </p:sp>
      <p:sp>
        <p:nvSpPr>
          <p:cNvPr name="TextBox 16" id="16"/>
          <p:cNvSpPr txBox="true"/>
          <p:nvPr/>
        </p:nvSpPr>
        <p:spPr>
          <a:xfrm rot="0">
            <a:off x="1363845" y="768097"/>
            <a:ext cx="3551055" cy="445006"/>
          </a:xfrm>
          <a:prstGeom prst="rect">
            <a:avLst/>
          </a:prstGeom>
        </p:spPr>
        <p:txBody>
          <a:bodyPr anchor="t" rtlCol="false" tIns="0" lIns="0" bIns="0" rIns="0">
            <a:spAutoFit/>
          </a:bodyPr>
          <a:lstStyle/>
          <a:p>
            <a:pPr algn="l">
              <a:lnSpc>
                <a:spcPts val="3391"/>
              </a:lnSpc>
              <a:spcBef>
                <a:spcPct val="0"/>
              </a:spcBef>
            </a:pPr>
            <a:r>
              <a:rPr lang="en-US" b="true" sz="2422" spc="-109">
                <a:solidFill>
                  <a:srgbClr val="FFFFFF"/>
                </a:solidFill>
                <a:latin typeface="Telegraf Bold"/>
                <a:ea typeface="Telegraf Bold"/>
                <a:cs typeface="Telegraf Bold"/>
                <a:sym typeface="Telegraf Bold"/>
              </a:rPr>
              <a:t>Forensics Analytics</a:t>
            </a:r>
          </a:p>
        </p:txBody>
      </p:sp>
      <p:grpSp>
        <p:nvGrpSpPr>
          <p:cNvPr name="Group 17" id="17"/>
          <p:cNvGrpSpPr/>
          <p:nvPr/>
        </p:nvGrpSpPr>
        <p:grpSpPr>
          <a:xfrm rot="0">
            <a:off x="701502" y="6340578"/>
            <a:ext cx="16884996" cy="3052120"/>
            <a:chOff x="0" y="0"/>
            <a:chExt cx="4447077" cy="803850"/>
          </a:xfrm>
        </p:grpSpPr>
        <p:sp>
          <p:nvSpPr>
            <p:cNvPr name="Freeform 18" id="18"/>
            <p:cNvSpPr/>
            <p:nvPr/>
          </p:nvSpPr>
          <p:spPr>
            <a:xfrm flipH="false" flipV="false" rot="0">
              <a:off x="0" y="0"/>
              <a:ext cx="4447077" cy="803850"/>
            </a:xfrm>
            <a:custGeom>
              <a:avLst/>
              <a:gdLst/>
              <a:ahLst/>
              <a:cxnLst/>
              <a:rect r="r" b="b" t="t" l="l"/>
              <a:pathLst>
                <a:path h="803850" w="4447077">
                  <a:moveTo>
                    <a:pt x="25676" y="0"/>
                  </a:moveTo>
                  <a:lnTo>
                    <a:pt x="4421401" y="0"/>
                  </a:lnTo>
                  <a:cubicBezTo>
                    <a:pt x="4435581" y="0"/>
                    <a:pt x="4447077" y="11496"/>
                    <a:pt x="4447077" y="25676"/>
                  </a:cubicBezTo>
                  <a:lnTo>
                    <a:pt x="4447077" y="778174"/>
                  </a:lnTo>
                  <a:cubicBezTo>
                    <a:pt x="4447077" y="784984"/>
                    <a:pt x="4444372" y="791515"/>
                    <a:pt x="4439557" y="796330"/>
                  </a:cubicBezTo>
                  <a:cubicBezTo>
                    <a:pt x="4434741" y="801145"/>
                    <a:pt x="4428210" y="803850"/>
                    <a:pt x="4421401" y="803850"/>
                  </a:cubicBezTo>
                  <a:lnTo>
                    <a:pt x="25676" y="803850"/>
                  </a:lnTo>
                  <a:cubicBezTo>
                    <a:pt x="11496" y="803850"/>
                    <a:pt x="0" y="792355"/>
                    <a:pt x="0" y="778174"/>
                  </a:cubicBezTo>
                  <a:lnTo>
                    <a:pt x="0" y="25676"/>
                  </a:lnTo>
                  <a:cubicBezTo>
                    <a:pt x="0" y="11496"/>
                    <a:pt x="11496" y="0"/>
                    <a:pt x="25676" y="0"/>
                  </a:cubicBezTo>
                  <a:close/>
                </a:path>
              </a:pathLst>
            </a:custGeom>
            <a:solidFill>
              <a:srgbClr val="000000">
                <a:alpha val="0"/>
              </a:srgbClr>
            </a:solidFill>
            <a:ln w="28575" cap="rnd">
              <a:solidFill>
                <a:srgbClr val="FFFFFF"/>
              </a:solidFill>
              <a:prstDash val="solid"/>
              <a:round/>
            </a:ln>
          </p:spPr>
        </p:sp>
        <p:sp>
          <p:nvSpPr>
            <p:cNvPr name="TextBox 19" id="19"/>
            <p:cNvSpPr txBox="true"/>
            <p:nvPr/>
          </p:nvSpPr>
          <p:spPr>
            <a:xfrm>
              <a:off x="0" y="-66675"/>
              <a:ext cx="4447077" cy="870525"/>
            </a:xfrm>
            <a:prstGeom prst="rect">
              <a:avLst/>
            </a:prstGeom>
          </p:spPr>
          <p:txBody>
            <a:bodyPr anchor="ctr" rtlCol="false" tIns="50800" lIns="50800" bIns="50800" rIns="50800"/>
            <a:lstStyle/>
            <a:p>
              <a:pPr algn="ctr">
                <a:lnSpc>
                  <a:spcPts val="3151"/>
                </a:lnSpc>
              </a:pPr>
            </a:p>
          </p:txBody>
        </p:sp>
      </p:grpSp>
      <p:grpSp>
        <p:nvGrpSpPr>
          <p:cNvPr name="Group 20" id="20"/>
          <p:cNvGrpSpPr/>
          <p:nvPr/>
        </p:nvGrpSpPr>
        <p:grpSpPr>
          <a:xfrm rot="0">
            <a:off x="1080470" y="6693049"/>
            <a:ext cx="15933192" cy="2209569"/>
            <a:chOff x="0" y="0"/>
            <a:chExt cx="4196396" cy="581944"/>
          </a:xfrm>
        </p:grpSpPr>
        <p:sp>
          <p:nvSpPr>
            <p:cNvPr name="Freeform 21" id="21"/>
            <p:cNvSpPr/>
            <p:nvPr/>
          </p:nvSpPr>
          <p:spPr>
            <a:xfrm flipH="false" flipV="false" rot="0">
              <a:off x="0" y="0"/>
              <a:ext cx="4196396" cy="581944"/>
            </a:xfrm>
            <a:custGeom>
              <a:avLst/>
              <a:gdLst/>
              <a:ahLst/>
              <a:cxnLst/>
              <a:rect r="r" b="b" t="t" l="l"/>
              <a:pathLst>
                <a:path h="581944" w="4196396">
                  <a:moveTo>
                    <a:pt x="20408" y="0"/>
                  </a:moveTo>
                  <a:lnTo>
                    <a:pt x="4175989" y="0"/>
                  </a:lnTo>
                  <a:cubicBezTo>
                    <a:pt x="4187259" y="0"/>
                    <a:pt x="4196396" y="9137"/>
                    <a:pt x="4196396" y="20408"/>
                  </a:cubicBezTo>
                  <a:lnTo>
                    <a:pt x="4196396" y="561536"/>
                  </a:lnTo>
                  <a:cubicBezTo>
                    <a:pt x="4196396" y="572807"/>
                    <a:pt x="4187259" y="581944"/>
                    <a:pt x="4175989" y="581944"/>
                  </a:cubicBezTo>
                  <a:lnTo>
                    <a:pt x="20408" y="581944"/>
                  </a:lnTo>
                  <a:cubicBezTo>
                    <a:pt x="9137" y="581944"/>
                    <a:pt x="0" y="572807"/>
                    <a:pt x="0" y="561536"/>
                  </a:cubicBezTo>
                  <a:lnTo>
                    <a:pt x="0" y="20408"/>
                  </a:lnTo>
                  <a:cubicBezTo>
                    <a:pt x="0" y="9137"/>
                    <a:pt x="9137" y="0"/>
                    <a:pt x="20408" y="0"/>
                  </a:cubicBezTo>
                  <a:close/>
                </a:path>
              </a:pathLst>
            </a:custGeom>
            <a:gradFill rotWithShape="true">
              <a:gsLst>
                <a:gs pos="0">
                  <a:srgbClr val="000F9B">
                    <a:alpha val="100000"/>
                  </a:srgbClr>
                </a:gs>
                <a:gs pos="50000">
                  <a:srgbClr val="EB0000">
                    <a:alpha val="100000"/>
                  </a:srgbClr>
                </a:gs>
                <a:gs pos="100000">
                  <a:srgbClr val="A000EB">
                    <a:alpha val="100000"/>
                  </a:srgbClr>
                </a:gs>
              </a:gsLst>
              <a:path path="circle">
                <a:fillToRect l="0" r="100000" t="0" b="100000"/>
              </a:path>
              <a:tileRect r="0" l="-100000" b="0" t="-100000"/>
            </a:gradFill>
          </p:spPr>
        </p:sp>
        <p:sp>
          <p:nvSpPr>
            <p:cNvPr name="TextBox 22" id="22"/>
            <p:cNvSpPr txBox="true"/>
            <p:nvPr/>
          </p:nvSpPr>
          <p:spPr>
            <a:xfrm>
              <a:off x="0" y="-66675"/>
              <a:ext cx="4196396" cy="648619"/>
            </a:xfrm>
            <a:prstGeom prst="rect">
              <a:avLst/>
            </a:prstGeom>
          </p:spPr>
          <p:txBody>
            <a:bodyPr anchor="ctr" rtlCol="false" tIns="50800" lIns="50800" bIns="50800" rIns="50800"/>
            <a:lstStyle/>
            <a:p>
              <a:pPr algn="ctr">
                <a:lnSpc>
                  <a:spcPts val="3151"/>
                </a:lnSpc>
              </a:pPr>
            </a:p>
          </p:txBody>
        </p:sp>
      </p:grpSp>
      <p:sp>
        <p:nvSpPr>
          <p:cNvPr name="Freeform 23" id="23"/>
          <p:cNvSpPr/>
          <p:nvPr/>
        </p:nvSpPr>
        <p:spPr>
          <a:xfrm flipH="false" flipV="false" rot="0">
            <a:off x="12239727" y="6951336"/>
            <a:ext cx="3699178" cy="1692996"/>
          </a:xfrm>
          <a:custGeom>
            <a:avLst/>
            <a:gdLst/>
            <a:ahLst/>
            <a:cxnLst/>
            <a:rect r="r" b="b" t="t" l="l"/>
            <a:pathLst>
              <a:path h="1692996" w="3699178">
                <a:moveTo>
                  <a:pt x="0" y="0"/>
                </a:moveTo>
                <a:lnTo>
                  <a:pt x="3699178" y="0"/>
                </a:lnTo>
                <a:lnTo>
                  <a:pt x="3699178" y="1692995"/>
                </a:lnTo>
                <a:lnTo>
                  <a:pt x="0" y="1692995"/>
                </a:lnTo>
                <a:lnTo>
                  <a:pt x="0" y="0"/>
                </a:lnTo>
                <a:close/>
              </a:path>
            </a:pathLst>
          </a:custGeom>
          <a:blipFill>
            <a:blip r:embed="rId6"/>
            <a:stretch>
              <a:fillRect l="-74624" t="-6048" r="-93807" b="-330857"/>
            </a:stretch>
          </a:blipFill>
        </p:spPr>
      </p:sp>
      <p:sp>
        <p:nvSpPr>
          <p:cNvPr name="TextBox 24" id="24"/>
          <p:cNvSpPr txBox="true"/>
          <p:nvPr/>
        </p:nvSpPr>
        <p:spPr>
          <a:xfrm rot="0">
            <a:off x="1757241" y="7074003"/>
            <a:ext cx="9228289" cy="1407287"/>
          </a:xfrm>
          <a:prstGeom prst="rect">
            <a:avLst/>
          </a:prstGeom>
        </p:spPr>
        <p:txBody>
          <a:bodyPr anchor="t" rtlCol="false" tIns="0" lIns="0" bIns="0" rIns="0">
            <a:spAutoFit/>
          </a:bodyPr>
          <a:lstStyle/>
          <a:p>
            <a:pPr algn="just">
              <a:lnSpc>
                <a:spcPts val="3784"/>
              </a:lnSpc>
            </a:pPr>
            <a:r>
              <a:rPr lang="en-US" sz="2200">
                <a:solidFill>
                  <a:srgbClr val="FFFFFF"/>
                </a:solidFill>
                <a:latin typeface="Poppins"/>
                <a:ea typeface="Poppins"/>
                <a:cs typeface="Poppins"/>
                <a:sym typeface="Poppins"/>
              </a:rPr>
              <a:t> High-risk cases cluster among the youngest, oldest, and some middle-aged voters, confirming age as a risk factor for anomalies.</a:t>
            </a:r>
          </a:p>
        </p:txBody>
      </p:sp>
      <p:grpSp>
        <p:nvGrpSpPr>
          <p:cNvPr name="Group 25" id="25"/>
          <p:cNvGrpSpPr/>
          <p:nvPr/>
        </p:nvGrpSpPr>
        <p:grpSpPr>
          <a:xfrm rot="0">
            <a:off x="9246483" y="846058"/>
            <a:ext cx="8115300" cy="367045"/>
            <a:chOff x="0" y="0"/>
            <a:chExt cx="10820400" cy="489393"/>
          </a:xfrm>
        </p:grpSpPr>
        <p:sp>
          <p:nvSpPr>
            <p:cNvPr name="TextBox 26" id="26"/>
            <p:cNvSpPr txBox="true"/>
            <p:nvPr/>
          </p:nvSpPr>
          <p:spPr>
            <a:xfrm rot="0">
              <a:off x="0" y="-37387"/>
              <a:ext cx="2216733" cy="523829"/>
            </a:xfrm>
            <a:prstGeom prst="rect">
              <a:avLst/>
            </a:prstGeom>
          </p:spPr>
          <p:txBody>
            <a:bodyPr anchor="t" rtlCol="false" tIns="0" lIns="0" bIns="0" rIns="0">
              <a:spAutoFit/>
            </a:bodyPr>
            <a:lstStyle/>
            <a:p>
              <a:pPr algn="r" marL="0" indent="0" lvl="0">
                <a:lnSpc>
                  <a:spcPts val="3151"/>
                </a:lnSpc>
                <a:spcBef>
                  <a:spcPct val="0"/>
                </a:spcBef>
              </a:pPr>
              <a:r>
                <a:rPr lang="en-US" sz="2251">
                  <a:solidFill>
                    <a:srgbClr val="FFFFFF"/>
                  </a:solidFill>
                  <a:latin typeface="Poppins"/>
                  <a:ea typeface="Poppins"/>
                  <a:cs typeface="Poppins"/>
                  <a:sym typeface="Poppins"/>
                </a:rPr>
                <a:t>Home</a:t>
              </a:r>
            </a:p>
          </p:txBody>
        </p:sp>
        <p:sp>
          <p:nvSpPr>
            <p:cNvPr name="TextBox 27" id="27"/>
            <p:cNvSpPr txBox="true"/>
            <p:nvPr/>
          </p:nvSpPr>
          <p:spPr>
            <a:xfrm rot="0">
              <a:off x="3018830" y="-34436"/>
              <a:ext cx="2542777" cy="523829"/>
            </a:xfrm>
            <a:prstGeom prst="rect">
              <a:avLst/>
            </a:prstGeom>
          </p:spPr>
          <p:txBody>
            <a:bodyPr anchor="t" rtlCol="false" tIns="0" lIns="0" bIns="0" rIns="0">
              <a:spAutoFit/>
            </a:bodyPr>
            <a:lstStyle/>
            <a:p>
              <a:pPr algn="ctr" marL="0" indent="0" lvl="0">
                <a:lnSpc>
                  <a:spcPts val="3151"/>
                </a:lnSpc>
                <a:spcBef>
                  <a:spcPct val="0"/>
                </a:spcBef>
              </a:pPr>
              <a:r>
                <a:rPr lang="en-US" sz="2251">
                  <a:solidFill>
                    <a:srgbClr val="FFFFFF"/>
                  </a:solidFill>
                  <a:latin typeface="Poppins"/>
                  <a:ea typeface="Poppins"/>
                  <a:cs typeface="Poppins"/>
                  <a:sym typeface="Poppins"/>
                </a:rPr>
                <a:t>About</a:t>
              </a:r>
            </a:p>
          </p:txBody>
        </p:sp>
        <p:sp>
          <p:nvSpPr>
            <p:cNvPr name="TextBox 28" id="28"/>
            <p:cNvSpPr txBox="true"/>
            <p:nvPr/>
          </p:nvSpPr>
          <p:spPr>
            <a:xfrm rot="0">
              <a:off x="6110306" y="-66675"/>
              <a:ext cx="2555842" cy="523829"/>
            </a:xfrm>
            <a:prstGeom prst="rect">
              <a:avLst/>
            </a:prstGeom>
          </p:spPr>
          <p:txBody>
            <a:bodyPr anchor="t" rtlCol="false" tIns="0" lIns="0" bIns="0" rIns="0">
              <a:spAutoFit/>
            </a:bodyPr>
            <a:lstStyle/>
            <a:p>
              <a:pPr algn="ctr" marL="0" indent="0" lvl="0">
                <a:lnSpc>
                  <a:spcPts val="3151"/>
                </a:lnSpc>
                <a:spcBef>
                  <a:spcPct val="0"/>
                </a:spcBef>
              </a:pPr>
              <a:r>
                <a:rPr lang="en-US" b="true" sz="2251">
                  <a:solidFill>
                    <a:srgbClr val="FFFFFF"/>
                  </a:solidFill>
                  <a:latin typeface="Poppins Bold"/>
                  <a:ea typeface="Poppins Bold"/>
                  <a:cs typeface="Poppins Bold"/>
                  <a:sym typeface="Poppins Bold"/>
                </a:rPr>
                <a:t>Content</a:t>
              </a:r>
            </a:p>
          </p:txBody>
        </p:sp>
        <p:sp>
          <p:nvSpPr>
            <p:cNvPr name="TextBox 29" id="29"/>
            <p:cNvSpPr txBox="true"/>
            <p:nvPr/>
          </p:nvSpPr>
          <p:spPr>
            <a:xfrm rot="0">
              <a:off x="7853767" y="-37387"/>
              <a:ext cx="2966633" cy="523829"/>
            </a:xfrm>
            <a:prstGeom prst="rect">
              <a:avLst/>
            </a:prstGeom>
          </p:spPr>
          <p:txBody>
            <a:bodyPr anchor="t" rtlCol="false" tIns="0" lIns="0" bIns="0" rIns="0">
              <a:spAutoFit/>
            </a:bodyPr>
            <a:lstStyle/>
            <a:p>
              <a:pPr algn="r" marL="0" indent="0" lvl="0">
                <a:lnSpc>
                  <a:spcPts val="3151"/>
                </a:lnSpc>
                <a:spcBef>
                  <a:spcPct val="0"/>
                </a:spcBef>
              </a:pPr>
              <a:r>
                <a:rPr lang="en-US" sz="2251">
                  <a:solidFill>
                    <a:srgbClr val="FFFFFF"/>
                  </a:solidFill>
                  <a:latin typeface="Poppins"/>
                  <a:ea typeface="Poppins"/>
                  <a:cs typeface="Poppins"/>
                  <a:sym typeface="Poppins"/>
                </a:rPr>
                <a:t>Others</a:t>
              </a:r>
            </a:p>
          </p:txBody>
        </p:sp>
      </p:grpSp>
    </p:spTree>
  </p:cSld>
  <p:clrMapOvr>
    <a:masterClrMapping/>
  </p:clrMapOvr>
  <p:transition spd="slow">
    <p:push dir="l"/>
  </p:transition>
</p:sld>
</file>

<file path=ppt/slides/slide1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9033D">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0">
            <a:off x="803986" y="803986"/>
            <a:ext cx="449429" cy="449429"/>
          </a:xfrm>
          <a:custGeom>
            <a:avLst/>
            <a:gdLst/>
            <a:ahLst/>
            <a:cxnLst/>
            <a:rect r="r" b="b" t="t" l="l"/>
            <a:pathLst>
              <a:path h="449429" w="449429">
                <a:moveTo>
                  <a:pt x="0" y="0"/>
                </a:moveTo>
                <a:lnTo>
                  <a:pt x="449428" y="0"/>
                </a:lnTo>
                <a:lnTo>
                  <a:pt x="449428" y="449428"/>
                </a:lnTo>
                <a:lnTo>
                  <a:pt x="0" y="4494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671775" y="2199412"/>
            <a:ext cx="6251766" cy="3460152"/>
            <a:chOff x="0" y="0"/>
            <a:chExt cx="1646556" cy="911316"/>
          </a:xfrm>
        </p:grpSpPr>
        <p:sp>
          <p:nvSpPr>
            <p:cNvPr name="Freeform 4" id="4"/>
            <p:cNvSpPr/>
            <p:nvPr/>
          </p:nvSpPr>
          <p:spPr>
            <a:xfrm flipH="false" flipV="false" rot="0">
              <a:off x="0" y="0"/>
              <a:ext cx="1646556" cy="911316"/>
            </a:xfrm>
            <a:custGeom>
              <a:avLst/>
              <a:gdLst/>
              <a:ahLst/>
              <a:cxnLst/>
              <a:rect r="r" b="b" t="t" l="l"/>
              <a:pathLst>
                <a:path h="911316" w="1646556">
                  <a:moveTo>
                    <a:pt x="69348" y="0"/>
                  </a:moveTo>
                  <a:lnTo>
                    <a:pt x="1577208" y="0"/>
                  </a:lnTo>
                  <a:cubicBezTo>
                    <a:pt x="1615507" y="0"/>
                    <a:pt x="1646556" y="31048"/>
                    <a:pt x="1646556" y="69348"/>
                  </a:cubicBezTo>
                  <a:lnTo>
                    <a:pt x="1646556" y="841968"/>
                  </a:lnTo>
                  <a:cubicBezTo>
                    <a:pt x="1646556" y="880268"/>
                    <a:pt x="1615507" y="911316"/>
                    <a:pt x="1577208" y="911316"/>
                  </a:cubicBezTo>
                  <a:lnTo>
                    <a:pt x="69348" y="911316"/>
                  </a:lnTo>
                  <a:cubicBezTo>
                    <a:pt x="31048" y="911316"/>
                    <a:pt x="0" y="880268"/>
                    <a:pt x="0" y="841968"/>
                  </a:cubicBezTo>
                  <a:lnTo>
                    <a:pt x="0" y="69348"/>
                  </a:lnTo>
                  <a:cubicBezTo>
                    <a:pt x="0" y="31048"/>
                    <a:pt x="31048" y="0"/>
                    <a:pt x="69348" y="0"/>
                  </a:cubicBezTo>
                  <a:close/>
                </a:path>
              </a:pathLst>
            </a:custGeom>
            <a:gradFill rotWithShape="true">
              <a:gsLst>
                <a:gs pos="0">
                  <a:srgbClr val="000000">
                    <a:alpha val="78000"/>
                  </a:srgbClr>
                </a:gs>
                <a:gs pos="100000">
                  <a:srgbClr val="DDDDDD">
                    <a:alpha val="14820"/>
                  </a:srgbClr>
                </a:gs>
              </a:gsLst>
              <a:lin ang="2700000"/>
            </a:gradFill>
          </p:spPr>
        </p:sp>
        <p:sp>
          <p:nvSpPr>
            <p:cNvPr name="TextBox 5" id="5"/>
            <p:cNvSpPr txBox="true"/>
            <p:nvPr/>
          </p:nvSpPr>
          <p:spPr>
            <a:xfrm>
              <a:off x="0" y="-66675"/>
              <a:ext cx="1646556" cy="977991"/>
            </a:xfrm>
            <a:prstGeom prst="rect">
              <a:avLst/>
            </a:prstGeom>
          </p:spPr>
          <p:txBody>
            <a:bodyPr anchor="ctr" rtlCol="false" tIns="50800" lIns="50800" bIns="50800" rIns="50800"/>
            <a:lstStyle/>
            <a:p>
              <a:pPr algn="ctr">
                <a:lnSpc>
                  <a:spcPts val="3151"/>
                </a:lnSpc>
              </a:pPr>
            </a:p>
          </p:txBody>
        </p:sp>
      </p:grpSp>
      <p:grpSp>
        <p:nvGrpSpPr>
          <p:cNvPr name="Group 6" id="6"/>
          <p:cNvGrpSpPr/>
          <p:nvPr/>
        </p:nvGrpSpPr>
        <p:grpSpPr>
          <a:xfrm rot="0">
            <a:off x="10806550" y="5143500"/>
            <a:ext cx="5340263" cy="3862374"/>
            <a:chOff x="0" y="0"/>
            <a:chExt cx="1406489" cy="1017251"/>
          </a:xfrm>
        </p:grpSpPr>
        <p:sp>
          <p:nvSpPr>
            <p:cNvPr name="Freeform 7" id="7"/>
            <p:cNvSpPr/>
            <p:nvPr/>
          </p:nvSpPr>
          <p:spPr>
            <a:xfrm flipH="false" flipV="false" rot="0">
              <a:off x="0" y="0"/>
              <a:ext cx="1406489" cy="1017251"/>
            </a:xfrm>
            <a:custGeom>
              <a:avLst/>
              <a:gdLst/>
              <a:ahLst/>
              <a:cxnLst/>
              <a:rect r="r" b="b" t="t" l="l"/>
              <a:pathLst>
                <a:path h="1017251" w="1406489">
                  <a:moveTo>
                    <a:pt x="81185" y="0"/>
                  </a:moveTo>
                  <a:lnTo>
                    <a:pt x="1325304" y="0"/>
                  </a:lnTo>
                  <a:cubicBezTo>
                    <a:pt x="1346836" y="0"/>
                    <a:pt x="1367485" y="8553"/>
                    <a:pt x="1382711" y="23778"/>
                  </a:cubicBezTo>
                  <a:cubicBezTo>
                    <a:pt x="1397936" y="39004"/>
                    <a:pt x="1406489" y="59653"/>
                    <a:pt x="1406489" y="81185"/>
                  </a:cubicBezTo>
                  <a:lnTo>
                    <a:pt x="1406489" y="936066"/>
                  </a:lnTo>
                  <a:cubicBezTo>
                    <a:pt x="1406489" y="980903"/>
                    <a:pt x="1370141" y="1017251"/>
                    <a:pt x="1325304" y="1017251"/>
                  </a:cubicBezTo>
                  <a:lnTo>
                    <a:pt x="81185" y="1017251"/>
                  </a:lnTo>
                  <a:cubicBezTo>
                    <a:pt x="36348" y="1017251"/>
                    <a:pt x="0" y="980903"/>
                    <a:pt x="0" y="936066"/>
                  </a:cubicBezTo>
                  <a:lnTo>
                    <a:pt x="0" y="81185"/>
                  </a:lnTo>
                  <a:cubicBezTo>
                    <a:pt x="0" y="36348"/>
                    <a:pt x="36348" y="0"/>
                    <a:pt x="81185" y="0"/>
                  </a:cubicBezTo>
                  <a:close/>
                </a:path>
              </a:pathLst>
            </a:custGeom>
            <a:gradFill rotWithShape="true">
              <a:gsLst>
                <a:gs pos="0">
                  <a:srgbClr val="000000">
                    <a:alpha val="78000"/>
                  </a:srgbClr>
                </a:gs>
                <a:gs pos="100000">
                  <a:srgbClr val="DDDDDD">
                    <a:alpha val="14820"/>
                  </a:srgbClr>
                </a:gs>
              </a:gsLst>
              <a:lin ang="2700000"/>
            </a:gradFill>
          </p:spPr>
        </p:sp>
        <p:sp>
          <p:nvSpPr>
            <p:cNvPr name="TextBox 8" id="8"/>
            <p:cNvSpPr txBox="true"/>
            <p:nvPr/>
          </p:nvSpPr>
          <p:spPr>
            <a:xfrm>
              <a:off x="0" y="-66675"/>
              <a:ext cx="1406489" cy="1083926"/>
            </a:xfrm>
            <a:prstGeom prst="rect">
              <a:avLst/>
            </a:prstGeom>
          </p:spPr>
          <p:txBody>
            <a:bodyPr anchor="ctr" rtlCol="false" tIns="50800" lIns="50800" bIns="50800" rIns="50800"/>
            <a:lstStyle/>
            <a:p>
              <a:pPr algn="ctr">
                <a:lnSpc>
                  <a:spcPts val="3151"/>
                </a:lnSpc>
              </a:pPr>
            </a:p>
          </p:txBody>
        </p:sp>
      </p:grpSp>
      <p:grpSp>
        <p:nvGrpSpPr>
          <p:cNvPr name="Group 9" id="9"/>
          <p:cNvGrpSpPr/>
          <p:nvPr/>
        </p:nvGrpSpPr>
        <p:grpSpPr>
          <a:xfrm rot="0">
            <a:off x="9962689" y="2199412"/>
            <a:ext cx="6769307" cy="1412802"/>
            <a:chOff x="0" y="0"/>
            <a:chExt cx="9025743" cy="1883736"/>
          </a:xfrm>
        </p:grpSpPr>
        <p:grpSp>
          <p:nvGrpSpPr>
            <p:cNvPr name="Group 10" id="10"/>
            <p:cNvGrpSpPr/>
            <p:nvPr/>
          </p:nvGrpSpPr>
          <p:grpSpPr>
            <a:xfrm rot="0">
              <a:off x="0" y="0"/>
              <a:ext cx="9025743" cy="1883736"/>
              <a:chOff x="0" y="0"/>
              <a:chExt cx="1782863" cy="372096"/>
            </a:xfrm>
          </p:grpSpPr>
          <p:sp>
            <p:nvSpPr>
              <p:cNvPr name="Freeform 11" id="11"/>
              <p:cNvSpPr/>
              <p:nvPr/>
            </p:nvSpPr>
            <p:spPr>
              <a:xfrm flipH="false" flipV="false" rot="0">
                <a:off x="0" y="0"/>
                <a:ext cx="1782863" cy="372096"/>
              </a:xfrm>
              <a:custGeom>
                <a:avLst/>
                <a:gdLst/>
                <a:ahLst/>
                <a:cxnLst/>
                <a:rect r="r" b="b" t="t" l="l"/>
                <a:pathLst>
                  <a:path h="372096" w="1782863">
                    <a:moveTo>
                      <a:pt x="64046" y="0"/>
                    </a:moveTo>
                    <a:lnTo>
                      <a:pt x="1718817" y="0"/>
                    </a:lnTo>
                    <a:cubicBezTo>
                      <a:pt x="1754188" y="0"/>
                      <a:pt x="1782863" y="28674"/>
                      <a:pt x="1782863" y="64046"/>
                    </a:cubicBezTo>
                    <a:lnTo>
                      <a:pt x="1782863" y="308050"/>
                    </a:lnTo>
                    <a:cubicBezTo>
                      <a:pt x="1782863" y="343422"/>
                      <a:pt x="1754188" y="372096"/>
                      <a:pt x="1718817" y="372096"/>
                    </a:cubicBezTo>
                    <a:lnTo>
                      <a:pt x="64046" y="372096"/>
                    </a:lnTo>
                    <a:cubicBezTo>
                      <a:pt x="28674" y="372096"/>
                      <a:pt x="0" y="343422"/>
                      <a:pt x="0" y="308050"/>
                    </a:cubicBezTo>
                    <a:lnTo>
                      <a:pt x="0" y="64046"/>
                    </a:lnTo>
                    <a:cubicBezTo>
                      <a:pt x="0" y="28674"/>
                      <a:pt x="28674" y="0"/>
                      <a:pt x="64046" y="0"/>
                    </a:cubicBezTo>
                    <a:close/>
                  </a:path>
                </a:pathLst>
              </a:custGeom>
              <a:solidFill>
                <a:srgbClr val="000000">
                  <a:alpha val="0"/>
                </a:srgbClr>
              </a:solidFill>
              <a:ln w="28575" cap="rnd">
                <a:solidFill>
                  <a:srgbClr val="FFFFFF"/>
                </a:solidFill>
                <a:prstDash val="solid"/>
                <a:round/>
              </a:ln>
            </p:spPr>
          </p:sp>
          <p:sp>
            <p:nvSpPr>
              <p:cNvPr name="TextBox 12" id="12"/>
              <p:cNvSpPr txBox="true"/>
              <p:nvPr/>
            </p:nvSpPr>
            <p:spPr>
              <a:xfrm>
                <a:off x="0" y="-57150"/>
                <a:ext cx="1782863" cy="429246"/>
              </a:xfrm>
              <a:prstGeom prst="rect">
                <a:avLst/>
              </a:prstGeom>
            </p:spPr>
            <p:txBody>
              <a:bodyPr anchor="ctr" rtlCol="false" tIns="50800" lIns="50800" bIns="50800" rIns="50800"/>
              <a:lstStyle/>
              <a:p>
                <a:pPr algn="ctr">
                  <a:lnSpc>
                    <a:spcPts val="2731"/>
                  </a:lnSpc>
                </a:pPr>
              </a:p>
            </p:txBody>
          </p:sp>
        </p:grpSp>
        <p:sp>
          <p:nvSpPr>
            <p:cNvPr name="TextBox 13" id="13"/>
            <p:cNvSpPr txBox="true"/>
            <p:nvPr/>
          </p:nvSpPr>
          <p:spPr>
            <a:xfrm rot="0">
              <a:off x="994400" y="482995"/>
              <a:ext cx="7554818" cy="913129"/>
            </a:xfrm>
            <a:prstGeom prst="rect">
              <a:avLst/>
            </a:prstGeom>
          </p:spPr>
          <p:txBody>
            <a:bodyPr anchor="t" rtlCol="false" tIns="0" lIns="0" bIns="0" rIns="0">
              <a:spAutoFit/>
            </a:bodyPr>
            <a:lstStyle/>
            <a:p>
              <a:pPr algn="l">
                <a:lnSpc>
                  <a:spcPts val="4738"/>
                </a:lnSpc>
              </a:pPr>
              <a:r>
                <a:rPr lang="en-US" b="true" sz="4645" spc="-209">
                  <a:solidFill>
                    <a:srgbClr val="FFFFFF"/>
                  </a:solidFill>
                  <a:latin typeface="Telegraf Bold"/>
                  <a:ea typeface="Telegraf Bold"/>
                  <a:cs typeface="Telegraf Bold"/>
                  <a:sym typeface="Telegraf Bold"/>
                </a:rPr>
                <a:t>Fraud Risk Scores</a:t>
              </a:r>
            </a:p>
          </p:txBody>
        </p:sp>
      </p:grpSp>
      <p:sp>
        <p:nvSpPr>
          <p:cNvPr name="Freeform 14" id="14"/>
          <p:cNvSpPr/>
          <p:nvPr/>
        </p:nvSpPr>
        <p:spPr>
          <a:xfrm flipH="false" flipV="false" rot="0">
            <a:off x="7639103" y="7484918"/>
            <a:ext cx="1504897" cy="797595"/>
          </a:xfrm>
          <a:custGeom>
            <a:avLst/>
            <a:gdLst/>
            <a:ahLst/>
            <a:cxnLst/>
            <a:rect r="r" b="b" t="t" l="l"/>
            <a:pathLst>
              <a:path h="797595" w="1504897">
                <a:moveTo>
                  <a:pt x="0" y="0"/>
                </a:moveTo>
                <a:lnTo>
                  <a:pt x="1504897" y="0"/>
                </a:lnTo>
                <a:lnTo>
                  <a:pt x="1504897" y="797595"/>
                </a:lnTo>
                <a:lnTo>
                  <a:pt x="0" y="79759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5" id="15"/>
          <p:cNvSpPr/>
          <p:nvPr/>
        </p:nvSpPr>
        <p:spPr>
          <a:xfrm flipH="false" flipV="false" rot="-10800000">
            <a:off x="7882578" y="2312668"/>
            <a:ext cx="1518896" cy="805015"/>
          </a:xfrm>
          <a:custGeom>
            <a:avLst/>
            <a:gdLst/>
            <a:ahLst/>
            <a:cxnLst/>
            <a:rect r="r" b="b" t="t" l="l"/>
            <a:pathLst>
              <a:path h="805015" w="1518896">
                <a:moveTo>
                  <a:pt x="0" y="0"/>
                </a:moveTo>
                <a:lnTo>
                  <a:pt x="1518896" y="0"/>
                </a:lnTo>
                <a:lnTo>
                  <a:pt x="1518896" y="805015"/>
                </a:lnTo>
                <a:lnTo>
                  <a:pt x="0" y="80501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6" id="16"/>
          <p:cNvGrpSpPr/>
          <p:nvPr/>
        </p:nvGrpSpPr>
        <p:grpSpPr>
          <a:xfrm rot="0">
            <a:off x="671775" y="7074687"/>
            <a:ext cx="6251766" cy="2012877"/>
            <a:chOff x="0" y="0"/>
            <a:chExt cx="8335688" cy="2683836"/>
          </a:xfrm>
        </p:grpSpPr>
        <p:grpSp>
          <p:nvGrpSpPr>
            <p:cNvPr name="Group 17" id="17"/>
            <p:cNvGrpSpPr/>
            <p:nvPr/>
          </p:nvGrpSpPr>
          <p:grpSpPr>
            <a:xfrm rot="0">
              <a:off x="0" y="0"/>
              <a:ext cx="8335688" cy="2683836"/>
              <a:chOff x="0" y="0"/>
              <a:chExt cx="1646556" cy="530140"/>
            </a:xfrm>
          </p:grpSpPr>
          <p:sp>
            <p:nvSpPr>
              <p:cNvPr name="Freeform 18" id="18"/>
              <p:cNvSpPr/>
              <p:nvPr/>
            </p:nvSpPr>
            <p:spPr>
              <a:xfrm flipH="false" flipV="false" rot="0">
                <a:off x="0" y="0"/>
                <a:ext cx="1646556" cy="530140"/>
              </a:xfrm>
              <a:custGeom>
                <a:avLst/>
                <a:gdLst/>
                <a:ahLst/>
                <a:cxnLst/>
                <a:rect r="r" b="b" t="t" l="l"/>
                <a:pathLst>
                  <a:path h="530140" w="1646556">
                    <a:moveTo>
                      <a:pt x="69348" y="0"/>
                    </a:moveTo>
                    <a:lnTo>
                      <a:pt x="1577208" y="0"/>
                    </a:lnTo>
                    <a:cubicBezTo>
                      <a:pt x="1615507" y="0"/>
                      <a:pt x="1646556" y="31048"/>
                      <a:pt x="1646556" y="69348"/>
                    </a:cubicBezTo>
                    <a:lnTo>
                      <a:pt x="1646556" y="460792"/>
                    </a:lnTo>
                    <a:cubicBezTo>
                      <a:pt x="1646556" y="499092"/>
                      <a:pt x="1615507" y="530140"/>
                      <a:pt x="1577208" y="530140"/>
                    </a:cubicBezTo>
                    <a:lnTo>
                      <a:pt x="69348" y="530140"/>
                    </a:lnTo>
                    <a:cubicBezTo>
                      <a:pt x="31048" y="530140"/>
                      <a:pt x="0" y="499092"/>
                      <a:pt x="0" y="460792"/>
                    </a:cubicBezTo>
                    <a:lnTo>
                      <a:pt x="0" y="69348"/>
                    </a:lnTo>
                    <a:cubicBezTo>
                      <a:pt x="0" y="31048"/>
                      <a:pt x="31048" y="0"/>
                      <a:pt x="69348" y="0"/>
                    </a:cubicBezTo>
                    <a:close/>
                  </a:path>
                </a:pathLst>
              </a:custGeom>
              <a:solidFill>
                <a:srgbClr val="000000">
                  <a:alpha val="0"/>
                </a:srgbClr>
              </a:solidFill>
              <a:ln w="28575" cap="rnd">
                <a:solidFill>
                  <a:srgbClr val="FFFFFF"/>
                </a:solidFill>
                <a:prstDash val="solid"/>
                <a:round/>
              </a:ln>
            </p:spPr>
          </p:sp>
          <p:sp>
            <p:nvSpPr>
              <p:cNvPr name="TextBox 19" id="19"/>
              <p:cNvSpPr txBox="true"/>
              <p:nvPr/>
            </p:nvSpPr>
            <p:spPr>
              <a:xfrm>
                <a:off x="0" y="-57150"/>
                <a:ext cx="1646556" cy="587290"/>
              </a:xfrm>
              <a:prstGeom prst="rect">
                <a:avLst/>
              </a:prstGeom>
            </p:spPr>
            <p:txBody>
              <a:bodyPr anchor="ctr" rtlCol="false" tIns="50800" lIns="50800" bIns="50800" rIns="50800"/>
              <a:lstStyle/>
              <a:p>
                <a:pPr algn="ctr">
                  <a:lnSpc>
                    <a:spcPts val="2731"/>
                  </a:lnSpc>
                </a:pPr>
              </a:p>
            </p:txBody>
          </p:sp>
        </p:grpSp>
        <p:sp>
          <p:nvSpPr>
            <p:cNvPr name="TextBox 20" id="20"/>
            <p:cNvSpPr txBox="true"/>
            <p:nvPr/>
          </p:nvSpPr>
          <p:spPr>
            <a:xfrm rot="0">
              <a:off x="918374" y="482995"/>
              <a:ext cx="6977221" cy="1713229"/>
            </a:xfrm>
            <a:prstGeom prst="rect">
              <a:avLst/>
            </a:prstGeom>
          </p:spPr>
          <p:txBody>
            <a:bodyPr anchor="t" rtlCol="false" tIns="0" lIns="0" bIns="0" rIns="0">
              <a:spAutoFit/>
            </a:bodyPr>
            <a:lstStyle/>
            <a:p>
              <a:pPr algn="l">
                <a:lnSpc>
                  <a:spcPts val="4738"/>
                </a:lnSpc>
              </a:pPr>
              <a:r>
                <a:rPr lang="en-US" b="true" sz="4645" spc="-209">
                  <a:solidFill>
                    <a:srgbClr val="FFFFFF"/>
                  </a:solidFill>
                  <a:latin typeface="Telegraf Bold"/>
                  <a:ea typeface="Telegraf Bold"/>
                  <a:cs typeface="Telegraf Bold"/>
                  <a:sym typeface="Telegraf Bold"/>
                </a:rPr>
                <a:t>Risk Category Distribution</a:t>
              </a:r>
            </a:p>
          </p:txBody>
        </p:sp>
      </p:grpSp>
      <p:sp>
        <p:nvSpPr>
          <p:cNvPr name="Freeform 21" id="21"/>
          <p:cNvSpPr/>
          <p:nvPr/>
        </p:nvSpPr>
        <p:spPr>
          <a:xfrm flipH="false" flipV="false" rot="0">
            <a:off x="1253414" y="2715175"/>
            <a:ext cx="6133929" cy="3308667"/>
          </a:xfrm>
          <a:custGeom>
            <a:avLst/>
            <a:gdLst/>
            <a:ahLst/>
            <a:cxnLst/>
            <a:rect r="r" b="b" t="t" l="l"/>
            <a:pathLst>
              <a:path h="3308667" w="6133929">
                <a:moveTo>
                  <a:pt x="0" y="0"/>
                </a:moveTo>
                <a:lnTo>
                  <a:pt x="6133929" y="0"/>
                </a:lnTo>
                <a:lnTo>
                  <a:pt x="6133929" y="3308667"/>
                </a:lnTo>
                <a:lnTo>
                  <a:pt x="0" y="3308667"/>
                </a:lnTo>
                <a:lnTo>
                  <a:pt x="0" y="0"/>
                </a:lnTo>
                <a:close/>
              </a:path>
            </a:pathLst>
          </a:custGeom>
          <a:blipFill>
            <a:blip r:embed="rId6"/>
            <a:stretch>
              <a:fillRect l="0" t="0" r="-66184" b="0"/>
            </a:stretch>
          </a:blipFill>
        </p:spPr>
      </p:sp>
      <p:sp>
        <p:nvSpPr>
          <p:cNvPr name="Freeform 22" id="22"/>
          <p:cNvSpPr/>
          <p:nvPr/>
        </p:nvSpPr>
        <p:spPr>
          <a:xfrm flipH="false" flipV="false" rot="0">
            <a:off x="11845210" y="4583764"/>
            <a:ext cx="4886787" cy="4051851"/>
          </a:xfrm>
          <a:custGeom>
            <a:avLst/>
            <a:gdLst/>
            <a:ahLst/>
            <a:cxnLst/>
            <a:rect r="r" b="b" t="t" l="l"/>
            <a:pathLst>
              <a:path h="4051851" w="4886787">
                <a:moveTo>
                  <a:pt x="0" y="0"/>
                </a:moveTo>
                <a:lnTo>
                  <a:pt x="4886787" y="0"/>
                </a:lnTo>
                <a:lnTo>
                  <a:pt x="4886787" y="4051851"/>
                </a:lnTo>
                <a:lnTo>
                  <a:pt x="0" y="4051851"/>
                </a:lnTo>
                <a:lnTo>
                  <a:pt x="0" y="0"/>
                </a:lnTo>
                <a:close/>
              </a:path>
            </a:pathLst>
          </a:custGeom>
          <a:blipFill>
            <a:blip r:embed="rId6"/>
            <a:stretch>
              <a:fillRect l="-155449" t="0" r="0" b="0"/>
            </a:stretch>
          </a:blipFill>
        </p:spPr>
      </p:sp>
      <p:sp>
        <p:nvSpPr>
          <p:cNvPr name="TextBox 23" id="23"/>
          <p:cNvSpPr txBox="true"/>
          <p:nvPr/>
        </p:nvSpPr>
        <p:spPr>
          <a:xfrm rot="0">
            <a:off x="9144000" y="841660"/>
            <a:ext cx="1662550" cy="409541"/>
          </a:xfrm>
          <a:prstGeom prst="rect">
            <a:avLst/>
          </a:prstGeom>
        </p:spPr>
        <p:txBody>
          <a:bodyPr anchor="t" rtlCol="false" tIns="0" lIns="0" bIns="0" rIns="0">
            <a:spAutoFit/>
          </a:bodyPr>
          <a:lstStyle/>
          <a:p>
            <a:pPr algn="r" marL="0" indent="0" lvl="0">
              <a:lnSpc>
                <a:spcPts val="3151"/>
              </a:lnSpc>
              <a:spcBef>
                <a:spcPct val="0"/>
              </a:spcBef>
            </a:pPr>
            <a:r>
              <a:rPr lang="en-US" sz="2251">
                <a:solidFill>
                  <a:srgbClr val="FFFFFF"/>
                </a:solidFill>
                <a:latin typeface="Poppins"/>
                <a:ea typeface="Poppins"/>
                <a:cs typeface="Poppins"/>
                <a:sym typeface="Poppins"/>
              </a:rPr>
              <a:t>Home</a:t>
            </a:r>
          </a:p>
        </p:txBody>
      </p:sp>
      <p:sp>
        <p:nvSpPr>
          <p:cNvPr name="TextBox 24" id="24"/>
          <p:cNvSpPr txBox="true"/>
          <p:nvPr/>
        </p:nvSpPr>
        <p:spPr>
          <a:xfrm rot="0">
            <a:off x="11408122" y="843874"/>
            <a:ext cx="1907082" cy="409541"/>
          </a:xfrm>
          <a:prstGeom prst="rect">
            <a:avLst/>
          </a:prstGeom>
        </p:spPr>
        <p:txBody>
          <a:bodyPr anchor="t" rtlCol="false" tIns="0" lIns="0" bIns="0" rIns="0">
            <a:spAutoFit/>
          </a:bodyPr>
          <a:lstStyle/>
          <a:p>
            <a:pPr algn="ctr" marL="0" indent="0" lvl="0">
              <a:lnSpc>
                <a:spcPts val="3151"/>
              </a:lnSpc>
              <a:spcBef>
                <a:spcPct val="0"/>
              </a:spcBef>
            </a:pPr>
            <a:r>
              <a:rPr lang="en-US" sz="2251">
                <a:solidFill>
                  <a:srgbClr val="FFFFFF"/>
                </a:solidFill>
                <a:latin typeface="Poppins"/>
                <a:ea typeface="Poppins"/>
                <a:cs typeface="Poppins"/>
                <a:sym typeface="Poppins"/>
              </a:rPr>
              <a:t>About</a:t>
            </a:r>
          </a:p>
        </p:txBody>
      </p:sp>
      <p:sp>
        <p:nvSpPr>
          <p:cNvPr name="TextBox 25" id="25"/>
          <p:cNvSpPr txBox="true"/>
          <p:nvPr/>
        </p:nvSpPr>
        <p:spPr>
          <a:xfrm rot="0">
            <a:off x="13726729" y="819695"/>
            <a:ext cx="1916881" cy="409541"/>
          </a:xfrm>
          <a:prstGeom prst="rect">
            <a:avLst/>
          </a:prstGeom>
        </p:spPr>
        <p:txBody>
          <a:bodyPr anchor="t" rtlCol="false" tIns="0" lIns="0" bIns="0" rIns="0">
            <a:spAutoFit/>
          </a:bodyPr>
          <a:lstStyle/>
          <a:p>
            <a:pPr algn="ctr" marL="0" indent="0" lvl="0">
              <a:lnSpc>
                <a:spcPts val="3151"/>
              </a:lnSpc>
              <a:spcBef>
                <a:spcPct val="0"/>
              </a:spcBef>
            </a:pPr>
            <a:r>
              <a:rPr lang="en-US" b="true" sz="2251">
                <a:solidFill>
                  <a:srgbClr val="FFFFFF"/>
                </a:solidFill>
                <a:latin typeface="Poppins Bold"/>
                <a:ea typeface="Poppins Bold"/>
                <a:cs typeface="Poppins Bold"/>
                <a:sym typeface="Poppins Bold"/>
              </a:rPr>
              <a:t>Content</a:t>
            </a:r>
          </a:p>
        </p:txBody>
      </p:sp>
      <p:sp>
        <p:nvSpPr>
          <p:cNvPr name="TextBox 26" id="26"/>
          <p:cNvSpPr txBox="true"/>
          <p:nvPr/>
        </p:nvSpPr>
        <p:spPr>
          <a:xfrm rot="0">
            <a:off x="15034325" y="841660"/>
            <a:ext cx="2224975" cy="409541"/>
          </a:xfrm>
          <a:prstGeom prst="rect">
            <a:avLst/>
          </a:prstGeom>
        </p:spPr>
        <p:txBody>
          <a:bodyPr anchor="t" rtlCol="false" tIns="0" lIns="0" bIns="0" rIns="0">
            <a:spAutoFit/>
          </a:bodyPr>
          <a:lstStyle/>
          <a:p>
            <a:pPr algn="r" marL="0" indent="0" lvl="0">
              <a:lnSpc>
                <a:spcPts val="3151"/>
              </a:lnSpc>
              <a:spcBef>
                <a:spcPct val="0"/>
              </a:spcBef>
            </a:pPr>
            <a:r>
              <a:rPr lang="en-US" sz="2251">
                <a:solidFill>
                  <a:srgbClr val="FFFFFF"/>
                </a:solidFill>
                <a:latin typeface="Poppins"/>
                <a:ea typeface="Poppins"/>
                <a:cs typeface="Poppins"/>
                <a:sym typeface="Poppins"/>
              </a:rPr>
              <a:t>Others</a:t>
            </a:r>
          </a:p>
        </p:txBody>
      </p:sp>
      <p:sp>
        <p:nvSpPr>
          <p:cNvPr name="TextBox 27" id="2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Canva Sans"/>
                <a:ea typeface="Canva Sans"/>
                <a:cs typeface="Canva Sans"/>
                <a:sym typeface="Canva Sans"/>
              </a:rPr>
              <a:t>13</a:t>
            </a:r>
          </a:p>
        </p:txBody>
      </p:sp>
      <p:sp>
        <p:nvSpPr>
          <p:cNvPr name="TextBox 28" id="28"/>
          <p:cNvSpPr txBox="true"/>
          <p:nvPr/>
        </p:nvSpPr>
        <p:spPr>
          <a:xfrm rot="0">
            <a:off x="1363845" y="768097"/>
            <a:ext cx="3551055" cy="445006"/>
          </a:xfrm>
          <a:prstGeom prst="rect">
            <a:avLst/>
          </a:prstGeom>
        </p:spPr>
        <p:txBody>
          <a:bodyPr anchor="t" rtlCol="false" tIns="0" lIns="0" bIns="0" rIns="0">
            <a:spAutoFit/>
          </a:bodyPr>
          <a:lstStyle/>
          <a:p>
            <a:pPr algn="l">
              <a:lnSpc>
                <a:spcPts val="3391"/>
              </a:lnSpc>
              <a:spcBef>
                <a:spcPct val="0"/>
              </a:spcBef>
            </a:pPr>
            <a:r>
              <a:rPr lang="en-US" b="true" sz="2422" spc="-109">
                <a:solidFill>
                  <a:srgbClr val="FFFFFF"/>
                </a:solidFill>
                <a:latin typeface="Telegraf Bold"/>
                <a:ea typeface="Telegraf Bold"/>
                <a:cs typeface="Telegraf Bold"/>
                <a:sym typeface="Telegraf Bold"/>
              </a:rPr>
              <a:t>Forensics Analytics</a:t>
            </a:r>
          </a:p>
        </p:txBody>
      </p:sp>
    </p:spTree>
  </p:cSld>
  <p:clrMapOvr>
    <a:masterClrMapping/>
  </p:clrMapOvr>
  <p:transition spd="slow">
    <p:push dir="l"/>
  </p:transition>
</p:sld>
</file>

<file path=ppt/slides/slide1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F9B">
                <a:alpha val="100000"/>
              </a:srgbClr>
            </a:gs>
            <a:gs pos="50000">
              <a:srgbClr val="EB0000">
                <a:alpha val="100000"/>
              </a:srgbClr>
            </a:gs>
            <a:gs pos="100000">
              <a:srgbClr val="A000EB">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grpSp>
        <p:nvGrpSpPr>
          <p:cNvPr name="Group 2" id="2"/>
          <p:cNvGrpSpPr/>
          <p:nvPr/>
        </p:nvGrpSpPr>
        <p:grpSpPr>
          <a:xfrm rot="0">
            <a:off x="2675492" y="1589417"/>
            <a:ext cx="12937016" cy="1711357"/>
            <a:chOff x="0" y="0"/>
            <a:chExt cx="3407280" cy="450728"/>
          </a:xfrm>
        </p:grpSpPr>
        <p:sp>
          <p:nvSpPr>
            <p:cNvPr name="Freeform 3" id="3"/>
            <p:cNvSpPr/>
            <p:nvPr/>
          </p:nvSpPr>
          <p:spPr>
            <a:xfrm flipH="false" flipV="false" rot="0">
              <a:off x="0" y="0"/>
              <a:ext cx="3407280" cy="450728"/>
            </a:xfrm>
            <a:custGeom>
              <a:avLst/>
              <a:gdLst/>
              <a:ahLst/>
              <a:cxnLst/>
              <a:rect r="r" b="b" t="t" l="l"/>
              <a:pathLst>
                <a:path h="450728" w="3407280">
                  <a:moveTo>
                    <a:pt x="33512" y="0"/>
                  </a:moveTo>
                  <a:lnTo>
                    <a:pt x="3373768" y="0"/>
                  </a:lnTo>
                  <a:cubicBezTo>
                    <a:pt x="3392276" y="0"/>
                    <a:pt x="3407280" y="15004"/>
                    <a:pt x="3407280" y="33512"/>
                  </a:cubicBezTo>
                  <a:lnTo>
                    <a:pt x="3407280" y="417216"/>
                  </a:lnTo>
                  <a:cubicBezTo>
                    <a:pt x="3407280" y="435724"/>
                    <a:pt x="3392276" y="450728"/>
                    <a:pt x="3373768" y="450728"/>
                  </a:cubicBezTo>
                  <a:lnTo>
                    <a:pt x="33512" y="450728"/>
                  </a:lnTo>
                  <a:cubicBezTo>
                    <a:pt x="15004" y="450728"/>
                    <a:pt x="0" y="435724"/>
                    <a:pt x="0" y="417216"/>
                  </a:cubicBezTo>
                  <a:lnTo>
                    <a:pt x="0" y="33512"/>
                  </a:lnTo>
                  <a:cubicBezTo>
                    <a:pt x="0" y="15004"/>
                    <a:pt x="15004" y="0"/>
                    <a:pt x="33512" y="0"/>
                  </a:cubicBezTo>
                  <a:close/>
                </a:path>
              </a:pathLst>
            </a:custGeom>
            <a:solidFill>
              <a:srgbClr val="FFFFFF">
                <a:alpha val="21961"/>
              </a:srgbClr>
            </a:solidFill>
          </p:spPr>
        </p:sp>
        <p:sp>
          <p:nvSpPr>
            <p:cNvPr name="TextBox 4" id="4"/>
            <p:cNvSpPr txBox="true"/>
            <p:nvPr/>
          </p:nvSpPr>
          <p:spPr>
            <a:xfrm>
              <a:off x="0" y="-38100"/>
              <a:ext cx="3407280" cy="488828"/>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803986" y="803986"/>
            <a:ext cx="449429" cy="449429"/>
          </a:xfrm>
          <a:custGeom>
            <a:avLst/>
            <a:gdLst/>
            <a:ahLst/>
            <a:cxnLst/>
            <a:rect r="r" b="b" t="t" l="l"/>
            <a:pathLst>
              <a:path h="449429" w="449429">
                <a:moveTo>
                  <a:pt x="0" y="0"/>
                </a:moveTo>
                <a:lnTo>
                  <a:pt x="449428" y="0"/>
                </a:lnTo>
                <a:lnTo>
                  <a:pt x="449428" y="449428"/>
                </a:lnTo>
                <a:lnTo>
                  <a:pt x="0" y="4494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6146813" y="82296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5093091" y="3634148"/>
            <a:ext cx="7573001" cy="5951654"/>
          </a:xfrm>
          <a:custGeom>
            <a:avLst/>
            <a:gdLst/>
            <a:ahLst/>
            <a:cxnLst/>
            <a:rect r="r" b="b" t="t" l="l"/>
            <a:pathLst>
              <a:path h="5951654" w="7573001">
                <a:moveTo>
                  <a:pt x="0" y="0"/>
                </a:moveTo>
                <a:lnTo>
                  <a:pt x="7573001" y="0"/>
                </a:lnTo>
                <a:lnTo>
                  <a:pt x="7573001" y="5951654"/>
                </a:lnTo>
                <a:lnTo>
                  <a:pt x="0" y="5951654"/>
                </a:lnTo>
                <a:lnTo>
                  <a:pt x="0" y="0"/>
                </a:lnTo>
                <a:close/>
              </a:path>
            </a:pathLst>
          </a:custGeom>
          <a:blipFill>
            <a:blip r:embed="rId6"/>
            <a:stretch>
              <a:fillRect l="0" t="0" r="0" b="0"/>
            </a:stretch>
          </a:blipFill>
        </p:spPr>
      </p:sp>
      <p:sp>
        <p:nvSpPr>
          <p:cNvPr name="TextBox 8" id="8"/>
          <p:cNvSpPr txBox="true"/>
          <p:nvPr/>
        </p:nvSpPr>
        <p:spPr>
          <a:xfrm rot="0">
            <a:off x="3147122" y="2111545"/>
            <a:ext cx="12139553" cy="849424"/>
          </a:xfrm>
          <a:prstGeom prst="rect">
            <a:avLst/>
          </a:prstGeom>
        </p:spPr>
        <p:txBody>
          <a:bodyPr anchor="t" rtlCol="false" tIns="0" lIns="0" bIns="0" rIns="0">
            <a:spAutoFit/>
          </a:bodyPr>
          <a:lstStyle/>
          <a:p>
            <a:pPr algn="ctr">
              <a:lnSpc>
                <a:spcPts val="5966"/>
              </a:lnSpc>
            </a:pPr>
            <a:r>
              <a:rPr lang="en-US" b="true" sz="5849" spc="-263">
                <a:solidFill>
                  <a:srgbClr val="FFFFFF"/>
                </a:solidFill>
                <a:latin typeface="Telegraf Bold"/>
                <a:ea typeface="Telegraf Bold"/>
                <a:cs typeface="Telegraf Bold"/>
                <a:sym typeface="Telegraf Bold"/>
              </a:rPr>
              <a:t>Voter Profile Clustering(K-Means)</a:t>
            </a:r>
          </a:p>
        </p:txBody>
      </p:sp>
      <p:sp>
        <p:nvSpPr>
          <p:cNvPr name="TextBox 9" id="9"/>
          <p:cNvSpPr txBox="true"/>
          <p:nvPr/>
        </p:nvSpPr>
        <p:spPr>
          <a:xfrm rot="0">
            <a:off x="9144000" y="841660"/>
            <a:ext cx="1662550" cy="409541"/>
          </a:xfrm>
          <a:prstGeom prst="rect">
            <a:avLst/>
          </a:prstGeom>
        </p:spPr>
        <p:txBody>
          <a:bodyPr anchor="t" rtlCol="false" tIns="0" lIns="0" bIns="0" rIns="0">
            <a:spAutoFit/>
          </a:bodyPr>
          <a:lstStyle/>
          <a:p>
            <a:pPr algn="r" marL="0" indent="0" lvl="0">
              <a:lnSpc>
                <a:spcPts val="3151"/>
              </a:lnSpc>
              <a:spcBef>
                <a:spcPct val="0"/>
              </a:spcBef>
            </a:pPr>
            <a:r>
              <a:rPr lang="en-US" sz="2251">
                <a:solidFill>
                  <a:srgbClr val="FFFFFF"/>
                </a:solidFill>
                <a:latin typeface="Poppins"/>
                <a:ea typeface="Poppins"/>
                <a:cs typeface="Poppins"/>
                <a:sym typeface="Poppins"/>
              </a:rPr>
              <a:t>Home</a:t>
            </a:r>
          </a:p>
        </p:txBody>
      </p:sp>
      <p:sp>
        <p:nvSpPr>
          <p:cNvPr name="TextBox 10" id="10"/>
          <p:cNvSpPr txBox="true"/>
          <p:nvPr/>
        </p:nvSpPr>
        <p:spPr>
          <a:xfrm rot="0">
            <a:off x="11408122" y="843874"/>
            <a:ext cx="1907082" cy="409541"/>
          </a:xfrm>
          <a:prstGeom prst="rect">
            <a:avLst/>
          </a:prstGeom>
        </p:spPr>
        <p:txBody>
          <a:bodyPr anchor="t" rtlCol="false" tIns="0" lIns="0" bIns="0" rIns="0">
            <a:spAutoFit/>
          </a:bodyPr>
          <a:lstStyle/>
          <a:p>
            <a:pPr algn="ctr" marL="0" indent="0" lvl="0">
              <a:lnSpc>
                <a:spcPts val="3151"/>
              </a:lnSpc>
              <a:spcBef>
                <a:spcPct val="0"/>
              </a:spcBef>
            </a:pPr>
            <a:r>
              <a:rPr lang="en-US" sz="2251">
                <a:solidFill>
                  <a:srgbClr val="FFFFFF"/>
                </a:solidFill>
                <a:latin typeface="Poppins"/>
                <a:ea typeface="Poppins"/>
                <a:cs typeface="Poppins"/>
                <a:sym typeface="Poppins"/>
              </a:rPr>
              <a:t>About</a:t>
            </a:r>
          </a:p>
        </p:txBody>
      </p:sp>
      <p:sp>
        <p:nvSpPr>
          <p:cNvPr name="TextBox 11" id="11"/>
          <p:cNvSpPr txBox="true"/>
          <p:nvPr/>
        </p:nvSpPr>
        <p:spPr>
          <a:xfrm rot="0">
            <a:off x="13726729" y="819695"/>
            <a:ext cx="1916881" cy="409541"/>
          </a:xfrm>
          <a:prstGeom prst="rect">
            <a:avLst/>
          </a:prstGeom>
        </p:spPr>
        <p:txBody>
          <a:bodyPr anchor="t" rtlCol="false" tIns="0" lIns="0" bIns="0" rIns="0">
            <a:spAutoFit/>
          </a:bodyPr>
          <a:lstStyle/>
          <a:p>
            <a:pPr algn="ctr" marL="0" indent="0" lvl="0">
              <a:lnSpc>
                <a:spcPts val="3151"/>
              </a:lnSpc>
              <a:spcBef>
                <a:spcPct val="0"/>
              </a:spcBef>
            </a:pPr>
            <a:r>
              <a:rPr lang="en-US" b="true" sz="2251">
                <a:solidFill>
                  <a:srgbClr val="FFFFFF"/>
                </a:solidFill>
                <a:latin typeface="Poppins Bold"/>
                <a:ea typeface="Poppins Bold"/>
                <a:cs typeface="Poppins Bold"/>
                <a:sym typeface="Poppins Bold"/>
              </a:rPr>
              <a:t>Content</a:t>
            </a:r>
          </a:p>
        </p:txBody>
      </p:sp>
      <p:sp>
        <p:nvSpPr>
          <p:cNvPr name="TextBox 12" id="12"/>
          <p:cNvSpPr txBox="true"/>
          <p:nvPr/>
        </p:nvSpPr>
        <p:spPr>
          <a:xfrm rot="0">
            <a:off x="15034325" y="841660"/>
            <a:ext cx="2224975" cy="409541"/>
          </a:xfrm>
          <a:prstGeom prst="rect">
            <a:avLst/>
          </a:prstGeom>
        </p:spPr>
        <p:txBody>
          <a:bodyPr anchor="t" rtlCol="false" tIns="0" lIns="0" bIns="0" rIns="0">
            <a:spAutoFit/>
          </a:bodyPr>
          <a:lstStyle/>
          <a:p>
            <a:pPr algn="r" marL="0" indent="0" lvl="0">
              <a:lnSpc>
                <a:spcPts val="3151"/>
              </a:lnSpc>
              <a:spcBef>
                <a:spcPct val="0"/>
              </a:spcBef>
            </a:pPr>
            <a:r>
              <a:rPr lang="en-US" sz="2251">
                <a:solidFill>
                  <a:srgbClr val="FFFFFF"/>
                </a:solidFill>
                <a:latin typeface="Poppins"/>
                <a:ea typeface="Poppins"/>
                <a:cs typeface="Poppins"/>
                <a:sym typeface="Poppins"/>
              </a:rPr>
              <a:t>Others</a:t>
            </a:r>
          </a:p>
        </p:txBody>
      </p:sp>
      <p:sp>
        <p:nvSpPr>
          <p:cNvPr name="TextBox 13" id="13"/>
          <p:cNvSpPr txBox="true"/>
          <p:nvPr/>
        </p:nvSpPr>
        <p:spPr>
          <a:xfrm rot="0">
            <a:off x="1363845" y="768097"/>
            <a:ext cx="3551055" cy="445006"/>
          </a:xfrm>
          <a:prstGeom prst="rect">
            <a:avLst/>
          </a:prstGeom>
        </p:spPr>
        <p:txBody>
          <a:bodyPr anchor="t" rtlCol="false" tIns="0" lIns="0" bIns="0" rIns="0">
            <a:spAutoFit/>
          </a:bodyPr>
          <a:lstStyle/>
          <a:p>
            <a:pPr algn="l">
              <a:lnSpc>
                <a:spcPts val="3391"/>
              </a:lnSpc>
              <a:spcBef>
                <a:spcPct val="0"/>
              </a:spcBef>
            </a:pPr>
            <a:r>
              <a:rPr lang="en-US" b="true" sz="2422" spc="-109">
                <a:solidFill>
                  <a:srgbClr val="FFFFFF"/>
                </a:solidFill>
                <a:latin typeface="Telegraf Bold"/>
                <a:ea typeface="Telegraf Bold"/>
                <a:cs typeface="Telegraf Bold"/>
                <a:sym typeface="Telegraf Bold"/>
              </a:rPr>
              <a:t>Forensics Analytics</a:t>
            </a:r>
          </a:p>
        </p:txBody>
      </p:sp>
    </p:spTree>
  </p:cSld>
  <p:clrMapOvr>
    <a:masterClrMapping/>
  </p:clrMapOvr>
  <p:transition spd="slow">
    <p:push dir="l"/>
  </p:transition>
</p:sld>
</file>

<file path=ppt/slides/slide1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F9B">
                <a:alpha val="100000"/>
              </a:srgbClr>
            </a:gs>
            <a:gs pos="50000">
              <a:srgbClr val="EB0000">
                <a:alpha val="100000"/>
              </a:srgbClr>
            </a:gs>
            <a:gs pos="100000">
              <a:srgbClr val="A000EB">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grpSp>
        <p:nvGrpSpPr>
          <p:cNvPr name="Group 2" id="2"/>
          <p:cNvGrpSpPr/>
          <p:nvPr/>
        </p:nvGrpSpPr>
        <p:grpSpPr>
          <a:xfrm rot="0">
            <a:off x="1363845" y="1592866"/>
            <a:ext cx="16043820" cy="1711357"/>
            <a:chOff x="0" y="0"/>
            <a:chExt cx="4225533" cy="450728"/>
          </a:xfrm>
        </p:grpSpPr>
        <p:sp>
          <p:nvSpPr>
            <p:cNvPr name="Freeform 3" id="3"/>
            <p:cNvSpPr/>
            <p:nvPr/>
          </p:nvSpPr>
          <p:spPr>
            <a:xfrm flipH="false" flipV="false" rot="0">
              <a:off x="0" y="0"/>
              <a:ext cx="4225533" cy="450728"/>
            </a:xfrm>
            <a:custGeom>
              <a:avLst/>
              <a:gdLst/>
              <a:ahLst/>
              <a:cxnLst/>
              <a:rect r="r" b="b" t="t" l="l"/>
              <a:pathLst>
                <a:path h="450728" w="4225533">
                  <a:moveTo>
                    <a:pt x="27023" y="0"/>
                  </a:moveTo>
                  <a:lnTo>
                    <a:pt x="4198510" y="0"/>
                  </a:lnTo>
                  <a:cubicBezTo>
                    <a:pt x="4213434" y="0"/>
                    <a:pt x="4225533" y="12098"/>
                    <a:pt x="4225533" y="27023"/>
                  </a:cubicBezTo>
                  <a:lnTo>
                    <a:pt x="4225533" y="423705"/>
                  </a:lnTo>
                  <a:cubicBezTo>
                    <a:pt x="4225533" y="430872"/>
                    <a:pt x="4222686" y="437745"/>
                    <a:pt x="4217618" y="442813"/>
                  </a:cubicBezTo>
                  <a:cubicBezTo>
                    <a:pt x="4212550" y="447881"/>
                    <a:pt x="4205677" y="450728"/>
                    <a:pt x="4198510" y="450728"/>
                  </a:cubicBezTo>
                  <a:lnTo>
                    <a:pt x="27023" y="450728"/>
                  </a:lnTo>
                  <a:cubicBezTo>
                    <a:pt x="12098" y="450728"/>
                    <a:pt x="0" y="438629"/>
                    <a:pt x="0" y="423705"/>
                  </a:cubicBezTo>
                  <a:lnTo>
                    <a:pt x="0" y="27023"/>
                  </a:lnTo>
                  <a:cubicBezTo>
                    <a:pt x="0" y="12098"/>
                    <a:pt x="12098" y="0"/>
                    <a:pt x="27023" y="0"/>
                  </a:cubicBezTo>
                  <a:close/>
                </a:path>
              </a:pathLst>
            </a:custGeom>
            <a:solidFill>
              <a:srgbClr val="FFFFFF">
                <a:alpha val="21961"/>
              </a:srgbClr>
            </a:solidFill>
          </p:spPr>
        </p:sp>
        <p:sp>
          <p:nvSpPr>
            <p:cNvPr name="TextBox 4" id="4"/>
            <p:cNvSpPr txBox="true"/>
            <p:nvPr/>
          </p:nvSpPr>
          <p:spPr>
            <a:xfrm>
              <a:off x="0" y="-38100"/>
              <a:ext cx="4225533" cy="488828"/>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803986" y="803986"/>
            <a:ext cx="449429" cy="449429"/>
          </a:xfrm>
          <a:custGeom>
            <a:avLst/>
            <a:gdLst/>
            <a:ahLst/>
            <a:cxnLst/>
            <a:rect r="r" b="b" t="t" l="l"/>
            <a:pathLst>
              <a:path h="449429" w="449429">
                <a:moveTo>
                  <a:pt x="0" y="0"/>
                </a:moveTo>
                <a:lnTo>
                  <a:pt x="449428" y="0"/>
                </a:lnTo>
                <a:lnTo>
                  <a:pt x="449428" y="449428"/>
                </a:lnTo>
                <a:lnTo>
                  <a:pt x="0" y="4494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6146813" y="82296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4536338" y="3643673"/>
            <a:ext cx="9611938" cy="5640166"/>
          </a:xfrm>
          <a:custGeom>
            <a:avLst/>
            <a:gdLst/>
            <a:ahLst/>
            <a:cxnLst/>
            <a:rect r="r" b="b" t="t" l="l"/>
            <a:pathLst>
              <a:path h="5640166" w="9611938">
                <a:moveTo>
                  <a:pt x="0" y="0"/>
                </a:moveTo>
                <a:lnTo>
                  <a:pt x="9611937" y="0"/>
                </a:lnTo>
                <a:lnTo>
                  <a:pt x="9611937" y="5640166"/>
                </a:lnTo>
                <a:lnTo>
                  <a:pt x="0" y="5640166"/>
                </a:lnTo>
                <a:lnTo>
                  <a:pt x="0" y="0"/>
                </a:lnTo>
                <a:close/>
              </a:path>
            </a:pathLst>
          </a:custGeom>
          <a:blipFill>
            <a:blip r:embed="rId6"/>
            <a:stretch>
              <a:fillRect l="0" t="0" r="0" b="0"/>
            </a:stretch>
          </a:blipFill>
        </p:spPr>
      </p:sp>
      <p:sp>
        <p:nvSpPr>
          <p:cNvPr name="TextBox 8" id="8"/>
          <p:cNvSpPr txBox="true"/>
          <p:nvPr/>
        </p:nvSpPr>
        <p:spPr>
          <a:xfrm rot="0">
            <a:off x="1737970" y="2042882"/>
            <a:ext cx="15669695" cy="849424"/>
          </a:xfrm>
          <a:prstGeom prst="rect">
            <a:avLst/>
          </a:prstGeom>
        </p:spPr>
        <p:txBody>
          <a:bodyPr anchor="t" rtlCol="false" tIns="0" lIns="0" bIns="0" rIns="0">
            <a:spAutoFit/>
          </a:bodyPr>
          <a:lstStyle/>
          <a:p>
            <a:pPr algn="ctr">
              <a:lnSpc>
                <a:spcPts val="5966"/>
              </a:lnSpc>
            </a:pPr>
            <a:r>
              <a:rPr lang="en-US" b="true" sz="5849" spc="-263">
                <a:solidFill>
                  <a:srgbClr val="FFFFFF"/>
                </a:solidFill>
                <a:latin typeface="Telegraf Bold"/>
                <a:ea typeface="Telegraf Bold"/>
                <a:cs typeface="Telegraf Bold"/>
                <a:sym typeface="Telegraf Bold"/>
              </a:rPr>
              <a:t>Forensic Modeling &amp; Narrative Analysis (NLP)</a:t>
            </a:r>
          </a:p>
        </p:txBody>
      </p:sp>
      <p:sp>
        <p:nvSpPr>
          <p:cNvPr name="TextBox 9" id="9"/>
          <p:cNvSpPr txBox="true"/>
          <p:nvPr/>
        </p:nvSpPr>
        <p:spPr>
          <a:xfrm rot="0">
            <a:off x="9144000" y="841660"/>
            <a:ext cx="1662550" cy="409541"/>
          </a:xfrm>
          <a:prstGeom prst="rect">
            <a:avLst/>
          </a:prstGeom>
        </p:spPr>
        <p:txBody>
          <a:bodyPr anchor="t" rtlCol="false" tIns="0" lIns="0" bIns="0" rIns="0">
            <a:spAutoFit/>
          </a:bodyPr>
          <a:lstStyle/>
          <a:p>
            <a:pPr algn="r" marL="0" indent="0" lvl="0">
              <a:lnSpc>
                <a:spcPts val="3151"/>
              </a:lnSpc>
              <a:spcBef>
                <a:spcPct val="0"/>
              </a:spcBef>
            </a:pPr>
            <a:r>
              <a:rPr lang="en-US" sz="2251">
                <a:solidFill>
                  <a:srgbClr val="FFFFFF"/>
                </a:solidFill>
                <a:latin typeface="Poppins"/>
                <a:ea typeface="Poppins"/>
                <a:cs typeface="Poppins"/>
                <a:sym typeface="Poppins"/>
              </a:rPr>
              <a:t>Home</a:t>
            </a:r>
          </a:p>
        </p:txBody>
      </p:sp>
      <p:sp>
        <p:nvSpPr>
          <p:cNvPr name="TextBox 10" id="10"/>
          <p:cNvSpPr txBox="true"/>
          <p:nvPr/>
        </p:nvSpPr>
        <p:spPr>
          <a:xfrm rot="0">
            <a:off x="11408122" y="843874"/>
            <a:ext cx="1907082" cy="409541"/>
          </a:xfrm>
          <a:prstGeom prst="rect">
            <a:avLst/>
          </a:prstGeom>
        </p:spPr>
        <p:txBody>
          <a:bodyPr anchor="t" rtlCol="false" tIns="0" lIns="0" bIns="0" rIns="0">
            <a:spAutoFit/>
          </a:bodyPr>
          <a:lstStyle/>
          <a:p>
            <a:pPr algn="ctr" marL="0" indent="0" lvl="0">
              <a:lnSpc>
                <a:spcPts val="3151"/>
              </a:lnSpc>
              <a:spcBef>
                <a:spcPct val="0"/>
              </a:spcBef>
            </a:pPr>
            <a:r>
              <a:rPr lang="en-US" sz="2251">
                <a:solidFill>
                  <a:srgbClr val="FFFFFF"/>
                </a:solidFill>
                <a:latin typeface="Poppins"/>
                <a:ea typeface="Poppins"/>
                <a:cs typeface="Poppins"/>
                <a:sym typeface="Poppins"/>
              </a:rPr>
              <a:t>About</a:t>
            </a:r>
          </a:p>
        </p:txBody>
      </p:sp>
      <p:sp>
        <p:nvSpPr>
          <p:cNvPr name="TextBox 11" id="11"/>
          <p:cNvSpPr txBox="true"/>
          <p:nvPr/>
        </p:nvSpPr>
        <p:spPr>
          <a:xfrm rot="0">
            <a:off x="13726729" y="819695"/>
            <a:ext cx="1916881" cy="409541"/>
          </a:xfrm>
          <a:prstGeom prst="rect">
            <a:avLst/>
          </a:prstGeom>
        </p:spPr>
        <p:txBody>
          <a:bodyPr anchor="t" rtlCol="false" tIns="0" lIns="0" bIns="0" rIns="0">
            <a:spAutoFit/>
          </a:bodyPr>
          <a:lstStyle/>
          <a:p>
            <a:pPr algn="ctr" marL="0" indent="0" lvl="0">
              <a:lnSpc>
                <a:spcPts val="3151"/>
              </a:lnSpc>
              <a:spcBef>
                <a:spcPct val="0"/>
              </a:spcBef>
            </a:pPr>
            <a:r>
              <a:rPr lang="en-US" b="true" sz="2251">
                <a:solidFill>
                  <a:srgbClr val="FFFFFF"/>
                </a:solidFill>
                <a:latin typeface="Poppins Bold"/>
                <a:ea typeface="Poppins Bold"/>
                <a:cs typeface="Poppins Bold"/>
                <a:sym typeface="Poppins Bold"/>
              </a:rPr>
              <a:t>Content</a:t>
            </a:r>
          </a:p>
        </p:txBody>
      </p:sp>
      <p:sp>
        <p:nvSpPr>
          <p:cNvPr name="TextBox 12" id="12"/>
          <p:cNvSpPr txBox="true"/>
          <p:nvPr/>
        </p:nvSpPr>
        <p:spPr>
          <a:xfrm rot="0">
            <a:off x="15034325" y="841660"/>
            <a:ext cx="2224975" cy="409541"/>
          </a:xfrm>
          <a:prstGeom prst="rect">
            <a:avLst/>
          </a:prstGeom>
        </p:spPr>
        <p:txBody>
          <a:bodyPr anchor="t" rtlCol="false" tIns="0" lIns="0" bIns="0" rIns="0">
            <a:spAutoFit/>
          </a:bodyPr>
          <a:lstStyle/>
          <a:p>
            <a:pPr algn="r" marL="0" indent="0" lvl="0">
              <a:lnSpc>
                <a:spcPts val="3151"/>
              </a:lnSpc>
              <a:spcBef>
                <a:spcPct val="0"/>
              </a:spcBef>
            </a:pPr>
            <a:r>
              <a:rPr lang="en-US" sz="2251">
                <a:solidFill>
                  <a:srgbClr val="FFFFFF"/>
                </a:solidFill>
                <a:latin typeface="Poppins"/>
                <a:ea typeface="Poppins"/>
                <a:cs typeface="Poppins"/>
                <a:sym typeface="Poppins"/>
              </a:rPr>
              <a:t>Others</a:t>
            </a:r>
          </a:p>
        </p:txBody>
      </p:sp>
      <p:sp>
        <p:nvSpPr>
          <p:cNvPr name="TextBox 13" id="13"/>
          <p:cNvSpPr txBox="true"/>
          <p:nvPr/>
        </p:nvSpPr>
        <p:spPr>
          <a:xfrm rot="0">
            <a:off x="1363845" y="768097"/>
            <a:ext cx="3551055" cy="445006"/>
          </a:xfrm>
          <a:prstGeom prst="rect">
            <a:avLst/>
          </a:prstGeom>
        </p:spPr>
        <p:txBody>
          <a:bodyPr anchor="t" rtlCol="false" tIns="0" lIns="0" bIns="0" rIns="0">
            <a:spAutoFit/>
          </a:bodyPr>
          <a:lstStyle/>
          <a:p>
            <a:pPr algn="l">
              <a:lnSpc>
                <a:spcPts val="3391"/>
              </a:lnSpc>
              <a:spcBef>
                <a:spcPct val="0"/>
              </a:spcBef>
            </a:pPr>
            <a:r>
              <a:rPr lang="en-US" b="true" sz="2422" spc="-109">
                <a:solidFill>
                  <a:srgbClr val="FFFFFF"/>
                </a:solidFill>
                <a:latin typeface="Telegraf Bold"/>
                <a:ea typeface="Telegraf Bold"/>
                <a:cs typeface="Telegraf Bold"/>
                <a:sym typeface="Telegraf Bold"/>
              </a:rPr>
              <a:t>Forensics Analytics</a:t>
            </a:r>
          </a:p>
        </p:txBody>
      </p:sp>
    </p:spTree>
  </p:cSld>
  <p:clrMapOvr>
    <a:masterClrMapping/>
  </p:clrMapOvr>
  <p:transition spd="slow">
    <p:push dir="l"/>
  </p:transition>
</p:sld>
</file>

<file path=ppt/slides/slide1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F9B">
                <a:alpha val="100000"/>
              </a:srgbClr>
            </a:gs>
            <a:gs pos="50000">
              <a:srgbClr val="EB0000">
                <a:alpha val="100000"/>
              </a:srgbClr>
            </a:gs>
            <a:gs pos="100000">
              <a:srgbClr val="A000EB">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grpSp>
        <p:nvGrpSpPr>
          <p:cNvPr name="Group 2" id="2"/>
          <p:cNvGrpSpPr/>
          <p:nvPr/>
        </p:nvGrpSpPr>
        <p:grpSpPr>
          <a:xfrm rot="0">
            <a:off x="1363845" y="1592866"/>
            <a:ext cx="16043820" cy="1711357"/>
            <a:chOff x="0" y="0"/>
            <a:chExt cx="4225533" cy="450728"/>
          </a:xfrm>
        </p:grpSpPr>
        <p:sp>
          <p:nvSpPr>
            <p:cNvPr name="Freeform 3" id="3"/>
            <p:cNvSpPr/>
            <p:nvPr/>
          </p:nvSpPr>
          <p:spPr>
            <a:xfrm flipH="false" flipV="false" rot="0">
              <a:off x="0" y="0"/>
              <a:ext cx="4225533" cy="450728"/>
            </a:xfrm>
            <a:custGeom>
              <a:avLst/>
              <a:gdLst/>
              <a:ahLst/>
              <a:cxnLst/>
              <a:rect r="r" b="b" t="t" l="l"/>
              <a:pathLst>
                <a:path h="450728" w="4225533">
                  <a:moveTo>
                    <a:pt x="27023" y="0"/>
                  </a:moveTo>
                  <a:lnTo>
                    <a:pt x="4198510" y="0"/>
                  </a:lnTo>
                  <a:cubicBezTo>
                    <a:pt x="4213434" y="0"/>
                    <a:pt x="4225533" y="12098"/>
                    <a:pt x="4225533" y="27023"/>
                  </a:cubicBezTo>
                  <a:lnTo>
                    <a:pt x="4225533" y="423705"/>
                  </a:lnTo>
                  <a:cubicBezTo>
                    <a:pt x="4225533" y="430872"/>
                    <a:pt x="4222686" y="437745"/>
                    <a:pt x="4217618" y="442813"/>
                  </a:cubicBezTo>
                  <a:cubicBezTo>
                    <a:pt x="4212550" y="447881"/>
                    <a:pt x="4205677" y="450728"/>
                    <a:pt x="4198510" y="450728"/>
                  </a:cubicBezTo>
                  <a:lnTo>
                    <a:pt x="27023" y="450728"/>
                  </a:lnTo>
                  <a:cubicBezTo>
                    <a:pt x="12098" y="450728"/>
                    <a:pt x="0" y="438629"/>
                    <a:pt x="0" y="423705"/>
                  </a:cubicBezTo>
                  <a:lnTo>
                    <a:pt x="0" y="27023"/>
                  </a:lnTo>
                  <a:cubicBezTo>
                    <a:pt x="0" y="12098"/>
                    <a:pt x="12098" y="0"/>
                    <a:pt x="27023" y="0"/>
                  </a:cubicBezTo>
                  <a:close/>
                </a:path>
              </a:pathLst>
            </a:custGeom>
            <a:solidFill>
              <a:srgbClr val="FFFFFF">
                <a:alpha val="21961"/>
              </a:srgbClr>
            </a:solidFill>
          </p:spPr>
        </p:sp>
        <p:sp>
          <p:nvSpPr>
            <p:cNvPr name="TextBox 4" id="4"/>
            <p:cNvSpPr txBox="true"/>
            <p:nvPr/>
          </p:nvSpPr>
          <p:spPr>
            <a:xfrm>
              <a:off x="0" y="-38100"/>
              <a:ext cx="4225533" cy="488828"/>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803986" y="803986"/>
            <a:ext cx="449429" cy="449429"/>
          </a:xfrm>
          <a:custGeom>
            <a:avLst/>
            <a:gdLst/>
            <a:ahLst/>
            <a:cxnLst/>
            <a:rect r="r" b="b" t="t" l="l"/>
            <a:pathLst>
              <a:path h="449429" w="449429">
                <a:moveTo>
                  <a:pt x="0" y="0"/>
                </a:moveTo>
                <a:lnTo>
                  <a:pt x="449428" y="0"/>
                </a:lnTo>
                <a:lnTo>
                  <a:pt x="449428" y="449428"/>
                </a:lnTo>
                <a:lnTo>
                  <a:pt x="0" y="4494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6146813" y="82296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4142619" y="3685222"/>
            <a:ext cx="10486271" cy="6095145"/>
          </a:xfrm>
          <a:custGeom>
            <a:avLst/>
            <a:gdLst/>
            <a:ahLst/>
            <a:cxnLst/>
            <a:rect r="r" b="b" t="t" l="l"/>
            <a:pathLst>
              <a:path h="6095145" w="10486271">
                <a:moveTo>
                  <a:pt x="0" y="0"/>
                </a:moveTo>
                <a:lnTo>
                  <a:pt x="10486272" y="0"/>
                </a:lnTo>
                <a:lnTo>
                  <a:pt x="10486272" y="6095145"/>
                </a:lnTo>
                <a:lnTo>
                  <a:pt x="0" y="6095145"/>
                </a:lnTo>
                <a:lnTo>
                  <a:pt x="0" y="0"/>
                </a:lnTo>
                <a:close/>
              </a:path>
            </a:pathLst>
          </a:custGeom>
          <a:blipFill>
            <a:blip r:embed="rId6"/>
            <a:stretch>
              <a:fillRect l="0" t="0" r="0" b="0"/>
            </a:stretch>
          </a:blipFill>
        </p:spPr>
      </p:sp>
      <p:sp>
        <p:nvSpPr>
          <p:cNvPr name="TextBox 8" id="8"/>
          <p:cNvSpPr txBox="true"/>
          <p:nvPr/>
        </p:nvSpPr>
        <p:spPr>
          <a:xfrm rot="0">
            <a:off x="1589605" y="2042882"/>
            <a:ext cx="15669695" cy="849424"/>
          </a:xfrm>
          <a:prstGeom prst="rect">
            <a:avLst/>
          </a:prstGeom>
        </p:spPr>
        <p:txBody>
          <a:bodyPr anchor="t" rtlCol="false" tIns="0" lIns="0" bIns="0" rIns="0">
            <a:spAutoFit/>
          </a:bodyPr>
          <a:lstStyle/>
          <a:p>
            <a:pPr algn="ctr">
              <a:lnSpc>
                <a:spcPts val="5966"/>
              </a:lnSpc>
            </a:pPr>
            <a:r>
              <a:rPr lang="en-US" b="true" sz="5849" spc="-263">
                <a:solidFill>
                  <a:srgbClr val="FFFFFF"/>
                </a:solidFill>
                <a:latin typeface="Telegraf Bold"/>
                <a:ea typeface="Telegraf Bold"/>
                <a:cs typeface="Telegraf Bold"/>
                <a:sym typeface="Telegraf Bold"/>
              </a:rPr>
              <a:t>Anomaly &amp; Coordinated Behavior Detection</a:t>
            </a:r>
          </a:p>
        </p:txBody>
      </p:sp>
      <p:sp>
        <p:nvSpPr>
          <p:cNvPr name="TextBox 9" id="9"/>
          <p:cNvSpPr txBox="true"/>
          <p:nvPr/>
        </p:nvSpPr>
        <p:spPr>
          <a:xfrm rot="0">
            <a:off x="9144000" y="841660"/>
            <a:ext cx="1662550" cy="409541"/>
          </a:xfrm>
          <a:prstGeom prst="rect">
            <a:avLst/>
          </a:prstGeom>
        </p:spPr>
        <p:txBody>
          <a:bodyPr anchor="t" rtlCol="false" tIns="0" lIns="0" bIns="0" rIns="0">
            <a:spAutoFit/>
          </a:bodyPr>
          <a:lstStyle/>
          <a:p>
            <a:pPr algn="r" marL="0" indent="0" lvl="0">
              <a:lnSpc>
                <a:spcPts val="3151"/>
              </a:lnSpc>
              <a:spcBef>
                <a:spcPct val="0"/>
              </a:spcBef>
            </a:pPr>
            <a:r>
              <a:rPr lang="en-US" sz="2251">
                <a:solidFill>
                  <a:srgbClr val="FFFFFF"/>
                </a:solidFill>
                <a:latin typeface="Poppins"/>
                <a:ea typeface="Poppins"/>
                <a:cs typeface="Poppins"/>
                <a:sym typeface="Poppins"/>
              </a:rPr>
              <a:t>Home</a:t>
            </a:r>
          </a:p>
        </p:txBody>
      </p:sp>
      <p:sp>
        <p:nvSpPr>
          <p:cNvPr name="TextBox 10" id="10"/>
          <p:cNvSpPr txBox="true"/>
          <p:nvPr/>
        </p:nvSpPr>
        <p:spPr>
          <a:xfrm rot="0">
            <a:off x="11408122" y="843874"/>
            <a:ext cx="1907082" cy="409541"/>
          </a:xfrm>
          <a:prstGeom prst="rect">
            <a:avLst/>
          </a:prstGeom>
        </p:spPr>
        <p:txBody>
          <a:bodyPr anchor="t" rtlCol="false" tIns="0" lIns="0" bIns="0" rIns="0">
            <a:spAutoFit/>
          </a:bodyPr>
          <a:lstStyle/>
          <a:p>
            <a:pPr algn="ctr" marL="0" indent="0" lvl="0">
              <a:lnSpc>
                <a:spcPts val="3151"/>
              </a:lnSpc>
              <a:spcBef>
                <a:spcPct val="0"/>
              </a:spcBef>
            </a:pPr>
            <a:r>
              <a:rPr lang="en-US" sz="2251">
                <a:solidFill>
                  <a:srgbClr val="FFFFFF"/>
                </a:solidFill>
                <a:latin typeface="Poppins"/>
                <a:ea typeface="Poppins"/>
                <a:cs typeface="Poppins"/>
                <a:sym typeface="Poppins"/>
              </a:rPr>
              <a:t>About</a:t>
            </a:r>
          </a:p>
        </p:txBody>
      </p:sp>
      <p:sp>
        <p:nvSpPr>
          <p:cNvPr name="TextBox 11" id="11"/>
          <p:cNvSpPr txBox="true"/>
          <p:nvPr/>
        </p:nvSpPr>
        <p:spPr>
          <a:xfrm rot="0">
            <a:off x="13726729" y="819695"/>
            <a:ext cx="1916881" cy="409541"/>
          </a:xfrm>
          <a:prstGeom prst="rect">
            <a:avLst/>
          </a:prstGeom>
        </p:spPr>
        <p:txBody>
          <a:bodyPr anchor="t" rtlCol="false" tIns="0" lIns="0" bIns="0" rIns="0">
            <a:spAutoFit/>
          </a:bodyPr>
          <a:lstStyle/>
          <a:p>
            <a:pPr algn="ctr" marL="0" indent="0" lvl="0">
              <a:lnSpc>
                <a:spcPts val="3151"/>
              </a:lnSpc>
              <a:spcBef>
                <a:spcPct val="0"/>
              </a:spcBef>
            </a:pPr>
            <a:r>
              <a:rPr lang="en-US" b="true" sz="2251">
                <a:solidFill>
                  <a:srgbClr val="FFFFFF"/>
                </a:solidFill>
                <a:latin typeface="Poppins Bold"/>
                <a:ea typeface="Poppins Bold"/>
                <a:cs typeface="Poppins Bold"/>
                <a:sym typeface="Poppins Bold"/>
              </a:rPr>
              <a:t>Content</a:t>
            </a:r>
          </a:p>
        </p:txBody>
      </p:sp>
      <p:sp>
        <p:nvSpPr>
          <p:cNvPr name="TextBox 12" id="12"/>
          <p:cNvSpPr txBox="true"/>
          <p:nvPr/>
        </p:nvSpPr>
        <p:spPr>
          <a:xfrm rot="0">
            <a:off x="15034325" y="841660"/>
            <a:ext cx="2224975" cy="409541"/>
          </a:xfrm>
          <a:prstGeom prst="rect">
            <a:avLst/>
          </a:prstGeom>
        </p:spPr>
        <p:txBody>
          <a:bodyPr anchor="t" rtlCol="false" tIns="0" lIns="0" bIns="0" rIns="0">
            <a:spAutoFit/>
          </a:bodyPr>
          <a:lstStyle/>
          <a:p>
            <a:pPr algn="r" marL="0" indent="0" lvl="0">
              <a:lnSpc>
                <a:spcPts val="3151"/>
              </a:lnSpc>
              <a:spcBef>
                <a:spcPct val="0"/>
              </a:spcBef>
            </a:pPr>
            <a:r>
              <a:rPr lang="en-US" sz="2251">
                <a:solidFill>
                  <a:srgbClr val="FFFFFF"/>
                </a:solidFill>
                <a:latin typeface="Poppins"/>
                <a:ea typeface="Poppins"/>
                <a:cs typeface="Poppins"/>
                <a:sym typeface="Poppins"/>
              </a:rPr>
              <a:t>Others</a:t>
            </a:r>
          </a:p>
        </p:txBody>
      </p:sp>
      <p:sp>
        <p:nvSpPr>
          <p:cNvPr name="TextBox 13" id="13"/>
          <p:cNvSpPr txBox="true"/>
          <p:nvPr/>
        </p:nvSpPr>
        <p:spPr>
          <a:xfrm rot="0">
            <a:off x="1363845" y="768097"/>
            <a:ext cx="3551055" cy="445006"/>
          </a:xfrm>
          <a:prstGeom prst="rect">
            <a:avLst/>
          </a:prstGeom>
        </p:spPr>
        <p:txBody>
          <a:bodyPr anchor="t" rtlCol="false" tIns="0" lIns="0" bIns="0" rIns="0">
            <a:spAutoFit/>
          </a:bodyPr>
          <a:lstStyle/>
          <a:p>
            <a:pPr algn="l">
              <a:lnSpc>
                <a:spcPts val="3391"/>
              </a:lnSpc>
              <a:spcBef>
                <a:spcPct val="0"/>
              </a:spcBef>
            </a:pPr>
            <a:r>
              <a:rPr lang="en-US" b="true" sz="2422" spc="-109">
                <a:solidFill>
                  <a:srgbClr val="FFFFFF"/>
                </a:solidFill>
                <a:latin typeface="Telegraf Bold"/>
                <a:ea typeface="Telegraf Bold"/>
                <a:cs typeface="Telegraf Bold"/>
                <a:sym typeface="Telegraf Bold"/>
              </a:rPr>
              <a:t>Forensics Analytics</a:t>
            </a:r>
          </a:p>
        </p:txBody>
      </p:sp>
    </p:spTree>
  </p:cSld>
  <p:clrMapOvr>
    <a:masterClrMapping/>
  </p:clrMapOvr>
  <p:transition spd="slow">
    <p:push dir="l"/>
  </p:transition>
</p:sld>
</file>

<file path=ppt/slides/slide1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9033D">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0">
            <a:off x="803986" y="803986"/>
            <a:ext cx="449429" cy="449429"/>
          </a:xfrm>
          <a:custGeom>
            <a:avLst/>
            <a:gdLst/>
            <a:ahLst/>
            <a:cxnLst/>
            <a:rect r="r" b="b" t="t" l="l"/>
            <a:pathLst>
              <a:path h="449429" w="449429">
                <a:moveTo>
                  <a:pt x="0" y="0"/>
                </a:moveTo>
                <a:lnTo>
                  <a:pt x="449428" y="0"/>
                </a:lnTo>
                <a:lnTo>
                  <a:pt x="449428" y="449428"/>
                </a:lnTo>
                <a:lnTo>
                  <a:pt x="0" y="4494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2021800" y="2312668"/>
            <a:ext cx="5260233" cy="3460152"/>
            <a:chOff x="0" y="0"/>
            <a:chExt cx="1385411" cy="911316"/>
          </a:xfrm>
        </p:grpSpPr>
        <p:sp>
          <p:nvSpPr>
            <p:cNvPr name="Freeform 4" id="4"/>
            <p:cNvSpPr/>
            <p:nvPr/>
          </p:nvSpPr>
          <p:spPr>
            <a:xfrm flipH="false" flipV="false" rot="0">
              <a:off x="0" y="0"/>
              <a:ext cx="1385411" cy="911316"/>
            </a:xfrm>
            <a:custGeom>
              <a:avLst/>
              <a:gdLst/>
              <a:ahLst/>
              <a:cxnLst/>
              <a:rect r="r" b="b" t="t" l="l"/>
              <a:pathLst>
                <a:path h="911316" w="1385411">
                  <a:moveTo>
                    <a:pt x="82420" y="0"/>
                  </a:moveTo>
                  <a:lnTo>
                    <a:pt x="1302991" y="0"/>
                  </a:lnTo>
                  <a:cubicBezTo>
                    <a:pt x="1324850" y="0"/>
                    <a:pt x="1345814" y="8683"/>
                    <a:pt x="1361271" y="24140"/>
                  </a:cubicBezTo>
                  <a:cubicBezTo>
                    <a:pt x="1376728" y="39597"/>
                    <a:pt x="1385411" y="60561"/>
                    <a:pt x="1385411" y="82420"/>
                  </a:cubicBezTo>
                  <a:lnTo>
                    <a:pt x="1385411" y="828896"/>
                  </a:lnTo>
                  <a:cubicBezTo>
                    <a:pt x="1385411" y="874415"/>
                    <a:pt x="1348511" y="911316"/>
                    <a:pt x="1302991" y="911316"/>
                  </a:cubicBezTo>
                  <a:lnTo>
                    <a:pt x="82420" y="911316"/>
                  </a:lnTo>
                  <a:cubicBezTo>
                    <a:pt x="60561" y="911316"/>
                    <a:pt x="39597" y="902632"/>
                    <a:pt x="24140" y="887176"/>
                  </a:cubicBezTo>
                  <a:cubicBezTo>
                    <a:pt x="8683" y="871719"/>
                    <a:pt x="0" y="850755"/>
                    <a:pt x="0" y="828896"/>
                  </a:cubicBezTo>
                  <a:lnTo>
                    <a:pt x="0" y="82420"/>
                  </a:lnTo>
                  <a:cubicBezTo>
                    <a:pt x="0" y="36901"/>
                    <a:pt x="36901" y="0"/>
                    <a:pt x="82420" y="0"/>
                  </a:cubicBezTo>
                  <a:close/>
                </a:path>
              </a:pathLst>
            </a:custGeom>
            <a:gradFill rotWithShape="true">
              <a:gsLst>
                <a:gs pos="0">
                  <a:srgbClr val="000000">
                    <a:alpha val="78000"/>
                  </a:srgbClr>
                </a:gs>
                <a:gs pos="100000">
                  <a:srgbClr val="DDDDDD">
                    <a:alpha val="14820"/>
                  </a:srgbClr>
                </a:gs>
              </a:gsLst>
              <a:lin ang="2700000"/>
            </a:gradFill>
          </p:spPr>
        </p:sp>
        <p:sp>
          <p:nvSpPr>
            <p:cNvPr name="TextBox 5" id="5"/>
            <p:cNvSpPr txBox="true"/>
            <p:nvPr/>
          </p:nvSpPr>
          <p:spPr>
            <a:xfrm>
              <a:off x="0" y="-66675"/>
              <a:ext cx="1385411" cy="977991"/>
            </a:xfrm>
            <a:prstGeom prst="rect">
              <a:avLst/>
            </a:prstGeom>
          </p:spPr>
          <p:txBody>
            <a:bodyPr anchor="ctr" rtlCol="false" tIns="50800" lIns="50800" bIns="50800" rIns="50800"/>
            <a:lstStyle/>
            <a:p>
              <a:pPr algn="ctr">
                <a:lnSpc>
                  <a:spcPts val="3151"/>
                </a:lnSpc>
              </a:pPr>
            </a:p>
          </p:txBody>
        </p:sp>
      </p:grpSp>
      <p:grpSp>
        <p:nvGrpSpPr>
          <p:cNvPr name="Group 6" id="6"/>
          <p:cNvGrpSpPr/>
          <p:nvPr/>
        </p:nvGrpSpPr>
        <p:grpSpPr>
          <a:xfrm rot="0">
            <a:off x="11655641" y="5143500"/>
            <a:ext cx="5905630" cy="3862374"/>
            <a:chOff x="0" y="0"/>
            <a:chExt cx="1555392" cy="1017251"/>
          </a:xfrm>
        </p:grpSpPr>
        <p:sp>
          <p:nvSpPr>
            <p:cNvPr name="Freeform 7" id="7"/>
            <p:cNvSpPr/>
            <p:nvPr/>
          </p:nvSpPr>
          <p:spPr>
            <a:xfrm flipH="false" flipV="false" rot="0">
              <a:off x="0" y="0"/>
              <a:ext cx="1555392" cy="1017251"/>
            </a:xfrm>
            <a:custGeom>
              <a:avLst/>
              <a:gdLst/>
              <a:ahLst/>
              <a:cxnLst/>
              <a:rect r="r" b="b" t="t" l="l"/>
              <a:pathLst>
                <a:path h="1017251" w="1555392">
                  <a:moveTo>
                    <a:pt x="73413" y="0"/>
                  </a:moveTo>
                  <a:lnTo>
                    <a:pt x="1481980" y="0"/>
                  </a:lnTo>
                  <a:cubicBezTo>
                    <a:pt x="1522524" y="0"/>
                    <a:pt x="1555392" y="32868"/>
                    <a:pt x="1555392" y="73413"/>
                  </a:cubicBezTo>
                  <a:lnTo>
                    <a:pt x="1555392" y="943838"/>
                  </a:lnTo>
                  <a:cubicBezTo>
                    <a:pt x="1555392" y="984383"/>
                    <a:pt x="1522524" y="1017251"/>
                    <a:pt x="1481980" y="1017251"/>
                  </a:cubicBezTo>
                  <a:lnTo>
                    <a:pt x="73413" y="1017251"/>
                  </a:lnTo>
                  <a:cubicBezTo>
                    <a:pt x="32868" y="1017251"/>
                    <a:pt x="0" y="984383"/>
                    <a:pt x="0" y="943838"/>
                  </a:cubicBezTo>
                  <a:lnTo>
                    <a:pt x="0" y="73413"/>
                  </a:lnTo>
                  <a:cubicBezTo>
                    <a:pt x="0" y="32868"/>
                    <a:pt x="32868" y="0"/>
                    <a:pt x="73413" y="0"/>
                  </a:cubicBezTo>
                  <a:close/>
                </a:path>
              </a:pathLst>
            </a:custGeom>
            <a:gradFill rotWithShape="true">
              <a:gsLst>
                <a:gs pos="0">
                  <a:srgbClr val="000000">
                    <a:alpha val="78000"/>
                  </a:srgbClr>
                </a:gs>
                <a:gs pos="100000">
                  <a:srgbClr val="DDDDDD">
                    <a:alpha val="14820"/>
                  </a:srgbClr>
                </a:gs>
              </a:gsLst>
              <a:lin ang="2700000"/>
            </a:gradFill>
          </p:spPr>
        </p:sp>
        <p:sp>
          <p:nvSpPr>
            <p:cNvPr name="TextBox 8" id="8"/>
            <p:cNvSpPr txBox="true"/>
            <p:nvPr/>
          </p:nvSpPr>
          <p:spPr>
            <a:xfrm>
              <a:off x="0" y="-66675"/>
              <a:ext cx="1555392" cy="1083926"/>
            </a:xfrm>
            <a:prstGeom prst="rect">
              <a:avLst/>
            </a:prstGeom>
          </p:spPr>
          <p:txBody>
            <a:bodyPr anchor="ctr" rtlCol="false" tIns="50800" lIns="50800" bIns="50800" rIns="50800"/>
            <a:lstStyle/>
            <a:p>
              <a:pPr algn="ctr">
                <a:lnSpc>
                  <a:spcPts val="3151"/>
                </a:lnSpc>
              </a:pPr>
            </a:p>
          </p:txBody>
        </p:sp>
      </p:grpSp>
      <p:grpSp>
        <p:nvGrpSpPr>
          <p:cNvPr name="Group 9" id="9"/>
          <p:cNvGrpSpPr/>
          <p:nvPr/>
        </p:nvGrpSpPr>
        <p:grpSpPr>
          <a:xfrm rot="0">
            <a:off x="9962689" y="2199412"/>
            <a:ext cx="7598582" cy="1412802"/>
            <a:chOff x="0" y="0"/>
            <a:chExt cx="10131443" cy="1883736"/>
          </a:xfrm>
        </p:grpSpPr>
        <p:grpSp>
          <p:nvGrpSpPr>
            <p:cNvPr name="Group 10" id="10"/>
            <p:cNvGrpSpPr/>
            <p:nvPr/>
          </p:nvGrpSpPr>
          <p:grpSpPr>
            <a:xfrm rot="0">
              <a:off x="0" y="0"/>
              <a:ext cx="10131443" cy="1883736"/>
              <a:chOff x="0" y="0"/>
              <a:chExt cx="2001273" cy="372096"/>
            </a:xfrm>
          </p:grpSpPr>
          <p:sp>
            <p:nvSpPr>
              <p:cNvPr name="Freeform 11" id="11"/>
              <p:cNvSpPr/>
              <p:nvPr/>
            </p:nvSpPr>
            <p:spPr>
              <a:xfrm flipH="false" flipV="false" rot="0">
                <a:off x="0" y="0"/>
                <a:ext cx="2001273" cy="372096"/>
              </a:xfrm>
              <a:custGeom>
                <a:avLst/>
                <a:gdLst/>
                <a:ahLst/>
                <a:cxnLst/>
                <a:rect r="r" b="b" t="t" l="l"/>
                <a:pathLst>
                  <a:path h="372096" w="2001273">
                    <a:moveTo>
                      <a:pt x="57056" y="0"/>
                    </a:moveTo>
                    <a:lnTo>
                      <a:pt x="1944216" y="0"/>
                    </a:lnTo>
                    <a:cubicBezTo>
                      <a:pt x="1959349" y="0"/>
                      <a:pt x="1973861" y="6011"/>
                      <a:pt x="1984561" y="16711"/>
                    </a:cubicBezTo>
                    <a:cubicBezTo>
                      <a:pt x="1995261" y="27412"/>
                      <a:pt x="2001273" y="41924"/>
                      <a:pt x="2001273" y="57056"/>
                    </a:cubicBezTo>
                    <a:lnTo>
                      <a:pt x="2001273" y="315040"/>
                    </a:lnTo>
                    <a:cubicBezTo>
                      <a:pt x="2001273" y="330172"/>
                      <a:pt x="1995261" y="344684"/>
                      <a:pt x="1984561" y="355385"/>
                    </a:cubicBezTo>
                    <a:cubicBezTo>
                      <a:pt x="1973861" y="366085"/>
                      <a:pt x="1959349" y="372096"/>
                      <a:pt x="1944216" y="372096"/>
                    </a:cubicBezTo>
                    <a:lnTo>
                      <a:pt x="57056" y="372096"/>
                    </a:lnTo>
                    <a:cubicBezTo>
                      <a:pt x="25545" y="372096"/>
                      <a:pt x="0" y="346551"/>
                      <a:pt x="0" y="315040"/>
                    </a:cubicBezTo>
                    <a:lnTo>
                      <a:pt x="0" y="57056"/>
                    </a:lnTo>
                    <a:cubicBezTo>
                      <a:pt x="0" y="41924"/>
                      <a:pt x="6011" y="27412"/>
                      <a:pt x="16711" y="16711"/>
                    </a:cubicBezTo>
                    <a:cubicBezTo>
                      <a:pt x="27412" y="6011"/>
                      <a:pt x="41924" y="0"/>
                      <a:pt x="57056" y="0"/>
                    </a:cubicBezTo>
                    <a:close/>
                  </a:path>
                </a:pathLst>
              </a:custGeom>
              <a:solidFill>
                <a:srgbClr val="000000">
                  <a:alpha val="0"/>
                </a:srgbClr>
              </a:solidFill>
              <a:ln w="28575" cap="rnd">
                <a:solidFill>
                  <a:srgbClr val="FFFFFF"/>
                </a:solidFill>
                <a:prstDash val="solid"/>
                <a:round/>
              </a:ln>
            </p:spPr>
          </p:sp>
          <p:sp>
            <p:nvSpPr>
              <p:cNvPr name="TextBox 12" id="12"/>
              <p:cNvSpPr txBox="true"/>
              <p:nvPr/>
            </p:nvSpPr>
            <p:spPr>
              <a:xfrm>
                <a:off x="0" y="-57150"/>
                <a:ext cx="2001273" cy="429246"/>
              </a:xfrm>
              <a:prstGeom prst="rect">
                <a:avLst/>
              </a:prstGeom>
            </p:spPr>
            <p:txBody>
              <a:bodyPr anchor="ctr" rtlCol="false" tIns="50800" lIns="50800" bIns="50800" rIns="50800"/>
              <a:lstStyle/>
              <a:p>
                <a:pPr algn="ctr">
                  <a:lnSpc>
                    <a:spcPts val="2731"/>
                  </a:lnSpc>
                </a:pPr>
              </a:p>
            </p:txBody>
          </p:sp>
        </p:grpSp>
        <p:sp>
          <p:nvSpPr>
            <p:cNvPr name="TextBox 13" id="13"/>
            <p:cNvSpPr txBox="true"/>
            <p:nvPr/>
          </p:nvSpPr>
          <p:spPr>
            <a:xfrm rot="0">
              <a:off x="1116219" y="482995"/>
              <a:ext cx="8480321" cy="913129"/>
            </a:xfrm>
            <a:prstGeom prst="rect">
              <a:avLst/>
            </a:prstGeom>
          </p:spPr>
          <p:txBody>
            <a:bodyPr anchor="t" rtlCol="false" tIns="0" lIns="0" bIns="0" rIns="0">
              <a:spAutoFit/>
            </a:bodyPr>
            <a:lstStyle/>
            <a:p>
              <a:pPr algn="l">
                <a:lnSpc>
                  <a:spcPts val="4738"/>
                </a:lnSpc>
              </a:pPr>
              <a:r>
                <a:rPr lang="en-US" b="true" sz="4645" spc="-209">
                  <a:solidFill>
                    <a:srgbClr val="FFFFFF"/>
                  </a:solidFill>
                  <a:latin typeface="Telegraf Bold"/>
                  <a:ea typeface="Telegraf Bold"/>
                  <a:cs typeface="Telegraf Bold"/>
                  <a:sym typeface="Telegraf Bold"/>
                </a:rPr>
                <a:t>Bot Scores Histogram</a:t>
              </a:r>
            </a:p>
          </p:txBody>
        </p:sp>
      </p:grpSp>
      <p:sp>
        <p:nvSpPr>
          <p:cNvPr name="Freeform 14" id="14"/>
          <p:cNvSpPr/>
          <p:nvPr/>
        </p:nvSpPr>
        <p:spPr>
          <a:xfrm flipH="false" flipV="false" rot="0">
            <a:off x="8091448" y="7620606"/>
            <a:ext cx="1504897" cy="797595"/>
          </a:xfrm>
          <a:custGeom>
            <a:avLst/>
            <a:gdLst/>
            <a:ahLst/>
            <a:cxnLst/>
            <a:rect r="r" b="b" t="t" l="l"/>
            <a:pathLst>
              <a:path h="797595" w="1504897">
                <a:moveTo>
                  <a:pt x="0" y="0"/>
                </a:moveTo>
                <a:lnTo>
                  <a:pt x="1504897" y="0"/>
                </a:lnTo>
                <a:lnTo>
                  <a:pt x="1504897" y="797595"/>
                </a:lnTo>
                <a:lnTo>
                  <a:pt x="0" y="79759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5" id="15"/>
          <p:cNvSpPr/>
          <p:nvPr/>
        </p:nvSpPr>
        <p:spPr>
          <a:xfrm flipH="false" flipV="false" rot="-10800000">
            <a:off x="7882578" y="2312668"/>
            <a:ext cx="1518896" cy="805015"/>
          </a:xfrm>
          <a:custGeom>
            <a:avLst/>
            <a:gdLst/>
            <a:ahLst/>
            <a:cxnLst/>
            <a:rect r="r" b="b" t="t" l="l"/>
            <a:pathLst>
              <a:path h="805015" w="1518896">
                <a:moveTo>
                  <a:pt x="0" y="0"/>
                </a:moveTo>
                <a:lnTo>
                  <a:pt x="1518896" y="0"/>
                </a:lnTo>
                <a:lnTo>
                  <a:pt x="1518896" y="805015"/>
                </a:lnTo>
                <a:lnTo>
                  <a:pt x="0" y="80501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6" id="16"/>
          <p:cNvGrpSpPr/>
          <p:nvPr/>
        </p:nvGrpSpPr>
        <p:grpSpPr>
          <a:xfrm rot="0">
            <a:off x="671775" y="7074687"/>
            <a:ext cx="6610257" cy="1889433"/>
            <a:chOff x="0" y="0"/>
            <a:chExt cx="8813677" cy="2519244"/>
          </a:xfrm>
        </p:grpSpPr>
        <p:grpSp>
          <p:nvGrpSpPr>
            <p:cNvPr name="Group 17" id="17"/>
            <p:cNvGrpSpPr/>
            <p:nvPr/>
          </p:nvGrpSpPr>
          <p:grpSpPr>
            <a:xfrm rot="0">
              <a:off x="0" y="0"/>
              <a:ext cx="8813677" cy="2519244"/>
              <a:chOff x="0" y="0"/>
              <a:chExt cx="1740973" cy="497629"/>
            </a:xfrm>
          </p:grpSpPr>
          <p:sp>
            <p:nvSpPr>
              <p:cNvPr name="Freeform 18" id="18"/>
              <p:cNvSpPr/>
              <p:nvPr/>
            </p:nvSpPr>
            <p:spPr>
              <a:xfrm flipH="false" flipV="false" rot="0">
                <a:off x="0" y="0"/>
                <a:ext cx="1740973" cy="497629"/>
              </a:xfrm>
              <a:custGeom>
                <a:avLst/>
                <a:gdLst/>
                <a:ahLst/>
                <a:cxnLst/>
                <a:rect r="r" b="b" t="t" l="l"/>
                <a:pathLst>
                  <a:path h="497629" w="1740973">
                    <a:moveTo>
                      <a:pt x="65587" y="0"/>
                    </a:moveTo>
                    <a:lnTo>
                      <a:pt x="1675386" y="0"/>
                    </a:lnTo>
                    <a:cubicBezTo>
                      <a:pt x="1692781" y="0"/>
                      <a:pt x="1709463" y="6910"/>
                      <a:pt x="1721763" y="19210"/>
                    </a:cubicBezTo>
                    <a:cubicBezTo>
                      <a:pt x="1734063" y="31510"/>
                      <a:pt x="1740973" y="48192"/>
                      <a:pt x="1740973" y="65587"/>
                    </a:cubicBezTo>
                    <a:lnTo>
                      <a:pt x="1740973" y="432041"/>
                    </a:lnTo>
                    <a:cubicBezTo>
                      <a:pt x="1740973" y="449436"/>
                      <a:pt x="1734063" y="466119"/>
                      <a:pt x="1721763" y="478419"/>
                    </a:cubicBezTo>
                    <a:cubicBezTo>
                      <a:pt x="1709463" y="490718"/>
                      <a:pt x="1692781" y="497629"/>
                      <a:pt x="1675386" y="497629"/>
                    </a:cubicBezTo>
                    <a:lnTo>
                      <a:pt x="65587" y="497629"/>
                    </a:lnTo>
                    <a:cubicBezTo>
                      <a:pt x="48192" y="497629"/>
                      <a:pt x="31510" y="490718"/>
                      <a:pt x="19210" y="478419"/>
                    </a:cubicBezTo>
                    <a:cubicBezTo>
                      <a:pt x="6910" y="466119"/>
                      <a:pt x="0" y="449436"/>
                      <a:pt x="0" y="432041"/>
                    </a:cubicBezTo>
                    <a:lnTo>
                      <a:pt x="0" y="65587"/>
                    </a:lnTo>
                    <a:cubicBezTo>
                      <a:pt x="0" y="48192"/>
                      <a:pt x="6910" y="31510"/>
                      <a:pt x="19210" y="19210"/>
                    </a:cubicBezTo>
                    <a:cubicBezTo>
                      <a:pt x="31510" y="6910"/>
                      <a:pt x="48192" y="0"/>
                      <a:pt x="65587" y="0"/>
                    </a:cubicBezTo>
                    <a:close/>
                  </a:path>
                </a:pathLst>
              </a:custGeom>
              <a:solidFill>
                <a:srgbClr val="000000">
                  <a:alpha val="0"/>
                </a:srgbClr>
              </a:solidFill>
              <a:ln w="28575" cap="rnd">
                <a:solidFill>
                  <a:srgbClr val="FFFFFF"/>
                </a:solidFill>
                <a:prstDash val="solid"/>
                <a:round/>
              </a:ln>
            </p:spPr>
          </p:sp>
          <p:sp>
            <p:nvSpPr>
              <p:cNvPr name="TextBox 19" id="19"/>
              <p:cNvSpPr txBox="true"/>
              <p:nvPr/>
            </p:nvSpPr>
            <p:spPr>
              <a:xfrm>
                <a:off x="0" y="-57150"/>
                <a:ext cx="1740973" cy="554779"/>
              </a:xfrm>
              <a:prstGeom prst="rect">
                <a:avLst/>
              </a:prstGeom>
            </p:spPr>
            <p:txBody>
              <a:bodyPr anchor="ctr" rtlCol="false" tIns="50800" lIns="50800" bIns="50800" rIns="50800"/>
              <a:lstStyle/>
              <a:p>
                <a:pPr algn="ctr">
                  <a:lnSpc>
                    <a:spcPts val="2731"/>
                  </a:lnSpc>
                </a:pPr>
              </a:p>
            </p:txBody>
          </p:sp>
        </p:grpSp>
        <p:sp>
          <p:nvSpPr>
            <p:cNvPr name="TextBox 20" id="20"/>
            <p:cNvSpPr txBox="true"/>
            <p:nvPr/>
          </p:nvSpPr>
          <p:spPr>
            <a:xfrm rot="0">
              <a:off x="971036" y="473470"/>
              <a:ext cx="7377311" cy="1558163"/>
            </a:xfrm>
            <a:prstGeom prst="rect">
              <a:avLst/>
            </a:prstGeom>
          </p:spPr>
          <p:txBody>
            <a:bodyPr anchor="t" rtlCol="false" tIns="0" lIns="0" bIns="0" rIns="0">
              <a:spAutoFit/>
            </a:bodyPr>
            <a:lstStyle/>
            <a:p>
              <a:pPr algn="l">
                <a:lnSpc>
                  <a:spcPts val="4330"/>
                </a:lnSpc>
              </a:pPr>
              <a:r>
                <a:rPr lang="en-US" b="true" sz="4245" spc="-191">
                  <a:solidFill>
                    <a:srgbClr val="FFFFFF"/>
                  </a:solidFill>
                  <a:latin typeface="Telegraf Bold"/>
                  <a:ea typeface="Telegraf Bold"/>
                  <a:cs typeface="Telegraf Bold"/>
                  <a:sym typeface="Telegraf Bold"/>
                </a:rPr>
                <a:t>Sentiment Classification Counts</a:t>
              </a:r>
            </a:p>
          </p:txBody>
        </p:sp>
      </p:grpSp>
      <p:sp>
        <p:nvSpPr>
          <p:cNvPr name="TextBox 21" id="21"/>
          <p:cNvSpPr txBox="true"/>
          <p:nvPr/>
        </p:nvSpPr>
        <p:spPr>
          <a:xfrm rot="0">
            <a:off x="9144000" y="841660"/>
            <a:ext cx="1662550" cy="409541"/>
          </a:xfrm>
          <a:prstGeom prst="rect">
            <a:avLst/>
          </a:prstGeom>
        </p:spPr>
        <p:txBody>
          <a:bodyPr anchor="t" rtlCol="false" tIns="0" lIns="0" bIns="0" rIns="0">
            <a:spAutoFit/>
          </a:bodyPr>
          <a:lstStyle/>
          <a:p>
            <a:pPr algn="r" marL="0" indent="0" lvl="0">
              <a:lnSpc>
                <a:spcPts val="3151"/>
              </a:lnSpc>
              <a:spcBef>
                <a:spcPct val="0"/>
              </a:spcBef>
            </a:pPr>
            <a:r>
              <a:rPr lang="en-US" sz="2251">
                <a:solidFill>
                  <a:srgbClr val="FFFFFF"/>
                </a:solidFill>
                <a:latin typeface="Poppins"/>
                <a:ea typeface="Poppins"/>
                <a:cs typeface="Poppins"/>
                <a:sym typeface="Poppins"/>
              </a:rPr>
              <a:t>Home</a:t>
            </a:r>
          </a:p>
        </p:txBody>
      </p:sp>
      <p:sp>
        <p:nvSpPr>
          <p:cNvPr name="TextBox 22" id="22"/>
          <p:cNvSpPr txBox="true"/>
          <p:nvPr/>
        </p:nvSpPr>
        <p:spPr>
          <a:xfrm rot="0">
            <a:off x="11408122" y="843874"/>
            <a:ext cx="1907082" cy="409541"/>
          </a:xfrm>
          <a:prstGeom prst="rect">
            <a:avLst/>
          </a:prstGeom>
        </p:spPr>
        <p:txBody>
          <a:bodyPr anchor="t" rtlCol="false" tIns="0" lIns="0" bIns="0" rIns="0">
            <a:spAutoFit/>
          </a:bodyPr>
          <a:lstStyle/>
          <a:p>
            <a:pPr algn="ctr" marL="0" indent="0" lvl="0">
              <a:lnSpc>
                <a:spcPts val="3151"/>
              </a:lnSpc>
              <a:spcBef>
                <a:spcPct val="0"/>
              </a:spcBef>
            </a:pPr>
            <a:r>
              <a:rPr lang="en-US" sz="2251">
                <a:solidFill>
                  <a:srgbClr val="FFFFFF"/>
                </a:solidFill>
                <a:latin typeface="Poppins"/>
                <a:ea typeface="Poppins"/>
                <a:cs typeface="Poppins"/>
                <a:sym typeface="Poppins"/>
              </a:rPr>
              <a:t>About</a:t>
            </a:r>
          </a:p>
        </p:txBody>
      </p:sp>
      <p:sp>
        <p:nvSpPr>
          <p:cNvPr name="TextBox 23" id="23"/>
          <p:cNvSpPr txBox="true"/>
          <p:nvPr/>
        </p:nvSpPr>
        <p:spPr>
          <a:xfrm rot="0">
            <a:off x="13726729" y="819695"/>
            <a:ext cx="1916881" cy="409541"/>
          </a:xfrm>
          <a:prstGeom prst="rect">
            <a:avLst/>
          </a:prstGeom>
        </p:spPr>
        <p:txBody>
          <a:bodyPr anchor="t" rtlCol="false" tIns="0" lIns="0" bIns="0" rIns="0">
            <a:spAutoFit/>
          </a:bodyPr>
          <a:lstStyle/>
          <a:p>
            <a:pPr algn="ctr" marL="0" indent="0" lvl="0">
              <a:lnSpc>
                <a:spcPts val="3151"/>
              </a:lnSpc>
              <a:spcBef>
                <a:spcPct val="0"/>
              </a:spcBef>
            </a:pPr>
            <a:r>
              <a:rPr lang="en-US" b="true" sz="2251">
                <a:solidFill>
                  <a:srgbClr val="FFFFFF"/>
                </a:solidFill>
                <a:latin typeface="Poppins Bold"/>
                <a:ea typeface="Poppins Bold"/>
                <a:cs typeface="Poppins Bold"/>
                <a:sym typeface="Poppins Bold"/>
              </a:rPr>
              <a:t>Content</a:t>
            </a:r>
          </a:p>
        </p:txBody>
      </p:sp>
      <p:sp>
        <p:nvSpPr>
          <p:cNvPr name="TextBox 24" id="24"/>
          <p:cNvSpPr txBox="true"/>
          <p:nvPr/>
        </p:nvSpPr>
        <p:spPr>
          <a:xfrm rot="0">
            <a:off x="15034325" y="841660"/>
            <a:ext cx="2224975" cy="409541"/>
          </a:xfrm>
          <a:prstGeom prst="rect">
            <a:avLst/>
          </a:prstGeom>
        </p:spPr>
        <p:txBody>
          <a:bodyPr anchor="t" rtlCol="false" tIns="0" lIns="0" bIns="0" rIns="0">
            <a:spAutoFit/>
          </a:bodyPr>
          <a:lstStyle/>
          <a:p>
            <a:pPr algn="r" marL="0" indent="0" lvl="0">
              <a:lnSpc>
                <a:spcPts val="3151"/>
              </a:lnSpc>
              <a:spcBef>
                <a:spcPct val="0"/>
              </a:spcBef>
            </a:pPr>
            <a:r>
              <a:rPr lang="en-US" sz="2251">
                <a:solidFill>
                  <a:srgbClr val="FFFFFF"/>
                </a:solidFill>
                <a:latin typeface="Poppins"/>
                <a:ea typeface="Poppins"/>
                <a:cs typeface="Poppins"/>
                <a:sym typeface="Poppins"/>
              </a:rPr>
              <a:t>Others</a:t>
            </a:r>
          </a:p>
        </p:txBody>
      </p:sp>
      <p:sp>
        <p:nvSpPr>
          <p:cNvPr name="Freeform 25" id="25"/>
          <p:cNvSpPr/>
          <p:nvPr/>
        </p:nvSpPr>
        <p:spPr>
          <a:xfrm flipH="false" flipV="false" rot="0">
            <a:off x="1253414" y="1747781"/>
            <a:ext cx="5416989" cy="3712187"/>
          </a:xfrm>
          <a:custGeom>
            <a:avLst/>
            <a:gdLst/>
            <a:ahLst/>
            <a:cxnLst/>
            <a:rect r="r" b="b" t="t" l="l"/>
            <a:pathLst>
              <a:path h="3712187" w="5416989">
                <a:moveTo>
                  <a:pt x="0" y="0"/>
                </a:moveTo>
                <a:lnTo>
                  <a:pt x="5416989" y="0"/>
                </a:lnTo>
                <a:lnTo>
                  <a:pt x="5416989" y="3712187"/>
                </a:lnTo>
                <a:lnTo>
                  <a:pt x="0" y="3712187"/>
                </a:lnTo>
                <a:lnTo>
                  <a:pt x="0" y="0"/>
                </a:lnTo>
                <a:close/>
              </a:path>
            </a:pathLst>
          </a:custGeom>
          <a:blipFill>
            <a:blip r:embed="rId6"/>
            <a:stretch>
              <a:fillRect l="0" t="0" r="0" b="0"/>
            </a:stretch>
          </a:blipFill>
        </p:spPr>
      </p:sp>
      <p:sp>
        <p:nvSpPr>
          <p:cNvPr name="Freeform 26" id="26"/>
          <p:cNvSpPr/>
          <p:nvPr/>
        </p:nvSpPr>
        <p:spPr>
          <a:xfrm flipH="false" flipV="false" rot="0">
            <a:off x="10405760" y="4042744"/>
            <a:ext cx="6641937" cy="4595402"/>
          </a:xfrm>
          <a:custGeom>
            <a:avLst/>
            <a:gdLst/>
            <a:ahLst/>
            <a:cxnLst/>
            <a:rect r="r" b="b" t="t" l="l"/>
            <a:pathLst>
              <a:path h="4595402" w="6641937">
                <a:moveTo>
                  <a:pt x="0" y="0"/>
                </a:moveTo>
                <a:lnTo>
                  <a:pt x="6641938" y="0"/>
                </a:lnTo>
                <a:lnTo>
                  <a:pt x="6641938" y="4595402"/>
                </a:lnTo>
                <a:lnTo>
                  <a:pt x="0" y="4595402"/>
                </a:lnTo>
                <a:lnTo>
                  <a:pt x="0" y="0"/>
                </a:lnTo>
                <a:close/>
              </a:path>
            </a:pathLst>
          </a:custGeom>
          <a:blipFill>
            <a:blip r:embed="rId7"/>
            <a:stretch>
              <a:fillRect l="0" t="0" r="0" b="0"/>
            </a:stretch>
          </a:blipFill>
        </p:spPr>
      </p:sp>
      <p:sp>
        <p:nvSpPr>
          <p:cNvPr name="TextBox 27" id="27"/>
          <p:cNvSpPr txBox="true"/>
          <p:nvPr/>
        </p:nvSpPr>
        <p:spPr>
          <a:xfrm rot="0">
            <a:off x="1363845" y="768097"/>
            <a:ext cx="3551055" cy="445006"/>
          </a:xfrm>
          <a:prstGeom prst="rect">
            <a:avLst/>
          </a:prstGeom>
        </p:spPr>
        <p:txBody>
          <a:bodyPr anchor="t" rtlCol="false" tIns="0" lIns="0" bIns="0" rIns="0">
            <a:spAutoFit/>
          </a:bodyPr>
          <a:lstStyle/>
          <a:p>
            <a:pPr algn="l">
              <a:lnSpc>
                <a:spcPts val="3391"/>
              </a:lnSpc>
              <a:spcBef>
                <a:spcPct val="0"/>
              </a:spcBef>
            </a:pPr>
            <a:r>
              <a:rPr lang="en-US" b="true" sz="2422" spc="-109">
                <a:solidFill>
                  <a:srgbClr val="FFFFFF"/>
                </a:solidFill>
                <a:latin typeface="Telegraf Bold"/>
                <a:ea typeface="Telegraf Bold"/>
                <a:cs typeface="Telegraf Bold"/>
                <a:sym typeface="Telegraf Bold"/>
              </a:rPr>
              <a:t>Forensics Analytics</a:t>
            </a:r>
          </a:p>
        </p:txBody>
      </p:sp>
    </p:spTree>
  </p:cSld>
  <p:clrMapOvr>
    <a:masterClrMapping/>
  </p:clrMapOvr>
  <p:transition spd="slow">
    <p:push dir="l"/>
  </p:transition>
</p:sld>
</file>

<file path=ppt/slides/slide1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F9B">
                <a:alpha val="100000"/>
              </a:srgbClr>
            </a:gs>
            <a:gs pos="50000">
              <a:srgbClr val="EB0000">
                <a:alpha val="100000"/>
              </a:srgbClr>
            </a:gs>
            <a:gs pos="100000">
              <a:srgbClr val="A000EB">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grpSp>
        <p:nvGrpSpPr>
          <p:cNvPr name="Group 2" id="2"/>
          <p:cNvGrpSpPr/>
          <p:nvPr/>
        </p:nvGrpSpPr>
        <p:grpSpPr>
          <a:xfrm rot="0">
            <a:off x="3413013" y="1592866"/>
            <a:ext cx="12230597" cy="1711357"/>
            <a:chOff x="0" y="0"/>
            <a:chExt cx="3221227" cy="450728"/>
          </a:xfrm>
        </p:grpSpPr>
        <p:sp>
          <p:nvSpPr>
            <p:cNvPr name="Freeform 3" id="3"/>
            <p:cNvSpPr/>
            <p:nvPr/>
          </p:nvSpPr>
          <p:spPr>
            <a:xfrm flipH="false" flipV="false" rot="0">
              <a:off x="0" y="0"/>
              <a:ext cx="3221227" cy="450728"/>
            </a:xfrm>
            <a:custGeom>
              <a:avLst/>
              <a:gdLst/>
              <a:ahLst/>
              <a:cxnLst/>
              <a:rect r="r" b="b" t="t" l="l"/>
              <a:pathLst>
                <a:path h="450728" w="3221227">
                  <a:moveTo>
                    <a:pt x="35448" y="0"/>
                  </a:moveTo>
                  <a:lnTo>
                    <a:pt x="3185779" y="0"/>
                  </a:lnTo>
                  <a:cubicBezTo>
                    <a:pt x="3205357" y="0"/>
                    <a:pt x="3221227" y="15871"/>
                    <a:pt x="3221227" y="35448"/>
                  </a:cubicBezTo>
                  <a:lnTo>
                    <a:pt x="3221227" y="415280"/>
                  </a:lnTo>
                  <a:cubicBezTo>
                    <a:pt x="3221227" y="424681"/>
                    <a:pt x="3217493" y="433698"/>
                    <a:pt x="3210845" y="440345"/>
                  </a:cubicBezTo>
                  <a:cubicBezTo>
                    <a:pt x="3204197" y="446993"/>
                    <a:pt x="3195181" y="450728"/>
                    <a:pt x="3185779" y="450728"/>
                  </a:cubicBezTo>
                  <a:lnTo>
                    <a:pt x="35448" y="450728"/>
                  </a:lnTo>
                  <a:cubicBezTo>
                    <a:pt x="15871" y="450728"/>
                    <a:pt x="0" y="434857"/>
                    <a:pt x="0" y="415280"/>
                  </a:cubicBezTo>
                  <a:lnTo>
                    <a:pt x="0" y="35448"/>
                  </a:lnTo>
                  <a:cubicBezTo>
                    <a:pt x="0" y="26046"/>
                    <a:pt x="3735" y="17030"/>
                    <a:pt x="10382" y="10382"/>
                  </a:cubicBezTo>
                  <a:cubicBezTo>
                    <a:pt x="17030" y="3735"/>
                    <a:pt x="26046" y="0"/>
                    <a:pt x="35448" y="0"/>
                  </a:cubicBezTo>
                  <a:close/>
                </a:path>
              </a:pathLst>
            </a:custGeom>
            <a:solidFill>
              <a:srgbClr val="FFFFFF">
                <a:alpha val="21961"/>
              </a:srgbClr>
            </a:solidFill>
          </p:spPr>
        </p:sp>
        <p:sp>
          <p:nvSpPr>
            <p:cNvPr name="TextBox 4" id="4"/>
            <p:cNvSpPr txBox="true"/>
            <p:nvPr/>
          </p:nvSpPr>
          <p:spPr>
            <a:xfrm>
              <a:off x="0" y="-38100"/>
              <a:ext cx="3221227" cy="488828"/>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803986" y="803986"/>
            <a:ext cx="449429" cy="449429"/>
          </a:xfrm>
          <a:custGeom>
            <a:avLst/>
            <a:gdLst/>
            <a:ahLst/>
            <a:cxnLst/>
            <a:rect r="r" b="b" t="t" l="l"/>
            <a:pathLst>
              <a:path h="449429" w="449429">
                <a:moveTo>
                  <a:pt x="0" y="0"/>
                </a:moveTo>
                <a:lnTo>
                  <a:pt x="449428" y="0"/>
                </a:lnTo>
                <a:lnTo>
                  <a:pt x="449428" y="449428"/>
                </a:lnTo>
                <a:lnTo>
                  <a:pt x="0" y="4494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6146813" y="8981692"/>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803986" y="3965549"/>
            <a:ext cx="7016515" cy="3631354"/>
          </a:xfrm>
          <a:custGeom>
            <a:avLst/>
            <a:gdLst/>
            <a:ahLst/>
            <a:cxnLst/>
            <a:rect r="r" b="b" t="t" l="l"/>
            <a:pathLst>
              <a:path h="3631354" w="7016515">
                <a:moveTo>
                  <a:pt x="0" y="0"/>
                </a:moveTo>
                <a:lnTo>
                  <a:pt x="7016515" y="0"/>
                </a:lnTo>
                <a:lnTo>
                  <a:pt x="7016515" y="3631355"/>
                </a:lnTo>
                <a:lnTo>
                  <a:pt x="0" y="3631355"/>
                </a:lnTo>
                <a:lnTo>
                  <a:pt x="0" y="0"/>
                </a:lnTo>
                <a:close/>
              </a:path>
            </a:pathLst>
          </a:custGeom>
          <a:blipFill>
            <a:blip r:embed="rId6"/>
            <a:stretch>
              <a:fillRect l="0" t="0" r="0" b="0"/>
            </a:stretch>
          </a:blipFill>
        </p:spPr>
      </p:sp>
      <p:sp>
        <p:nvSpPr>
          <p:cNvPr name="TextBox 8" id="8"/>
          <p:cNvSpPr txBox="true"/>
          <p:nvPr/>
        </p:nvSpPr>
        <p:spPr>
          <a:xfrm rot="0">
            <a:off x="1589605" y="2042882"/>
            <a:ext cx="15669695" cy="849424"/>
          </a:xfrm>
          <a:prstGeom prst="rect">
            <a:avLst/>
          </a:prstGeom>
        </p:spPr>
        <p:txBody>
          <a:bodyPr anchor="t" rtlCol="false" tIns="0" lIns="0" bIns="0" rIns="0">
            <a:spAutoFit/>
          </a:bodyPr>
          <a:lstStyle/>
          <a:p>
            <a:pPr algn="ctr">
              <a:lnSpc>
                <a:spcPts val="5966"/>
              </a:lnSpc>
            </a:pPr>
            <a:r>
              <a:rPr lang="en-US" b="true" sz="5849" spc="-263">
                <a:solidFill>
                  <a:srgbClr val="FFFFFF"/>
                </a:solidFill>
                <a:latin typeface="Telegraf Bold"/>
                <a:ea typeface="Telegraf Bold"/>
                <a:cs typeface="Telegraf Bold"/>
                <a:sym typeface="Telegraf Bold"/>
              </a:rPr>
              <a:t>Temporal &amp; Network Analysis</a:t>
            </a:r>
          </a:p>
        </p:txBody>
      </p:sp>
      <p:sp>
        <p:nvSpPr>
          <p:cNvPr name="TextBox 9" id="9"/>
          <p:cNvSpPr txBox="true"/>
          <p:nvPr/>
        </p:nvSpPr>
        <p:spPr>
          <a:xfrm rot="0">
            <a:off x="9144000" y="841660"/>
            <a:ext cx="1662550" cy="409541"/>
          </a:xfrm>
          <a:prstGeom prst="rect">
            <a:avLst/>
          </a:prstGeom>
        </p:spPr>
        <p:txBody>
          <a:bodyPr anchor="t" rtlCol="false" tIns="0" lIns="0" bIns="0" rIns="0">
            <a:spAutoFit/>
          </a:bodyPr>
          <a:lstStyle/>
          <a:p>
            <a:pPr algn="r" marL="0" indent="0" lvl="0">
              <a:lnSpc>
                <a:spcPts val="3151"/>
              </a:lnSpc>
              <a:spcBef>
                <a:spcPct val="0"/>
              </a:spcBef>
            </a:pPr>
            <a:r>
              <a:rPr lang="en-US" sz="2251">
                <a:solidFill>
                  <a:srgbClr val="FFFFFF"/>
                </a:solidFill>
                <a:latin typeface="Poppins"/>
                <a:ea typeface="Poppins"/>
                <a:cs typeface="Poppins"/>
                <a:sym typeface="Poppins"/>
              </a:rPr>
              <a:t>Home</a:t>
            </a:r>
          </a:p>
        </p:txBody>
      </p:sp>
      <p:sp>
        <p:nvSpPr>
          <p:cNvPr name="TextBox 10" id="10"/>
          <p:cNvSpPr txBox="true"/>
          <p:nvPr/>
        </p:nvSpPr>
        <p:spPr>
          <a:xfrm rot="0">
            <a:off x="11408122" y="843874"/>
            <a:ext cx="1907082" cy="409541"/>
          </a:xfrm>
          <a:prstGeom prst="rect">
            <a:avLst/>
          </a:prstGeom>
        </p:spPr>
        <p:txBody>
          <a:bodyPr anchor="t" rtlCol="false" tIns="0" lIns="0" bIns="0" rIns="0">
            <a:spAutoFit/>
          </a:bodyPr>
          <a:lstStyle/>
          <a:p>
            <a:pPr algn="ctr" marL="0" indent="0" lvl="0">
              <a:lnSpc>
                <a:spcPts val="3151"/>
              </a:lnSpc>
              <a:spcBef>
                <a:spcPct val="0"/>
              </a:spcBef>
            </a:pPr>
            <a:r>
              <a:rPr lang="en-US" sz="2251">
                <a:solidFill>
                  <a:srgbClr val="FFFFFF"/>
                </a:solidFill>
                <a:latin typeface="Poppins"/>
                <a:ea typeface="Poppins"/>
                <a:cs typeface="Poppins"/>
                <a:sym typeface="Poppins"/>
              </a:rPr>
              <a:t>About</a:t>
            </a:r>
          </a:p>
        </p:txBody>
      </p:sp>
      <p:sp>
        <p:nvSpPr>
          <p:cNvPr name="TextBox 11" id="11"/>
          <p:cNvSpPr txBox="true"/>
          <p:nvPr/>
        </p:nvSpPr>
        <p:spPr>
          <a:xfrm rot="0">
            <a:off x="13726729" y="819695"/>
            <a:ext cx="1916881" cy="409541"/>
          </a:xfrm>
          <a:prstGeom prst="rect">
            <a:avLst/>
          </a:prstGeom>
        </p:spPr>
        <p:txBody>
          <a:bodyPr anchor="t" rtlCol="false" tIns="0" lIns="0" bIns="0" rIns="0">
            <a:spAutoFit/>
          </a:bodyPr>
          <a:lstStyle/>
          <a:p>
            <a:pPr algn="ctr" marL="0" indent="0" lvl="0">
              <a:lnSpc>
                <a:spcPts val="3151"/>
              </a:lnSpc>
              <a:spcBef>
                <a:spcPct val="0"/>
              </a:spcBef>
            </a:pPr>
            <a:r>
              <a:rPr lang="en-US" b="true" sz="2251">
                <a:solidFill>
                  <a:srgbClr val="FFFFFF"/>
                </a:solidFill>
                <a:latin typeface="Poppins Bold"/>
                <a:ea typeface="Poppins Bold"/>
                <a:cs typeface="Poppins Bold"/>
                <a:sym typeface="Poppins Bold"/>
              </a:rPr>
              <a:t>Content</a:t>
            </a:r>
          </a:p>
        </p:txBody>
      </p:sp>
      <p:sp>
        <p:nvSpPr>
          <p:cNvPr name="TextBox 12" id="12"/>
          <p:cNvSpPr txBox="true"/>
          <p:nvPr/>
        </p:nvSpPr>
        <p:spPr>
          <a:xfrm rot="0">
            <a:off x="15034325" y="841660"/>
            <a:ext cx="2224975" cy="409541"/>
          </a:xfrm>
          <a:prstGeom prst="rect">
            <a:avLst/>
          </a:prstGeom>
        </p:spPr>
        <p:txBody>
          <a:bodyPr anchor="t" rtlCol="false" tIns="0" lIns="0" bIns="0" rIns="0">
            <a:spAutoFit/>
          </a:bodyPr>
          <a:lstStyle/>
          <a:p>
            <a:pPr algn="r" marL="0" indent="0" lvl="0">
              <a:lnSpc>
                <a:spcPts val="3151"/>
              </a:lnSpc>
              <a:spcBef>
                <a:spcPct val="0"/>
              </a:spcBef>
            </a:pPr>
            <a:r>
              <a:rPr lang="en-US" sz="2251">
                <a:solidFill>
                  <a:srgbClr val="FFFFFF"/>
                </a:solidFill>
                <a:latin typeface="Poppins"/>
                <a:ea typeface="Poppins"/>
                <a:cs typeface="Poppins"/>
                <a:sym typeface="Poppins"/>
              </a:rPr>
              <a:t>Others</a:t>
            </a:r>
          </a:p>
        </p:txBody>
      </p:sp>
      <p:sp>
        <p:nvSpPr>
          <p:cNvPr name="TextBox 13" id="13"/>
          <p:cNvSpPr txBox="true"/>
          <p:nvPr/>
        </p:nvSpPr>
        <p:spPr>
          <a:xfrm rot="0">
            <a:off x="1363845" y="768097"/>
            <a:ext cx="3551055" cy="445006"/>
          </a:xfrm>
          <a:prstGeom prst="rect">
            <a:avLst/>
          </a:prstGeom>
        </p:spPr>
        <p:txBody>
          <a:bodyPr anchor="t" rtlCol="false" tIns="0" lIns="0" bIns="0" rIns="0">
            <a:spAutoFit/>
          </a:bodyPr>
          <a:lstStyle/>
          <a:p>
            <a:pPr algn="l">
              <a:lnSpc>
                <a:spcPts val="3391"/>
              </a:lnSpc>
              <a:spcBef>
                <a:spcPct val="0"/>
              </a:spcBef>
            </a:pPr>
            <a:r>
              <a:rPr lang="en-US" b="true" sz="2422" spc="-109">
                <a:solidFill>
                  <a:srgbClr val="FFFFFF"/>
                </a:solidFill>
                <a:latin typeface="Telegraf Bold"/>
                <a:ea typeface="Telegraf Bold"/>
                <a:cs typeface="Telegraf Bold"/>
                <a:sym typeface="Telegraf Bold"/>
              </a:rPr>
              <a:t>Forensics Analytics</a:t>
            </a:r>
          </a:p>
        </p:txBody>
      </p:sp>
      <p:grpSp>
        <p:nvGrpSpPr>
          <p:cNvPr name="Group 14" id="14"/>
          <p:cNvGrpSpPr/>
          <p:nvPr/>
        </p:nvGrpSpPr>
        <p:grpSpPr>
          <a:xfrm rot="0">
            <a:off x="8084910" y="3666172"/>
            <a:ext cx="9624415" cy="5592128"/>
            <a:chOff x="0" y="0"/>
            <a:chExt cx="3403099" cy="1977322"/>
          </a:xfrm>
        </p:grpSpPr>
        <p:sp>
          <p:nvSpPr>
            <p:cNvPr name="Freeform 15" id="15"/>
            <p:cNvSpPr/>
            <p:nvPr/>
          </p:nvSpPr>
          <p:spPr>
            <a:xfrm flipH="false" flipV="false" rot="0">
              <a:off x="0" y="0"/>
              <a:ext cx="3403099" cy="1977322"/>
            </a:xfrm>
            <a:custGeom>
              <a:avLst/>
              <a:gdLst/>
              <a:ahLst/>
              <a:cxnLst/>
              <a:rect r="r" b="b" t="t" l="l"/>
              <a:pathLst>
                <a:path h="1977322" w="3403099">
                  <a:moveTo>
                    <a:pt x="45047" y="0"/>
                  </a:moveTo>
                  <a:lnTo>
                    <a:pt x="3358053" y="0"/>
                  </a:lnTo>
                  <a:cubicBezTo>
                    <a:pt x="3382931" y="0"/>
                    <a:pt x="3403099" y="20168"/>
                    <a:pt x="3403099" y="45047"/>
                  </a:cubicBezTo>
                  <a:lnTo>
                    <a:pt x="3403099" y="1932275"/>
                  </a:lnTo>
                  <a:cubicBezTo>
                    <a:pt x="3403099" y="1957154"/>
                    <a:pt x="3382931" y="1977322"/>
                    <a:pt x="3358053" y="1977322"/>
                  </a:cubicBezTo>
                  <a:lnTo>
                    <a:pt x="45047" y="1977322"/>
                  </a:lnTo>
                  <a:cubicBezTo>
                    <a:pt x="20168" y="1977322"/>
                    <a:pt x="0" y="1957154"/>
                    <a:pt x="0" y="1932275"/>
                  </a:cubicBezTo>
                  <a:lnTo>
                    <a:pt x="0" y="45047"/>
                  </a:lnTo>
                  <a:cubicBezTo>
                    <a:pt x="0" y="20168"/>
                    <a:pt x="20168" y="0"/>
                    <a:pt x="45047" y="0"/>
                  </a:cubicBezTo>
                  <a:close/>
                </a:path>
              </a:pathLst>
            </a:custGeom>
            <a:gradFill rotWithShape="true">
              <a:gsLst>
                <a:gs pos="0">
                  <a:srgbClr val="000000">
                    <a:alpha val="78000"/>
                  </a:srgbClr>
                </a:gs>
                <a:gs pos="100000">
                  <a:srgbClr val="DDDDDD">
                    <a:alpha val="14820"/>
                  </a:srgbClr>
                </a:gs>
              </a:gsLst>
              <a:lin ang="2700000"/>
            </a:gradFill>
          </p:spPr>
        </p:sp>
        <p:sp>
          <p:nvSpPr>
            <p:cNvPr name="TextBox 16" id="16"/>
            <p:cNvSpPr txBox="true"/>
            <p:nvPr/>
          </p:nvSpPr>
          <p:spPr>
            <a:xfrm>
              <a:off x="0" y="-66675"/>
              <a:ext cx="3403099" cy="2043997"/>
            </a:xfrm>
            <a:prstGeom prst="rect">
              <a:avLst/>
            </a:prstGeom>
          </p:spPr>
          <p:txBody>
            <a:bodyPr anchor="ctr" rtlCol="false" tIns="37213" lIns="37213" bIns="37213" rIns="37213"/>
            <a:lstStyle/>
            <a:p>
              <a:pPr algn="ctr">
                <a:lnSpc>
                  <a:spcPts val="3151"/>
                </a:lnSpc>
              </a:pPr>
            </a:p>
          </p:txBody>
        </p:sp>
      </p:grpSp>
      <p:sp>
        <p:nvSpPr>
          <p:cNvPr name="TextBox 17" id="17"/>
          <p:cNvSpPr txBox="true"/>
          <p:nvPr/>
        </p:nvSpPr>
        <p:spPr>
          <a:xfrm rot="0">
            <a:off x="8471416" y="3990022"/>
            <a:ext cx="8586994" cy="2009741"/>
          </a:xfrm>
          <a:prstGeom prst="rect">
            <a:avLst/>
          </a:prstGeom>
        </p:spPr>
        <p:txBody>
          <a:bodyPr anchor="t" rtlCol="false" tIns="0" lIns="0" bIns="0" rIns="0">
            <a:spAutoFit/>
          </a:bodyPr>
          <a:lstStyle/>
          <a:p>
            <a:pPr algn="l">
              <a:lnSpc>
                <a:spcPts val="3151"/>
              </a:lnSpc>
            </a:pPr>
            <a:r>
              <a:rPr lang="en-US" b="true" sz="2251">
                <a:solidFill>
                  <a:srgbClr val="FFFFFF"/>
                </a:solidFill>
                <a:latin typeface="Poppins Bold"/>
                <a:ea typeface="Poppins Bold"/>
                <a:cs typeface="Poppins Bold"/>
                <a:sym typeface="Poppins Bold"/>
              </a:rPr>
              <a:t>Time-Series Analysis (CUSUM):</a:t>
            </a:r>
          </a:p>
          <a:p>
            <a:pPr algn="l" marL="486066" indent="-243033" lvl="1">
              <a:lnSpc>
                <a:spcPts val="3151"/>
              </a:lnSpc>
              <a:buFont typeface="Arial"/>
              <a:buChar char="•"/>
            </a:pPr>
            <a:r>
              <a:rPr lang="en-US" sz="2251">
                <a:solidFill>
                  <a:srgbClr val="FFFFFF"/>
                </a:solidFill>
                <a:latin typeface="Poppins"/>
                <a:ea typeface="Poppins"/>
                <a:cs typeface="Poppins"/>
                <a:sym typeface="Poppins"/>
              </a:rPr>
              <a:t>The CUSUM algorithm was used on daily tweet counts to spot specific days when activity sharply increased or decreased, highlighting periods of coordinated campaigns or emerging events.</a:t>
            </a:r>
          </a:p>
        </p:txBody>
      </p:sp>
      <p:sp>
        <p:nvSpPr>
          <p:cNvPr name="TextBox 18" id="18"/>
          <p:cNvSpPr txBox="true"/>
          <p:nvPr/>
        </p:nvSpPr>
        <p:spPr>
          <a:xfrm rot="0">
            <a:off x="8471416" y="6252495"/>
            <a:ext cx="8594663" cy="2409791"/>
          </a:xfrm>
          <a:prstGeom prst="rect">
            <a:avLst/>
          </a:prstGeom>
        </p:spPr>
        <p:txBody>
          <a:bodyPr anchor="t" rtlCol="false" tIns="0" lIns="0" bIns="0" rIns="0">
            <a:spAutoFit/>
          </a:bodyPr>
          <a:lstStyle/>
          <a:p>
            <a:pPr algn="l">
              <a:lnSpc>
                <a:spcPts val="3151"/>
              </a:lnSpc>
            </a:pPr>
            <a:r>
              <a:rPr lang="en-US" b="true" sz="2251">
                <a:solidFill>
                  <a:srgbClr val="FFFFFF"/>
                </a:solidFill>
                <a:latin typeface="Poppins Bold"/>
                <a:ea typeface="Poppins Bold"/>
                <a:cs typeface="Poppins Bold"/>
                <a:sym typeface="Poppins Bold"/>
              </a:rPr>
              <a:t>User Similarity Network:</a:t>
            </a:r>
          </a:p>
          <a:p>
            <a:pPr algn="l" marL="486066" indent="-243033" lvl="1">
              <a:lnSpc>
                <a:spcPts val="3151"/>
              </a:lnSpc>
              <a:buFont typeface="Arial"/>
              <a:buChar char="•"/>
            </a:pPr>
            <a:r>
              <a:rPr lang="en-US" sz="2251">
                <a:solidFill>
                  <a:srgbClr val="FFFFFF"/>
                </a:solidFill>
                <a:latin typeface="Poppins"/>
                <a:ea typeface="Poppins"/>
                <a:cs typeface="Poppins"/>
                <a:sym typeface="Poppins"/>
              </a:rPr>
              <a:t>A dense network graph, built using cosine similarity of user tweet text, connected 926 accounts with 10,243 links—revealing heavy overlap in language and talking points, and suggesting clusters of users amplifying similar narratives.</a:t>
            </a:r>
          </a:p>
        </p:txBody>
      </p:sp>
    </p:spTree>
  </p:cSld>
  <p:clrMapOvr>
    <a:masterClrMapping/>
  </p:clrMapOvr>
  <p:transition spd="slow">
    <p:push dir="l"/>
  </p:transition>
</p:sld>
</file>

<file path=ppt/slides/slide1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9033D">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0">
            <a:off x="803986" y="803986"/>
            <a:ext cx="449429" cy="449429"/>
          </a:xfrm>
          <a:custGeom>
            <a:avLst/>
            <a:gdLst/>
            <a:ahLst/>
            <a:cxnLst/>
            <a:rect r="r" b="b" t="t" l="l"/>
            <a:pathLst>
              <a:path h="449429" w="449429">
                <a:moveTo>
                  <a:pt x="0" y="0"/>
                </a:moveTo>
                <a:lnTo>
                  <a:pt x="449428" y="0"/>
                </a:lnTo>
                <a:lnTo>
                  <a:pt x="449428" y="449428"/>
                </a:lnTo>
                <a:lnTo>
                  <a:pt x="0" y="4494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803986" y="1756054"/>
            <a:ext cx="15563549" cy="1876620"/>
            <a:chOff x="0" y="0"/>
            <a:chExt cx="4099042" cy="494254"/>
          </a:xfrm>
        </p:grpSpPr>
        <p:sp>
          <p:nvSpPr>
            <p:cNvPr name="Freeform 4" id="4"/>
            <p:cNvSpPr/>
            <p:nvPr/>
          </p:nvSpPr>
          <p:spPr>
            <a:xfrm flipH="false" flipV="false" rot="0">
              <a:off x="0" y="0"/>
              <a:ext cx="4099042" cy="494254"/>
            </a:xfrm>
            <a:custGeom>
              <a:avLst/>
              <a:gdLst/>
              <a:ahLst/>
              <a:cxnLst/>
              <a:rect r="r" b="b" t="t" l="l"/>
              <a:pathLst>
                <a:path h="494254" w="4099042">
                  <a:moveTo>
                    <a:pt x="27857" y="0"/>
                  </a:moveTo>
                  <a:lnTo>
                    <a:pt x="4071185" y="0"/>
                  </a:lnTo>
                  <a:cubicBezTo>
                    <a:pt x="4086570" y="0"/>
                    <a:pt x="4099042" y="12472"/>
                    <a:pt x="4099042" y="27857"/>
                  </a:cubicBezTo>
                  <a:lnTo>
                    <a:pt x="4099042" y="466397"/>
                  </a:lnTo>
                  <a:cubicBezTo>
                    <a:pt x="4099042" y="473785"/>
                    <a:pt x="4096107" y="480871"/>
                    <a:pt x="4090883" y="486095"/>
                  </a:cubicBezTo>
                  <a:cubicBezTo>
                    <a:pt x="4085658" y="491319"/>
                    <a:pt x="4078573" y="494254"/>
                    <a:pt x="4071185" y="494254"/>
                  </a:cubicBezTo>
                  <a:lnTo>
                    <a:pt x="27857" y="494254"/>
                  </a:lnTo>
                  <a:cubicBezTo>
                    <a:pt x="12472" y="494254"/>
                    <a:pt x="0" y="481782"/>
                    <a:pt x="0" y="466397"/>
                  </a:cubicBezTo>
                  <a:lnTo>
                    <a:pt x="0" y="27857"/>
                  </a:lnTo>
                  <a:cubicBezTo>
                    <a:pt x="0" y="12472"/>
                    <a:pt x="12472" y="0"/>
                    <a:pt x="27857" y="0"/>
                  </a:cubicBezTo>
                  <a:close/>
                </a:path>
              </a:pathLst>
            </a:custGeom>
            <a:solidFill>
              <a:srgbClr val="000000">
                <a:alpha val="0"/>
              </a:srgbClr>
            </a:solidFill>
            <a:ln w="28575" cap="rnd">
              <a:solidFill>
                <a:srgbClr val="FFFFFF"/>
              </a:solidFill>
              <a:prstDash val="solid"/>
              <a:round/>
            </a:ln>
          </p:spPr>
        </p:sp>
        <p:sp>
          <p:nvSpPr>
            <p:cNvPr name="TextBox 5" id="5"/>
            <p:cNvSpPr txBox="true"/>
            <p:nvPr/>
          </p:nvSpPr>
          <p:spPr>
            <a:xfrm>
              <a:off x="0" y="-66675"/>
              <a:ext cx="4099042" cy="560929"/>
            </a:xfrm>
            <a:prstGeom prst="rect">
              <a:avLst/>
            </a:prstGeom>
          </p:spPr>
          <p:txBody>
            <a:bodyPr anchor="ctr" rtlCol="false" tIns="50800" lIns="50800" bIns="50800" rIns="50800"/>
            <a:lstStyle/>
            <a:p>
              <a:pPr algn="ctr">
                <a:lnSpc>
                  <a:spcPts val="3151"/>
                </a:lnSpc>
              </a:pPr>
            </a:p>
          </p:txBody>
        </p:sp>
      </p:grpSp>
      <p:grpSp>
        <p:nvGrpSpPr>
          <p:cNvPr name="Group 6" id="6"/>
          <p:cNvGrpSpPr/>
          <p:nvPr/>
        </p:nvGrpSpPr>
        <p:grpSpPr>
          <a:xfrm rot="0">
            <a:off x="1028700" y="4156549"/>
            <a:ext cx="16230600" cy="4163089"/>
            <a:chOff x="0" y="0"/>
            <a:chExt cx="5738982" cy="1472028"/>
          </a:xfrm>
        </p:grpSpPr>
        <p:sp>
          <p:nvSpPr>
            <p:cNvPr name="Freeform 7" id="7"/>
            <p:cNvSpPr/>
            <p:nvPr/>
          </p:nvSpPr>
          <p:spPr>
            <a:xfrm flipH="false" flipV="false" rot="0">
              <a:off x="0" y="0"/>
              <a:ext cx="5738982" cy="1472028"/>
            </a:xfrm>
            <a:custGeom>
              <a:avLst/>
              <a:gdLst/>
              <a:ahLst/>
              <a:cxnLst/>
              <a:rect r="r" b="b" t="t" l="l"/>
              <a:pathLst>
                <a:path h="1472028" w="5738982">
                  <a:moveTo>
                    <a:pt x="26712" y="0"/>
                  </a:moveTo>
                  <a:lnTo>
                    <a:pt x="5712270" y="0"/>
                  </a:lnTo>
                  <a:cubicBezTo>
                    <a:pt x="5719354" y="0"/>
                    <a:pt x="5726149" y="2814"/>
                    <a:pt x="5731158" y="7824"/>
                  </a:cubicBezTo>
                  <a:cubicBezTo>
                    <a:pt x="5736168" y="12833"/>
                    <a:pt x="5738982" y="19627"/>
                    <a:pt x="5738982" y="26712"/>
                  </a:cubicBezTo>
                  <a:lnTo>
                    <a:pt x="5738982" y="1445316"/>
                  </a:lnTo>
                  <a:cubicBezTo>
                    <a:pt x="5738982" y="1452400"/>
                    <a:pt x="5736168" y="1459195"/>
                    <a:pt x="5731158" y="1464204"/>
                  </a:cubicBezTo>
                  <a:cubicBezTo>
                    <a:pt x="5726149" y="1469213"/>
                    <a:pt x="5719354" y="1472028"/>
                    <a:pt x="5712270" y="1472028"/>
                  </a:cubicBezTo>
                  <a:lnTo>
                    <a:pt x="26712" y="1472028"/>
                  </a:lnTo>
                  <a:cubicBezTo>
                    <a:pt x="19627" y="1472028"/>
                    <a:pt x="12833" y="1469213"/>
                    <a:pt x="7824" y="1464204"/>
                  </a:cubicBezTo>
                  <a:cubicBezTo>
                    <a:pt x="2814" y="1459195"/>
                    <a:pt x="0" y="1452400"/>
                    <a:pt x="0" y="1445316"/>
                  </a:cubicBezTo>
                  <a:lnTo>
                    <a:pt x="0" y="26712"/>
                  </a:lnTo>
                  <a:cubicBezTo>
                    <a:pt x="0" y="19627"/>
                    <a:pt x="2814" y="12833"/>
                    <a:pt x="7824" y="7824"/>
                  </a:cubicBezTo>
                  <a:cubicBezTo>
                    <a:pt x="12833" y="2814"/>
                    <a:pt x="19627" y="0"/>
                    <a:pt x="26712" y="0"/>
                  </a:cubicBezTo>
                  <a:close/>
                </a:path>
              </a:pathLst>
            </a:custGeom>
            <a:gradFill rotWithShape="true">
              <a:gsLst>
                <a:gs pos="0">
                  <a:srgbClr val="000000">
                    <a:alpha val="78000"/>
                  </a:srgbClr>
                </a:gs>
                <a:gs pos="100000">
                  <a:srgbClr val="DDDDDD">
                    <a:alpha val="14820"/>
                  </a:srgbClr>
                </a:gs>
              </a:gsLst>
              <a:lin ang="2700000"/>
            </a:gradFill>
          </p:spPr>
        </p:sp>
        <p:sp>
          <p:nvSpPr>
            <p:cNvPr name="TextBox 8" id="8"/>
            <p:cNvSpPr txBox="true"/>
            <p:nvPr/>
          </p:nvSpPr>
          <p:spPr>
            <a:xfrm>
              <a:off x="0" y="-66675"/>
              <a:ext cx="5738982" cy="1538703"/>
            </a:xfrm>
            <a:prstGeom prst="rect">
              <a:avLst/>
            </a:prstGeom>
          </p:spPr>
          <p:txBody>
            <a:bodyPr anchor="ctr" rtlCol="false" tIns="37213" lIns="37213" bIns="37213" rIns="37213"/>
            <a:lstStyle/>
            <a:p>
              <a:pPr algn="ctr">
                <a:lnSpc>
                  <a:spcPts val="3151"/>
                </a:lnSpc>
              </a:pPr>
            </a:p>
          </p:txBody>
        </p:sp>
      </p:grpSp>
      <p:sp>
        <p:nvSpPr>
          <p:cNvPr name="TextBox 9" id="9"/>
          <p:cNvSpPr txBox="true"/>
          <p:nvPr/>
        </p:nvSpPr>
        <p:spPr>
          <a:xfrm rot="0">
            <a:off x="9144000" y="841660"/>
            <a:ext cx="1662550" cy="409541"/>
          </a:xfrm>
          <a:prstGeom prst="rect">
            <a:avLst/>
          </a:prstGeom>
        </p:spPr>
        <p:txBody>
          <a:bodyPr anchor="t" rtlCol="false" tIns="0" lIns="0" bIns="0" rIns="0">
            <a:spAutoFit/>
          </a:bodyPr>
          <a:lstStyle/>
          <a:p>
            <a:pPr algn="r" marL="0" indent="0" lvl="0">
              <a:lnSpc>
                <a:spcPts val="3151"/>
              </a:lnSpc>
              <a:spcBef>
                <a:spcPct val="0"/>
              </a:spcBef>
            </a:pPr>
            <a:r>
              <a:rPr lang="en-US" sz="2251">
                <a:solidFill>
                  <a:srgbClr val="FFFFFF"/>
                </a:solidFill>
                <a:latin typeface="Poppins"/>
                <a:ea typeface="Poppins"/>
                <a:cs typeface="Poppins"/>
                <a:sym typeface="Poppins"/>
              </a:rPr>
              <a:t>Home</a:t>
            </a:r>
          </a:p>
        </p:txBody>
      </p:sp>
      <p:sp>
        <p:nvSpPr>
          <p:cNvPr name="TextBox 10" id="10"/>
          <p:cNvSpPr txBox="true"/>
          <p:nvPr/>
        </p:nvSpPr>
        <p:spPr>
          <a:xfrm rot="0">
            <a:off x="11408122" y="843874"/>
            <a:ext cx="1907082" cy="409541"/>
          </a:xfrm>
          <a:prstGeom prst="rect">
            <a:avLst/>
          </a:prstGeom>
        </p:spPr>
        <p:txBody>
          <a:bodyPr anchor="t" rtlCol="false" tIns="0" lIns="0" bIns="0" rIns="0">
            <a:spAutoFit/>
          </a:bodyPr>
          <a:lstStyle/>
          <a:p>
            <a:pPr algn="ctr" marL="0" indent="0" lvl="0">
              <a:lnSpc>
                <a:spcPts val="3151"/>
              </a:lnSpc>
              <a:spcBef>
                <a:spcPct val="0"/>
              </a:spcBef>
            </a:pPr>
            <a:r>
              <a:rPr lang="en-US" sz="2251">
                <a:solidFill>
                  <a:srgbClr val="FFFFFF"/>
                </a:solidFill>
                <a:latin typeface="Poppins"/>
                <a:ea typeface="Poppins"/>
                <a:cs typeface="Poppins"/>
                <a:sym typeface="Poppins"/>
              </a:rPr>
              <a:t>About</a:t>
            </a:r>
          </a:p>
        </p:txBody>
      </p:sp>
      <p:sp>
        <p:nvSpPr>
          <p:cNvPr name="TextBox 11" id="11"/>
          <p:cNvSpPr txBox="true"/>
          <p:nvPr/>
        </p:nvSpPr>
        <p:spPr>
          <a:xfrm rot="0">
            <a:off x="13726729" y="819695"/>
            <a:ext cx="1916881" cy="409541"/>
          </a:xfrm>
          <a:prstGeom prst="rect">
            <a:avLst/>
          </a:prstGeom>
        </p:spPr>
        <p:txBody>
          <a:bodyPr anchor="t" rtlCol="false" tIns="0" lIns="0" bIns="0" rIns="0">
            <a:spAutoFit/>
          </a:bodyPr>
          <a:lstStyle/>
          <a:p>
            <a:pPr algn="ctr" marL="0" indent="0" lvl="0">
              <a:lnSpc>
                <a:spcPts val="3151"/>
              </a:lnSpc>
              <a:spcBef>
                <a:spcPct val="0"/>
              </a:spcBef>
            </a:pPr>
            <a:r>
              <a:rPr lang="en-US" b="true" sz="2251">
                <a:solidFill>
                  <a:srgbClr val="FFFFFF"/>
                </a:solidFill>
                <a:latin typeface="Poppins Bold"/>
                <a:ea typeface="Poppins Bold"/>
                <a:cs typeface="Poppins Bold"/>
                <a:sym typeface="Poppins Bold"/>
              </a:rPr>
              <a:t>Content</a:t>
            </a:r>
          </a:p>
        </p:txBody>
      </p:sp>
      <p:sp>
        <p:nvSpPr>
          <p:cNvPr name="TextBox 12" id="12"/>
          <p:cNvSpPr txBox="true"/>
          <p:nvPr/>
        </p:nvSpPr>
        <p:spPr>
          <a:xfrm rot="0">
            <a:off x="15034325" y="841660"/>
            <a:ext cx="2224975" cy="409541"/>
          </a:xfrm>
          <a:prstGeom prst="rect">
            <a:avLst/>
          </a:prstGeom>
        </p:spPr>
        <p:txBody>
          <a:bodyPr anchor="t" rtlCol="false" tIns="0" lIns="0" bIns="0" rIns="0">
            <a:spAutoFit/>
          </a:bodyPr>
          <a:lstStyle/>
          <a:p>
            <a:pPr algn="r" marL="0" indent="0" lvl="0">
              <a:lnSpc>
                <a:spcPts val="3151"/>
              </a:lnSpc>
              <a:spcBef>
                <a:spcPct val="0"/>
              </a:spcBef>
            </a:pPr>
            <a:r>
              <a:rPr lang="en-US" sz="2251">
                <a:solidFill>
                  <a:srgbClr val="FFFFFF"/>
                </a:solidFill>
                <a:latin typeface="Poppins"/>
                <a:ea typeface="Poppins"/>
                <a:cs typeface="Poppins"/>
                <a:sym typeface="Poppins"/>
              </a:rPr>
              <a:t>Others</a:t>
            </a:r>
          </a:p>
        </p:txBody>
      </p:sp>
      <p:sp>
        <p:nvSpPr>
          <p:cNvPr name="TextBox 13" id="13"/>
          <p:cNvSpPr txBox="true"/>
          <p:nvPr/>
        </p:nvSpPr>
        <p:spPr>
          <a:xfrm rot="0">
            <a:off x="1510858" y="2215317"/>
            <a:ext cx="16431963" cy="918179"/>
          </a:xfrm>
          <a:prstGeom prst="rect">
            <a:avLst/>
          </a:prstGeom>
        </p:spPr>
        <p:txBody>
          <a:bodyPr anchor="t" rtlCol="false" tIns="0" lIns="0" bIns="0" rIns="0">
            <a:spAutoFit/>
          </a:bodyPr>
          <a:lstStyle/>
          <a:p>
            <a:pPr algn="just">
              <a:lnSpc>
                <a:spcPts val="7017"/>
              </a:lnSpc>
            </a:pPr>
            <a:r>
              <a:rPr lang="en-US" b="true" sz="6497" spc="-285">
                <a:solidFill>
                  <a:srgbClr val="FFFFFF"/>
                </a:solidFill>
                <a:latin typeface="Open Sauce Bold"/>
                <a:ea typeface="Open Sauce Bold"/>
                <a:cs typeface="Open Sauce Bold"/>
                <a:sym typeface="Open Sauce Bold"/>
              </a:rPr>
              <a:t>Results &amp; Key Findings (Voter Dataset)</a:t>
            </a:r>
          </a:p>
        </p:txBody>
      </p:sp>
      <p:sp>
        <p:nvSpPr>
          <p:cNvPr name="TextBox 14" id="14"/>
          <p:cNvSpPr txBox="true"/>
          <p:nvPr/>
        </p:nvSpPr>
        <p:spPr>
          <a:xfrm rot="0">
            <a:off x="1446163" y="4380604"/>
            <a:ext cx="15234429" cy="3251424"/>
          </a:xfrm>
          <a:prstGeom prst="rect">
            <a:avLst/>
          </a:prstGeom>
        </p:spPr>
        <p:txBody>
          <a:bodyPr anchor="t" rtlCol="false" tIns="0" lIns="0" bIns="0" rIns="0">
            <a:spAutoFit/>
          </a:bodyPr>
          <a:lstStyle/>
          <a:p>
            <a:pPr algn="just" marL="648406" indent="-324203" lvl="1">
              <a:lnSpc>
                <a:spcPts val="6577"/>
              </a:lnSpc>
              <a:buFont typeface="Arial"/>
              <a:buChar char="•"/>
            </a:pPr>
            <a:r>
              <a:rPr lang="en-US" sz="3003">
                <a:solidFill>
                  <a:srgbClr val="FFFFFF"/>
                </a:solidFill>
                <a:latin typeface="Poppins"/>
                <a:ea typeface="Poppins"/>
                <a:cs typeface="Poppins"/>
                <a:sym typeface="Poppins"/>
              </a:rPr>
              <a:t>Duplicate IDs: 4 unique, 8 records flagged.</a:t>
            </a:r>
          </a:p>
          <a:p>
            <a:pPr algn="just" marL="648406" indent="-324203" lvl="1">
              <a:lnSpc>
                <a:spcPts val="6577"/>
              </a:lnSpc>
              <a:buFont typeface="Arial"/>
              <a:buChar char="•"/>
            </a:pPr>
            <a:r>
              <a:rPr lang="en-US" sz="3003">
                <a:solidFill>
                  <a:srgbClr val="FFFFFF"/>
                </a:solidFill>
                <a:latin typeface="Poppins"/>
                <a:ea typeface="Poppins"/>
                <a:cs typeface="Poppins"/>
                <a:sym typeface="Poppins"/>
              </a:rPr>
              <a:t>Outlier ages: 7 underage, 6 elderly.</a:t>
            </a:r>
          </a:p>
          <a:p>
            <a:pPr algn="just" marL="648406" indent="-324203" lvl="1">
              <a:lnSpc>
                <a:spcPts val="6577"/>
              </a:lnSpc>
              <a:buFont typeface="Arial"/>
              <a:buChar char="•"/>
            </a:pPr>
            <a:r>
              <a:rPr lang="en-US" sz="3003">
                <a:solidFill>
                  <a:srgbClr val="FFFFFF"/>
                </a:solidFill>
                <a:latin typeface="Poppins"/>
                <a:ea typeface="Poppins"/>
                <a:cs typeface="Poppins"/>
                <a:sym typeface="Poppins"/>
              </a:rPr>
              <a:t>Benford’s Law failure: Chi² = 355.91 vs critical 15.51 (major anomaly).</a:t>
            </a:r>
          </a:p>
          <a:p>
            <a:pPr algn="just" marL="648406" indent="-324203" lvl="1">
              <a:lnSpc>
                <a:spcPts val="6577"/>
              </a:lnSpc>
              <a:buFont typeface="Arial"/>
              <a:buChar char="•"/>
            </a:pPr>
            <a:r>
              <a:rPr lang="en-US" sz="3003">
                <a:solidFill>
                  <a:srgbClr val="FFFFFF"/>
                </a:solidFill>
                <a:latin typeface="Poppins"/>
                <a:ea typeface="Poppins"/>
                <a:cs typeface="Poppins"/>
                <a:sym typeface="Poppins"/>
              </a:rPr>
              <a:t>39 records flagged for multiple risk factors.</a:t>
            </a:r>
          </a:p>
        </p:txBody>
      </p:sp>
      <p:sp>
        <p:nvSpPr>
          <p:cNvPr name="TextBox 15" id="15"/>
          <p:cNvSpPr txBox="true"/>
          <p:nvPr/>
        </p:nvSpPr>
        <p:spPr>
          <a:xfrm rot="0">
            <a:off x="1363845" y="768097"/>
            <a:ext cx="3551055" cy="445006"/>
          </a:xfrm>
          <a:prstGeom prst="rect">
            <a:avLst/>
          </a:prstGeom>
        </p:spPr>
        <p:txBody>
          <a:bodyPr anchor="t" rtlCol="false" tIns="0" lIns="0" bIns="0" rIns="0">
            <a:spAutoFit/>
          </a:bodyPr>
          <a:lstStyle/>
          <a:p>
            <a:pPr algn="l">
              <a:lnSpc>
                <a:spcPts val="3391"/>
              </a:lnSpc>
              <a:spcBef>
                <a:spcPct val="0"/>
              </a:spcBef>
            </a:pPr>
            <a:r>
              <a:rPr lang="en-US" b="true" sz="2422" spc="-109">
                <a:solidFill>
                  <a:srgbClr val="FFFFFF"/>
                </a:solidFill>
                <a:latin typeface="Telegraf Bold"/>
                <a:ea typeface="Telegraf Bold"/>
                <a:cs typeface="Telegraf Bold"/>
                <a:sym typeface="Telegraf Bold"/>
              </a:rPr>
              <a:t>Forensics Analytics</a:t>
            </a:r>
          </a:p>
        </p:txBody>
      </p:sp>
    </p:spTree>
  </p:cSld>
  <p:clrMapOvr>
    <a:masterClrMapping/>
  </p:clrMapOvr>
  <p:transition spd="slow">
    <p:push dir="l"/>
  </p:transition>
</p:sld>
</file>

<file path=ppt/slides/slide2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9033D">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0">
            <a:off x="803986" y="803986"/>
            <a:ext cx="449429" cy="449429"/>
          </a:xfrm>
          <a:custGeom>
            <a:avLst/>
            <a:gdLst/>
            <a:ahLst/>
            <a:cxnLst/>
            <a:rect r="r" b="b" t="t" l="l"/>
            <a:pathLst>
              <a:path h="449429" w="449429">
                <a:moveTo>
                  <a:pt x="0" y="0"/>
                </a:moveTo>
                <a:lnTo>
                  <a:pt x="449428" y="0"/>
                </a:lnTo>
                <a:lnTo>
                  <a:pt x="449428" y="449428"/>
                </a:lnTo>
                <a:lnTo>
                  <a:pt x="0" y="4494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803986" y="1756054"/>
            <a:ext cx="15563549" cy="1876620"/>
            <a:chOff x="0" y="0"/>
            <a:chExt cx="4099042" cy="494254"/>
          </a:xfrm>
        </p:grpSpPr>
        <p:sp>
          <p:nvSpPr>
            <p:cNvPr name="Freeform 4" id="4"/>
            <p:cNvSpPr/>
            <p:nvPr/>
          </p:nvSpPr>
          <p:spPr>
            <a:xfrm flipH="false" flipV="false" rot="0">
              <a:off x="0" y="0"/>
              <a:ext cx="4099042" cy="494254"/>
            </a:xfrm>
            <a:custGeom>
              <a:avLst/>
              <a:gdLst/>
              <a:ahLst/>
              <a:cxnLst/>
              <a:rect r="r" b="b" t="t" l="l"/>
              <a:pathLst>
                <a:path h="494254" w="4099042">
                  <a:moveTo>
                    <a:pt x="27857" y="0"/>
                  </a:moveTo>
                  <a:lnTo>
                    <a:pt x="4071185" y="0"/>
                  </a:lnTo>
                  <a:cubicBezTo>
                    <a:pt x="4086570" y="0"/>
                    <a:pt x="4099042" y="12472"/>
                    <a:pt x="4099042" y="27857"/>
                  </a:cubicBezTo>
                  <a:lnTo>
                    <a:pt x="4099042" y="466397"/>
                  </a:lnTo>
                  <a:cubicBezTo>
                    <a:pt x="4099042" y="473785"/>
                    <a:pt x="4096107" y="480871"/>
                    <a:pt x="4090883" y="486095"/>
                  </a:cubicBezTo>
                  <a:cubicBezTo>
                    <a:pt x="4085658" y="491319"/>
                    <a:pt x="4078573" y="494254"/>
                    <a:pt x="4071185" y="494254"/>
                  </a:cubicBezTo>
                  <a:lnTo>
                    <a:pt x="27857" y="494254"/>
                  </a:lnTo>
                  <a:cubicBezTo>
                    <a:pt x="12472" y="494254"/>
                    <a:pt x="0" y="481782"/>
                    <a:pt x="0" y="466397"/>
                  </a:cubicBezTo>
                  <a:lnTo>
                    <a:pt x="0" y="27857"/>
                  </a:lnTo>
                  <a:cubicBezTo>
                    <a:pt x="0" y="12472"/>
                    <a:pt x="12472" y="0"/>
                    <a:pt x="27857" y="0"/>
                  </a:cubicBezTo>
                  <a:close/>
                </a:path>
              </a:pathLst>
            </a:custGeom>
            <a:solidFill>
              <a:srgbClr val="000000">
                <a:alpha val="0"/>
              </a:srgbClr>
            </a:solidFill>
            <a:ln w="28575" cap="rnd">
              <a:solidFill>
                <a:srgbClr val="FFFFFF"/>
              </a:solidFill>
              <a:prstDash val="solid"/>
              <a:round/>
            </a:ln>
          </p:spPr>
        </p:sp>
        <p:sp>
          <p:nvSpPr>
            <p:cNvPr name="TextBox 5" id="5"/>
            <p:cNvSpPr txBox="true"/>
            <p:nvPr/>
          </p:nvSpPr>
          <p:spPr>
            <a:xfrm>
              <a:off x="0" y="-66675"/>
              <a:ext cx="4099042" cy="560929"/>
            </a:xfrm>
            <a:prstGeom prst="rect">
              <a:avLst/>
            </a:prstGeom>
          </p:spPr>
          <p:txBody>
            <a:bodyPr anchor="ctr" rtlCol="false" tIns="50800" lIns="50800" bIns="50800" rIns="50800"/>
            <a:lstStyle/>
            <a:p>
              <a:pPr algn="ctr">
                <a:lnSpc>
                  <a:spcPts val="3151"/>
                </a:lnSpc>
              </a:pPr>
            </a:p>
          </p:txBody>
        </p:sp>
      </p:grpSp>
      <p:grpSp>
        <p:nvGrpSpPr>
          <p:cNvPr name="Group 6" id="6"/>
          <p:cNvGrpSpPr/>
          <p:nvPr/>
        </p:nvGrpSpPr>
        <p:grpSpPr>
          <a:xfrm rot="0">
            <a:off x="1028700" y="4156549"/>
            <a:ext cx="16230600" cy="4163089"/>
            <a:chOff x="0" y="0"/>
            <a:chExt cx="5738982" cy="1472028"/>
          </a:xfrm>
        </p:grpSpPr>
        <p:sp>
          <p:nvSpPr>
            <p:cNvPr name="Freeform 7" id="7"/>
            <p:cNvSpPr/>
            <p:nvPr/>
          </p:nvSpPr>
          <p:spPr>
            <a:xfrm flipH="false" flipV="false" rot="0">
              <a:off x="0" y="0"/>
              <a:ext cx="5738982" cy="1472028"/>
            </a:xfrm>
            <a:custGeom>
              <a:avLst/>
              <a:gdLst/>
              <a:ahLst/>
              <a:cxnLst/>
              <a:rect r="r" b="b" t="t" l="l"/>
              <a:pathLst>
                <a:path h="1472028" w="5738982">
                  <a:moveTo>
                    <a:pt x="26712" y="0"/>
                  </a:moveTo>
                  <a:lnTo>
                    <a:pt x="5712270" y="0"/>
                  </a:lnTo>
                  <a:cubicBezTo>
                    <a:pt x="5719354" y="0"/>
                    <a:pt x="5726149" y="2814"/>
                    <a:pt x="5731158" y="7824"/>
                  </a:cubicBezTo>
                  <a:cubicBezTo>
                    <a:pt x="5736168" y="12833"/>
                    <a:pt x="5738982" y="19627"/>
                    <a:pt x="5738982" y="26712"/>
                  </a:cubicBezTo>
                  <a:lnTo>
                    <a:pt x="5738982" y="1445316"/>
                  </a:lnTo>
                  <a:cubicBezTo>
                    <a:pt x="5738982" y="1452400"/>
                    <a:pt x="5736168" y="1459195"/>
                    <a:pt x="5731158" y="1464204"/>
                  </a:cubicBezTo>
                  <a:cubicBezTo>
                    <a:pt x="5726149" y="1469213"/>
                    <a:pt x="5719354" y="1472028"/>
                    <a:pt x="5712270" y="1472028"/>
                  </a:cubicBezTo>
                  <a:lnTo>
                    <a:pt x="26712" y="1472028"/>
                  </a:lnTo>
                  <a:cubicBezTo>
                    <a:pt x="19627" y="1472028"/>
                    <a:pt x="12833" y="1469213"/>
                    <a:pt x="7824" y="1464204"/>
                  </a:cubicBezTo>
                  <a:cubicBezTo>
                    <a:pt x="2814" y="1459195"/>
                    <a:pt x="0" y="1452400"/>
                    <a:pt x="0" y="1445316"/>
                  </a:cubicBezTo>
                  <a:lnTo>
                    <a:pt x="0" y="26712"/>
                  </a:lnTo>
                  <a:cubicBezTo>
                    <a:pt x="0" y="19627"/>
                    <a:pt x="2814" y="12833"/>
                    <a:pt x="7824" y="7824"/>
                  </a:cubicBezTo>
                  <a:cubicBezTo>
                    <a:pt x="12833" y="2814"/>
                    <a:pt x="19627" y="0"/>
                    <a:pt x="26712" y="0"/>
                  </a:cubicBezTo>
                  <a:close/>
                </a:path>
              </a:pathLst>
            </a:custGeom>
            <a:gradFill rotWithShape="true">
              <a:gsLst>
                <a:gs pos="0">
                  <a:srgbClr val="000000">
                    <a:alpha val="78000"/>
                  </a:srgbClr>
                </a:gs>
                <a:gs pos="100000">
                  <a:srgbClr val="DDDDDD">
                    <a:alpha val="14820"/>
                  </a:srgbClr>
                </a:gs>
              </a:gsLst>
              <a:lin ang="2700000"/>
            </a:gradFill>
          </p:spPr>
        </p:sp>
        <p:sp>
          <p:nvSpPr>
            <p:cNvPr name="TextBox 8" id="8"/>
            <p:cNvSpPr txBox="true"/>
            <p:nvPr/>
          </p:nvSpPr>
          <p:spPr>
            <a:xfrm>
              <a:off x="0" y="-66675"/>
              <a:ext cx="5738982" cy="1538703"/>
            </a:xfrm>
            <a:prstGeom prst="rect">
              <a:avLst/>
            </a:prstGeom>
          </p:spPr>
          <p:txBody>
            <a:bodyPr anchor="ctr" rtlCol="false" tIns="37213" lIns="37213" bIns="37213" rIns="37213"/>
            <a:lstStyle/>
            <a:p>
              <a:pPr algn="ctr">
                <a:lnSpc>
                  <a:spcPts val="3151"/>
                </a:lnSpc>
              </a:pPr>
            </a:p>
          </p:txBody>
        </p:sp>
      </p:grpSp>
      <p:sp>
        <p:nvSpPr>
          <p:cNvPr name="TextBox 9" id="9"/>
          <p:cNvSpPr txBox="true"/>
          <p:nvPr/>
        </p:nvSpPr>
        <p:spPr>
          <a:xfrm rot="0">
            <a:off x="9144000" y="841660"/>
            <a:ext cx="1662550" cy="409541"/>
          </a:xfrm>
          <a:prstGeom prst="rect">
            <a:avLst/>
          </a:prstGeom>
        </p:spPr>
        <p:txBody>
          <a:bodyPr anchor="t" rtlCol="false" tIns="0" lIns="0" bIns="0" rIns="0">
            <a:spAutoFit/>
          </a:bodyPr>
          <a:lstStyle/>
          <a:p>
            <a:pPr algn="r" marL="0" indent="0" lvl="0">
              <a:lnSpc>
                <a:spcPts val="3151"/>
              </a:lnSpc>
              <a:spcBef>
                <a:spcPct val="0"/>
              </a:spcBef>
            </a:pPr>
            <a:r>
              <a:rPr lang="en-US" sz="2251">
                <a:solidFill>
                  <a:srgbClr val="FFFFFF"/>
                </a:solidFill>
                <a:latin typeface="Poppins"/>
                <a:ea typeface="Poppins"/>
                <a:cs typeface="Poppins"/>
                <a:sym typeface="Poppins"/>
              </a:rPr>
              <a:t>Home</a:t>
            </a:r>
          </a:p>
        </p:txBody>
      </p:sp>
      <p:sp>
        <p:nvSpPr>
          <p:cNvPr name="TextBox 10" id="10"/>
          <p:cNvSpPr txBox="true"/>
          <p:nvPr/>
        </p:nvSpPr>
        <p:spPr>
          <a:xfrm rot="0">
            <a:off x="11408122" y="843874"/>
            <a:ext cx="1907082" cy="409541"/>
          </a:xfrm>
          <a:prstGeom prst="rect">
            <a:avLst/>
          </a:prstGeom>
        </p:spPr>
        <p:txBody>
          <a:bodyPr anchor="t" rtlCol="false" tIns="0" lIns="0" bIns="0" rIns="0">
            <a:spAutoFit/>
          </a:bodyPr>
          <a:lstStyle/>
          <a:p>
            <a:pPr algn="ctr" marL="0" indent="0" lvl="0">
              <a:lnSpc>
                <a:spcPts val="3151"/>
              </a:lnSpc>
              <a:spcBef>
                <a:spcPct val="0"/>
              </a:spcBef>
            </a:pPr>
            <a:r>
              <a:rPr lang="en-US" sz="2251">
                <a:solidFill>
                  <a:srgbClr val="FFFFFF"/>
                </a:solidFill>
                <a:latin typeface="Poppins"/>
                <a:ea typeface="Poppins"/>
                <a:cs typeface="Poppins"/>
                <a:sym typeface="Poppins"/>
              </a:rPr>
              <a:t>About</a:t>
            </a:r>
          </a:p>
        </p:txBody>
      </p:sp>
      <p:sp>
        <p:nvSpPr>
          <p:cNvPr name="TextBox 11" id="11"/>
          <p:cNvSpPr txBox="true"/>
          <p:nvPr/>
        </p:nvSpPr>
        <p:spPr>
          <a:xfrm rot="0">
            <a:off x="13726729" y="819695"/>
            <a:ext cx="1916881" cy="409541"/>
          </a:xfrm>
          <a:prstGeom prst="rect">
            <a:avLst/>
          </a:prstGeom>
        </p:spPr>
        <p:txBody>
          <a:bodyPr anchor="t" rtlCol="false" tIns="0" lIns="0" bIns="0" rIns="0">
            <a:spAutoFit/>
          </a:bodyPr>
          <a:lstStyle/>
          <a:p>
            <a:pPr algn="ctr" marL="0" indent="0" lvl="0">
              <a:lnSpc>
                <a:spcPts val="3151"/>
              </a:lnSpc>
              <a:spcBef>
                <a:spcPct val="0"/>
              </a:spcBef>
            </a:pPr>
            <a:r>
              <a:rPr lang="en-US" b="true" sz="2251">
                <a:solidFill>
                  <a:srgbClr val="FFFFFF"/>
                </a:solidFill>
                <a:latin typeface="Poppins Bold"/>
                <a:ea typeface="Poppins Bold"/>
                <a:cs typeface="Poppins Bold"/>
                <a:sym typeface="Poppins Bold"/>
              </a:rPr>
              <a:t>Content</a:t>
            </a:r>
          </a:p>
        </p:txBody>
      </p:sp>
      <p:sp>
        <p:nvSpPr>
          <p:cNvPr name="TextBox 12" id="12"/>
          <p:cNvSpPr txBox="true"/>
          <p:nvPr/>
        </p:nvSpPr>
        <p:spPr>
          <a:xfrm rot="0">
            <a:off x="15034325" y="841660"/>
            <a:ext cx="2224975" cy="409541"/>
          </a:xfrm>
          <a:prstGeom prst="rect">
            <a:avLst/>
          </a:prstGeom>
        </p:spPr>
        <p:txBody>
          <a:bodyPr anchor="t" rtlCol="false" tIns="0" lIns="0" bIns="0" rIns="0">
            <a:spAutoFit/>
          </a:bodyPr>
          <a:lstStyle/>
          <a:p>
            <a:pPr algn="r" marL="0" indent="0" lvl="0">
              <a:lnSpc>
                <a:spcPts val="3151"/>
              </a:lnSpc>
              <a:spcBef>
                <a:spcPct val="0"/>
              </a:spcBef>
            </a:pPr>
            <a:r>
              <a:rPr lang="en-US" sz="2251">
                <a:solidFill>
                  <a:srgbClr val="FFFFFF"/>
                </a:solidFill>
                <a:latin typeface="Poppins"/>
                <a:ea typeface="Poppins"/>
                <a:cs typeface="Poppins"/>
                <a:sym typeface="Poppins"/>
              </a:rPr>
              <a:t>Others</a:t>
            </a:r>
          </a:p>
        </p:txBody>
      </p:sp>
      <p:sp>
        <p:nvSpPr>
          <p:cNvPr name="TextBox 13" id="13"/>
          <p:cNvSpPr txBox="true"/>
          <p:nvPr/>
        </p:nvSpPr>
        <p:spPr>
          <a:xfrm rot="0">
            <a:off x="1510858" y="2215317"/>
            <a:ext cx="16431963" cy="918179"/>
          </a:xfrm>
          <a:prstGeom prst="rect">
            <a:avLst/>
          </a:prstGeom>
        </p:spPr>
        <p:txBody>
          <a:bodyPr anchor="t" rtlCol="false" tIns="0" lIns="0" bIns="0" rIns="0">
            <a:spAutoFit/>
          </a:bodyPr>
          <a:lstStyle/>
          <a:p>
            <a:pPr algn="just">
              <a:lnSpc>
                <a:spcPts val="7017"/>
              </a:lnSpc>
            </a:pPr>
            <a:r>
              <a:rPr lang="en-US" b="true" sz="6497" spc="-285">
                <a:solidFill>
                  <a:srgbClr val="FFFFFF"/>
                </a:solidFill>
                <a:latin typeface="Open Sauce Bold"/>
                <a:ea typeface="Open Sauce Bold"/>
                <a:cs typeface="Open Sauce Bold"/>
                <a:sym typeface="Open Sauce Bold"/>
              </a:rPr>
              <a:t>Results &amp; Key Findings (Voter Dataset)</a:t>
            </a:r>
          </a:p>
        </p:txBody>
      </p:sp>
      <p:sp>
        <p:nvSpPr>
          <p:cNvPr name="TextBox 14" id="14"/>
          <p:cNvSpPr txBox="true"/>
          <p:nvPr/>
        </p:nvSpPr>
        <p:spPr>
          <a:xfrm rot="0">
            <a:off x="1510858" y="4299424"/>
            <a:ext cx="15234429" cy="3537298"/>
          </a:xfrm>
          <a:prstGeom prst="rect">
            <a:avLst/>
          </a:prstGeom>
        </p:spPr>
        <p:txBody>
          <a:bodyPr anchor="t" rtlCol="false" tIns="0" lIns="0" bIns="0" rIns="0">
            <a:spAutoFit/>
          </a:bodyPr>
          <a:lstStyle/>
          <a:p>
            <a:pPr algn="just" marL="648406" indent="-324203" lvl="1">
              <a:lnSpc>
                <a:spcPts val="5676"/>
              </a:lnSpc>
              <a:buFont typeface="Arial"/>
              <a:buChar char="•"/>
            </a:pPr>
            <a:r>
              <a:rPr lang="en-US" sz="3003">
                <a:solidFill>
                  <a:srgbClr val="FFFFFF"/>
                </a:solidFill>
                <a:latin typeface="Poppins"/>
                <a:ea typeface="Poppins"/>
                <a:cs typeface="Poppins"/>
                <a:sym typeface="Poppins"/>
              </a:rPr>
              <a:t>K-Means clustering: 5 voter profiles, some concentrated on address mismatch.</a:t>
            </a:r>
          </a:p>
          <a:p>
            <a:pPr algn="just" marL="648406" indent="-324203" lvl="1">
              <a:lnSpc>
                <a:spcPts val="5676"/>
              </a:lnSpc>
              <a:buFont typeface="Arial"/>
              <a:buChar char="•"/>
            </a:pPr>
            <a:r>
              <a:rPr lang="en-US" sz="3003">
                <a:solidFill>
                  <a:srgbClr val="FFFFFF"/>
                </a:solidFill>
                <a:latin typeface="Poppins"/>
                <a:ea typeface="Poppins"/>
                <a:cs typeface="Poppins"/>
                <a:sym typeface="Poppins"/>
              </a:rPr>
              <a:t>Random Forest: 98.6% accuracy; top predictors are citizenship, address mismatch, age.</a:t>
            </a:r>
          </a:p>
          <a:p>
            <a:pPr algn="just" marL="648406" indent="-324203" lvl="1">
              <a:lnSpc>
                <a:spcPts val="5676"/>
              </a:lnSpc>
              <a:buFont typeface="Arial"/>
              <a:buChar char="•"/>
            </a:pPr>
            <a:r>
              <a:rPr lang="en-US" sz="3003">
                <a:solidFill>
                  <a:srgbClr val="FFFFFF"/>
                </a:solidFill>
                <a:latin typeface="Poppins"/>
                <a:ea typeface="Poppins"/>
                <a:cs typeface="Poppins"/>
                <a:sym typeface="Poppins"/>
              </a:rPr>
              <a:t>Visual: Feature importance bar chart and clustering plot.</a:t>
            </a:r>
          </a:p>
        </p:txBody>
      </p:sp>
      <p:sp>
        <p:nvSpPr>
          <p:cNvPr name="TextBox 15" id="15"/>
          <p:cNvSpPr txBox="true"/>
          <p:nvPr/>
        </p:nvSpPr>
        <p:spPr>
          <a:xfrm rot="0">
            <a:off x="1363845" y="768097"/>
            <a:ext cx="3551055" cy="445006"/>
          </a:xfrm>
          <a:prstGeom prst="rect">
            <a:avLst/>
          </a:prstGeom>
        </p:spPr>
        <p:txBody>
          <a:bodyPr anchor="t" rtlCol="false" tIns="0" lIns="0" bIns="0" rIns="0">
            <a:spAutoFit/>
          </a:bodyPr>
          <a:lstStyle/>
          <a:p>
            <a:pPr algn="l">
              <a:lnSpc>
                <a:spcPts val="3391"/>
              </a:lnSpc>
              <a:spcBef>
                <a:spcPct val="0"/>
              </a:spcBef>
            </a:pPr>
            <a:r>
              <a:rPr lang="en-US" b="true" sz="2422" spc="-109">
                <a:solidFill>
                  <a:srgbClr val="FFFFFF"/>
                </a:solidFill>
                <a:latin typeface="Telegraf Bold"/>
                <a:ea typeface="Telegraf Bold"/>
                <a:cs typeface="Telegraf Bold"/>
                <a:sym typeface="Telegraf Bold"/>
              </a:rPr>
              <a:t>Forensics Analytics</a:t>
            </a:r>
          </a:p>
        </p:txBody>
      </p:sp>
    </p:spTree>
  </p:cSld>
  <p:clrMapOvr>
    <a:masterClrMapping/>
  </p:clrMapOvr>
  <p:transition spd="slow">
    <p:push dir="l"/>
  </p:transition>
</p:sld>
</file>

<file path=ppt/slides/slide2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9033D">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0">
            <a:off x="803986" y="803986"/>
            <a:ext cx="449429" cy="449429"/>
          </a:xfrm>
          <a:custGeom>
            <a:avLst/>
            <a:gdLst/>
            <a:ahLst/>
            <a:cxnLst/>
            <a:rect r="r" b="b" t="t" l="l"/>
            <a:pathLst>
              <a:path h="449429" w="449429">
                <a:moveTo>
                  <a:pt x="0" y="0"/>
                </a:moveTo>
                <a:lnTo>
                  <a:pt x="449428" y="0"/>
                </a:lnTo>
                <a:lnTo>
                  <a:pt x="449428" y="449428"/>
                </a:lnTo>
                <a:lnTo>
                  <a:pt x="0" y="4494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803986" y="1756054"/>
            <a:ext cx="15941302" cy="1876620"/>
            <a:chOff x="0" y="0"/>
            <a:chExt cx="4198532" cy="494254"/>
          </a:xfrm>
        </p:grpSpPr>
        <p:sp>
          <p:nvSpPr>
            <p:cNvPr name="Freeform 4" id="4"/>
            <p:cNvSpPr/>
            <p:nvPr/>
          </p:nvSpPr>
          <p:spPr>
            <a:xfrm flipH="false" flipV="false" rot="0">
              <a:off x="0" y="0"/>
              <a:ext cx="4198532" cy="494254"/>
            </a:xfrm>
            <a:custGeom>
              <a:avLst/>
              <a:gdLst/>
              <a:ahLst/>
              <a:cxnLst/>
              <a:rect r="r" b="b" t="t" l="l"/>
              <a:pathLst>
                <a:path h="494254" w="4198532">
                  <a:moveTo>
                    <a:pt x="27196" y="0"/>
                  </a:moveTo>
                  <a:lnTo>
                    <a:pt x="4171336" y="0"/>
                  </a:lnTo>
                  <a:cubicBezTo>
                    <a:pt x="4186356" y="0"/>
                    <a:pt x="4198532" y="12176"/>
                    <a:pt x="4198532" y="27196"/>
                  </a:cubicBezTo>
                  <a:lnTo>
                    <a:pt x="4198532" y="467057"/>
                  </a:lnTo>
                  <a:cubicBezTo>
                    <a:pt x="4198532" y="474270"/>
                    <a:pt x="4195667" y="481188"/>
                    <a:pt x="4190567" y="486288"/>
                  </a:cubicBezTo>
                  <a:cubicBezTo>
                    <a:pt x="4185467" y="491388"/>
                    <a:pt x="4178549" y="494254"/>
                    <a:pt x="4171336" y="494254"/>
                  </a:cubicBezTo>
                  <a:lnTo>
                    <a:pt x="27196" y="494254"/>
                  </a:lnTo>
                  <a:cubicBezTo>
                    <a:pt x="12176" y="494254"/>
                    <a:pt x="0" y="482077"/>
                    <a:pt x="0" y="467057"/>
                  </a:cubicBezTo>
                  <a:lnTo>
                    <a:pt x="0" y="27196"/>
                  </a:lnTo>
                  <a:cubicBezTo>
                    <a:pt x="0" y="12176"/>
                    <a:pt x="12176" y="0"/>
                    <a:pt x="27196" y="0"/>
                  </a:cubicBezTo>
                  <a:close/>
                </a:path>
              </a:pathLst>
            </a:custGeom>
            <a:solidFill>
              <a:srgbClr val="000000">
                <a:alpha val="0"/>
              </a:srgbClr>
            </a:solidFill>
            <a:ln w="28575" cap="rnd">
              <a:solidFill>
                <a:srgbClr val="FFFFFF"/>
              </a:solidFill>
              <a:prstDash val="solid"/>
              <a:round/>
            </a:ln>
          </p:spPr>
        </p:sp>
        <p:sp>
          <p:nvSpPr>
            <p:cNvPr name="TextBox 5" id="5"/>
            <p:cNvSpPr txBox="true"/>
            <p:nvPr/>
          </p:nvSpPr>
          <p:spPr>
            <a:xfrm>
              <a:off x="0" y="-66675"/>
              <a:ext cx="4198532" cy="560929"/>
            </a:xfrm>
            <a:prstGeom prst="rect">
              <a:avLst/>
            </a:prstGeom>
          </p:spPr>
          <p:txBody>
            <a:bodyPr anchor="ctr" rtlCol="false" tIns="50800" lIns="50800" bIns="50800" rIns="50800"/>
            <a:lstStyle/>
            <a:p>
              <a:pPr algn="ctr">
                <a:lnSpc>
                  <a:spcPts val="3151"/>
                </a:lnSpc>
              </a:pPr>
            </a:p>
          </p:txBody>
        </p:sp>
      </p:grpSp>
      <p:grpSp>
        <p:nvGrpSpPr>
          <p:cNvPr name="Group 6" id="6"/>
          <p:cNvGrpSpPr/>
          <p:nvPr/>
        </p:nvGrpSpPr>
        <p:grpSpPr>
          <a:xfrm rot="0">
            <a:off x="1028700" y="4156549"/>
            <a:ext cx="16230600" cy="4163089"/>
            <a:chOff x="0" y="0"/>
            <a:chExt cx="5738982" cy="1472028"/>
          </a:xfrm>
        </p:grpSpPr>
        <p:sp>
          <p:nvSpPr>
            <p:cNvPr name="Freeform 7" id="7"/>
            <p:cNvSpPr/>
            <p:nvPr/>
          </p:nvSpPr>
          <p:spPr>
            <a:xfrm flipH="false" flipV="false" rot="0">
              <a:off x="0" y="0"/>
              <a:ext cx="5738982" cy="1472028"/>
            </a:xfrm>
            <a:custGeom>
              <a:avLst/>
              <a:gdLst/>
              <a:ahLst/>
              <a:cxnLst/>
              <a:rect r="r" b="b" t="t" l="l"/>
              <a:pathLst>
                <a:path h="1472028" w="5738982">
                  <a:moveTo>
                    <a:pt x="26712" y="0"/>
                  </a:moveTo>
                  <a:lnTo>
                    <a:pt x="5712270" y="0"/>
                  </a:lnTo>
                  <a:cubicBezTo>
                    <a:pt x="5719354" y="0"/>
                    <a:pt x="5726149" y="2814"/>
                    <a:pt x="5731158" y="7824"/>
                  </a:cubicBezTo>
                  <a:cubicBezTo>
                    <a:pt x="5736168" y="12833"/>
                    <a:pt x="5738982" y="19627"/>
                    <a:pt x="5738982" y="26712"/>
                  </a:cubicBezTo>
                  <a:lnTo>
                    <a:pt x="5738982" y="1445316"/>
                  </a:lnTo>
                  <a:cubicBezTo>
                    <a:pt x="5738982" y="1452400"/>
                    <a:pt x="5736168" y="1459195"/>
                    <a:pt x="5731158" y="1464204"/>
                  </a:cubicBezTo>
                  <a:cubicBezTo>
                    <a:pt x="5726149" y="1469213"/>
                    <a:pt x="5719354" y="1472028"/>
                    <a:pt x="5712270" y="1472028"/>
                  </a:cubicBezTo>
                  <a:lnTo>
                    <a:pt x="26712" y="1472028"/>
                  </a:lnTo>
                  <a:cubicBezTo>
                    <a:pt x="19627" y="1472028"/>
                    <a:pt x="12833" y="1469213"/>
                    <a:pt x="7824" y="1464204"/>
                  </a:cubicBezTo>
                  <a:cubicBezTo>
                    <a:pt x="2814" y="1459195"/>
                    <a:pt x="0" y="1452400"/>
                    <a:pt x="0" y="1445316"/>
                  </a:cubicBezTo>
                  <a:lnTo>
                    <a:pt x="0" y="26712"/>
                  </a:lnTo>
                  <a:cubicBezTo>
                    <a:pt x="0" y="19627"/>
                    <a:pt x="2814" y="12833"/>
                    <a:pt x="7824" y="7824"/>
                  </a:cubicBezTo>
                  <a:cubicBezTo>
                    <a:pt x="12833" y="2814"/>
                    <a:pt x="19627" y="0"/>
                    <a:pt x="26712" y="0"/>
                  </a:cubicBezTo>
                  <a:close/>
                </a:path>
              </a:pathLst>
            </a:custGeom>
            <a:gradFill rotWithShape="true">
              <a:gsLst>
                <a:gs pos="0">
                  <a:srgbClr val="000000">
                    <a:alpha val="78000"/>
                  </a:srgbClr>
                </a:gs>
                <a:gs pos="100000">
                  <a:srgbClr val="DDDDDD">
                    <a:alpha val="14820"/>
                  </a:srgbClr>
                </a:gs>
              </a:gsLst>
              <a:lin ang="2700000"/>
            </a:gradFill>
          </p:spPr>
        </p:sp>
        <p:sp>
          <p:nvSpPr>
            <p:cNvPr name="TextBox 8" id="8"/>
            <p:cNvSpPr txBox="true"/>
            <p:nvPr/>
          </p:nvSpPr>
          <p:spPr>
            <a:xfrm>
              <a:off x="0" y="-66675"/>
              <a:ext cx="5738982" cy="1538703"/>
            </a:xfrm>
            <a:prstGeom prst="rect">
              <a:avLst/>
            </a:prstGeom>
          </p:spPr>
          <p:txBody>
            <a:bodyPr anchor="ctr" rtlCol="false" tIns="37213" lIns="37213" bIns="37213" rIns="37213"/>
            <a:lstStyle/>
            <a:p>
              <a:pPr algn="ctr">
                <a:lnSpc>
                  <a:spcPts val="3151"/>
                </a:lnSpc>
              </a:pPr>
            </a:p>
          </p:txBody>
        </p:sp>
      </p:grpSp>
      <p:sp>
        <p:nvSpPr>
          <p:cNvPr name="TextBox 9" id="9"/>
          <p:cNvSpPr txBox="true"/>
          <p:nvPr/>
        </p:nvSpPr>
        <p:spPr>
          <a:xfrm rot="0">
            <a:off x="9144000" y="841660"/>
            <a:ext cx="1662550" cy="409541"/>
          </a:xfrm>
          <a:prstGeom prst="rect">
            <a:avLst/>
          </a:prstGeom>
        </p:spPr>
        <p:txBody>
          <a:bodyPr anchor="t" rtlCol="false" tIns="0" lIns="0" bIns="0" rIns="0">
            <a:spAutoFit/>
          </a:bodyPr>
          <a:lstStyle/>
          <a:p>
            <a:pPr algn="r" marL="0" indent="0" lvl="0">
              <a:lnSpc>
                <a:spcPts val="3151"/>
              </a:lnSpc>
              <a:spcBef>
                <a:spcPct val="0"/>
              </a:spcBef>
            </a:pPr>
            <a:r>
              <a:rPr lang="en-US" sz="2251">
                <a:solidFill>
                  <a:srgbClr val="FFFFFF"/>
                </a:solidFill>
                <a:latin typeface="Poppins"/>
                <a:ea typeface="Poppins"/>
                <a:cs typeface="Poppins"/>
                <a:sym typeface="Poppins"/>
              </a:rPr>
              <a:t>Home</a:t>
            </a:r>
          </a:p>
        </p:txBody>
      </p:sp>
      <p:sp>
        <p:nvSpPr>
          <p:cNvPr name="TextBox 10" id="10"/>
          <p:cNvSpPr txBox="true"/>
          <p:nvPr/>
        </p:nvSpPr>
        <p:spPr>
          <a:xfrm rot="0">
            <a:off x="11408122" y="843874"/>
            <a:ext cx="1907082" cy="409541"/>
          </a:xfrm>
          <a:prstGeom prst="rect">
            <a:avLst/>
          </a:prstGeom>
        </p:spPr>
        <p:txBody>
          <a:bodyPr anchor="t" rtlCol="false" tIns="0" lIns="0" bIns="0" rIns="0">
            <a:spAutoFit/>
          </a:bodyPr>
          <a:lstStyle/>
          <a:p>
            <a:pPr algn="ctr" marL="0" indent="0" lvl="0">
              <a:lnSpc>
                <a:spcPts val="3151"/>
              </a:lnSpc>
              <a:spcBef>
                <a:spcPct val="0"/>
              </a:spcBef>
            </a:pPr>
            <a:r>
              <a:rPr lang="en-US" sz="2251">
                <a:solidFill>
                  <a:srgbClr val="FFFFFF"/>
                </a:solidFill>
                <a:latin typeface="Poppins"/>
                <a:ea typeface="Poppins"/>
                <a:cs typeface="Poppins"/>
                <a:sym typeface="Poppins"/>
              </a:rPr>
              <a:t>About</a:t>
            </a:r>
          </a:p>
        </p:txBody>
      </p:sp>
      <p:sp>
        <p:nvSpPr>
          <p:cNvPr name="TextBox 11" id="11"/>
          <p:cNvSpPr txBox="true"/>
          <p:nvPr/>
        </p:nvSpPr>
        <p:spPr>
          <a:xfrm rot="0">
            <a:off x="13726729" y="819695"/>
            <a:ext cx="1916881" cy="409541"/>
          </a:xfrm>
          <a:prstGeom prst="rect">
            <a:avLst/>
          </a:prstGeom>
        </p:spPr>
        <p:txBody>
          <a:bodyPr anchor="t" rtlCol="false" tIns="0" lIns="0" bIns="0" rIns="0">
            <a:spAutoFit/>
          </a:bodyPr>
          <a:lstStyle/>
          <a:p>
            <a:pPr algn="ctr" marL="0" indent="0" lvl="0">
              <a:lnSpc>
                <a:spcPts val="3151"/>
              </a:lnSpc>
              <a:spcBef>
                <a:spcPct val="0"/>
              </a:spcBef>
            </a:pPr>
            <a:r>
              <a:rPr lang="en-US" b="true" sz="2251">
                <a:solidFill>
                  <a:srgbClr val="FFFFFF"/>
                </a:solidFill>
                <a:latin typeface="Poppins Bold"/>
                <a:ea typeface="Poppins Bold"/>
                <a:cs typeface="Poppins Bold"/>
                <a:sym typeface="Poppins Bold"/>
              </a:rPr>
              <a:t>Content</a:t>
            </a:r>
          </a:p>
        </p:txBody>
      </p:sp>
      <p:sp>
        <p:nvSpPr>
          <p:cNvPr name="TextBox 12" id="12"/>
          <p:cNvSpPr txBox="true"/>
          <p:nvPr/>
        </p:nvSpPr>
        <p:spPr>
          <a:xfrm rot="0">
            <a:off x="15034325" y="841660"/>
            <a:ext cx="2224975" cy="409541"/>
          </a:xfrm>
          <a:prstGeom prst="rect">
            <a:avLst/>
          </a:prstGeom>
        </p:spPr>
        <p:txBody>
          <a:bodyPr anchor="t" rtlCol="false" tIns="0" lIns="0" bIns="0" rIns="0">
            <a:spAutoFit/>
          </a:bodyPr>
          <a:lstStyle/>
          <a:p>
            <a:pPr algn="r" marL="0" indent="0" lvl="0">
              <a:lnSpc>
                <a:spcPts val="3151"/>
              </a:lnSpc>
              <a:spcBef>
                <a:spcPct val="0"/>
              </a:spcBef>
            </a:pPr>
            <a:r>
              <a:rPr lang="en-US" sz="2251">
                <a:solidFill>
                  <a:srgbClr val="FFFFFF"/>
                </a:solidFill>
                <a:latin typeface="Poppins"/>
                <a:ea typeface="Poppins"/>
                <a:cs typeface="Poppins"/>
                <a:sym typeface="Poppins"/>
              </a:rPr>
              <a:t>Others</a:t>
            </a:r>
          </a:p>
        </p:txBody>
      </p:sp>
      <p:sp>
        <p:nvSpPr>
          <p:cNvPr name="TextBox 13" id="13"/>
          <p:cNvSpPr txBox="true"/>
          <p:nvPr/>
        </p:nvSpPr>
        <p:spPr>
          <a:xfrm rot="0">
            <a:off x="1510858" y="2215317"/>
            <a:ext cx="16431963" cy="918179"/>
          </a:xfrm>
          <a:prstGeom prst="rect">
            <a:avLst/>
          </a:prstGeom>
        </p:spPr>
        <p:txBody>
          <a:bodyPr anchor="t" rtlCol="false" tIns="0" lIns="0" bIns="0" rIns="0">
            <a:spAutoFit/>
          </a:bodyPr>
          <a:lstStyle/>
          <a:p>
            <a:pPr algn="just">
              <a:lnSpc>
                <a:spcPts val="7017"/>
              </a:lnSpc>
            </a:pPr>
            <a:r>
              <a:rPr lang="en-US" b="true" sz="6497" spc="-285">
                <a:solidFill>
                  <a:srgbClr val="FFFFFF"/>
                </a:solidFill>
                <a:latin typeface="Open Sauce Bold"/>
                <a:ea typeface="Open Sauce Bold"/>
                <a:cs typeface="Open Sauce Bold"/>
                <a:sym typeface="Open Sauce Bold"/>
              </a:rPr>
              <a:t>Results &amp; Key Findings (Tweet Dataset)</a:t>
            </a:r>
          </a:p>
        </p:txBody>
      </p:sp>
      <p:sp>
        <p:nvSpPr>
          <p:cNvPr name="TextBox 14" id="14"/>
          <p:cNvSpPr txBox="true"/>
          <p:nvPr/>
        </p:nvSpPr>
        <p:spPr>
          <a:xfrm rot="0">
            <a:off x="1510858" y="4201795"/>
            <a:ext cx="15234429" cy="3504722"/>
          </a:xfrm>
          <a:prstGeom prst="rect">
            <a:avLst/>
          </a:prstGeom>
        </p:spPr>
        <p:txBody>
          <a:bodyPr anchor="t" rtlCol="false" tIns="0" lIns="0" bIns="0" rIns="0">
            <a:spAutoFit/>
          </a:bodyPr>
          <a:lstStyle/>
          <a:p>
            <a:pPr algn="just" marL="648406" indent="-324203" lvl="1">
              <a:lnSpc>
                <a:spcPts val="7057"/>
              </a:lnSpc>
              <a:buFont typeface="Arial"/>
              <a:buChar char="•"/>
            </a:pPr>
            <a:r>
              <a:rPr lang="en-US" sz="3003">
                <a:solidFill>
                  <a:srgbClr val="FFFFFF"/>
                </a:solidFill>
                <a:latin typeface="Poppins"/>
                <a:ea typeface="Poppins"/>
                <a:cs typeface="Poppins"/>
                <a:sym typeface="Poppins"/>
              </a:rPr>
              <a:t>LDA topic modeling: Reveals 6 major election fraud narratives; "Suspicious Voting" most prevalent.</a:t>
            </a:r>
          </a:p>
          <a:p>
            <a:pPr algn="just" marL="648406" indent="-324203" lvl="1">
              <a:lnSpc>
                <a:spcPts val="7057"/>
              </a:lnSpc>
              <a:buFont typeface="Arial"/>
              <a:buChar char="•"/>
            </a:pPr>
            <a:r>
              <a:rPr lang="en-US" sz="3003">
                <a:solidFill>
                  <a:srgbClr val="FFFFFF"/>
                </a:solidFill>
                <a:latin typeface="Poppins"/>
                <a:ea typeface="Poppins"/>
                <a:cs typeface="Poppins"/>
                <a:sym typeface="Poppins"/>
              </a:rPr>
              <a:t>Sentiment split: Ballot stuffing/angry, orderly/supportive.</a:t>
            </a:r>
          </a:p>
          <a:p>
            <a:pPr algn="just" marL="648406" indent="-324203" lvl="1">
              <a:lnSpc>
                <a:spcPts val="7057"/>
              </a:lnSpc>
              <a:buFont typeface="Arial"/>
              <a:buChar char="•"/>
            </a:pPr>
            <a:r>
              <a:rPr lang="en-US" sz="3003">
                <a:solidFill>
                  <a:srgbClr val="FFFFFF"/>
                </a:solidFill>
                <a:latin typeface="Poppins"/>
                <a:ea typeface="Poppins"/>
                <a:cs typeface="Poppins"/>
                <a:sym typeface="Poppins"/>
              </a:rPr>
              <a:t>Misinformation flagging via anomaly scores; top phrases identified.</a:t>
            </a:r>
          </a:p>
        </p:txBody>
      </p:sp>
      <p:grpSp>
        <p:nvGrpSpPr>
          <p:cNvPr name="Group 15" id="15"/>
          <p:cNvGrpSpPr/>
          <p:nvPr/>
        </p:nvGrpSpPr>
        <p:grpSpPr>
          <a:xfrm rot="0">
            <a:off x="3209796" y="8824462"/>
            <a:ext cx="12937016" cy="799335"/>
            <a:chOff x="0" y="0"/>
            <a:chExt cx="3407280" cy="210524"/>
          </a:xfrm>
        </p:grpSpPr>
        <p:sp>
          <p:nvSpPr>
            <p:cNvPr name="Freeform 16" id="16"/>
            <p:cNvSpPr/>
            <p:nvPr/>
          </p:nvSpPr>
          <p:spPr>
            <a:xfrm flipH="false" flipV="false" rot="0">
              <a:off x="0" y="0"/>
              <a:ext cx="3407280" cy="210524"/>
            </a:xfrm>
            <a:custGeom>
              <a:avLst/>
              <a:gdLst/>
              <a:ahLst/>
              <a:cxnLst/>
              <a:rect r="r" b="b" t="t" l="l"/>
              <a:pathLst>
                <a:path h="210524" w="3407280">
                  <a:moveTo>
                    <a:pt x="33512" y="0"/>
                  </a:moveTo>
                  <a:lnTo>
                    <a:pt x="3373768" y="0"/>
                  </a:lnTo>
                  <a:cubicBezTo>
                    <a:pt x="3392276" y="0"/>
                    <a:pt x="3407280" y="15004"/>
                    <a:pt x="3407280" y="33512"/>
                  </a:cubicBezTo>
                  <a:lnTo>
                    <a:pt x="3407280" y="177012"/>
                  </a:lnTo>
                  <a:cubicBezTo>
                    <a:pt x="3407280" y="195520"/>
                    <a:pt x="3392276" y="210524"/>
                    <a:pt x="3373768" y="210524"/>
                  </a:cubicBezTo>
                  <a:lnTo>
                    <a:pt x="33512" y="210524"/>
                  </a:lnTo>
                  <a:cubicBezTo>
                    <a:pt x="24624" y="210524"/>
                    <a:pt x="16100" y="206994"/>
                    <a:pt x="9815" y="200709"/>
                  </a:cubicBezTo>
                  <a:cubicBezTo>
                    <a:pt x="3531" y="194424"/>
                    <a:pt x="0" y="185900"/>
                    <a:pt x="0" y="177012"/>
                  </a:cubicBezTo>
                  <a:lnTo>
                    <a:pt x="0" y="33512"/>
                  </a:lnTo>
                  <a:cubicBezTo>
                    <a:pt x="0" y="15004"/>
                    <a:pt x="15004" y="0"/>
                    <a:pt x="33512" y="0"/>
                  </a:cubicBezTo>
                  <a:close/>
                </a:path>
              </a:pathLst>
            </a:custGeom>
            <a:solidFill>
              <a:srgbClr val="FFFFFF">
                <a:alpha val="21961"/>
              </a:srgbClr>
            </a:solidFill>
          </p:spPr>
        </p:sp>
        <p:sp>
          <p:nvSpPr>
            <p:cNvPr name="TextBox 17" id="17"/>
            <p:cNvSpPr txBox="true"/>
            <p:nvPr/>
          </p:nvSpPr>
          <p:spPr>
            <a:xfrm>
              <a:off x="0" y="-38100"/>
              <a:ext cx="3407280" cy="248624"/>
            </a:xfrm>
            <a:prstGeom prst="rect">
              <a:avLst/>
            </a:prstGeom>
          </p:spPr>
          <p:txBody>
            <a:bodyPr anchor="ctr" rtlCol="false" tIns="50800" lIns="50800" bIns="50800" rIns="50800"/>
            <a:lstStyle/>
            <a:p>
              <a:pPr algn="ctr">
                <a:lnSpc>
                  <a:spcPts val="2659"/>
                </a:lnSpc>
                <a:spcBef>
                  <a:spcPct val="0"/>
                </a:spcBef>
              </a:pPr>
            </a:p>
          </p:txBody>
        </p:sp>
      </p:grpSp>
      <p:sp>
        <p:nvSpPr>
          <p:cNvPr name="TextBox 18" id="18"/>
          <p:cNvSpPr txBox="true"/>
          <p:nvPr/>
        </p:nvSpPr>
        <p:spPr>
          <a:xfrm rot="0">
            <a:off x="3209796" y="8956173"/>
            <a:ext cx="12139553" cy="632829"/>
          </a:xfrm>
          <a:prstGeom prst="rect">
            <a:avLst/>
          </a:prstGeom>
        </p:spPr>
        <p:txBody>
          <a:bodyPr anchor="t" rtlCol="false" tIns="0" lIns="0" bIns="0" rIns="0">
            <a:spAutoFit/>
          </a:bodyPr>
          <a:lstStyle/>
          <a:p>
            <a:pPr algn="ctr">
              <a:lnSpc>
                <a:spcPts val="4436"/>
              </a:lnSpc>
            </a:pPr>
            <a:r>
              <a:rPr lang="en-US" b="true" sz="4349" spc="-195">
                <a:solidFill>
                  <a:srgbClr val="FFFFFF"/>
                </a:solidFill>
                <a:latin typeface="Telegraf Bold"/>
                <a:ea typeface="Telegraf Bold"/>
                <a:cs typeface="Telegraf Bold"/>
                <a:sym typeface="Telegraf Bold"/>
              </a:rPr>
              <a:t>Narrative &amp; Misinformation Analysis</a:t>
            </a:r>
          </a:p>
        </p:txBody>
      </p:sp>
      <p:sp>
        <p:nvSpPr>
          <p:cNvPr name="TextBox 19" id="19"/>
          <p:cNvSpPr txBox="true"/>
          <p:nvPr/>
        </p:nvSpPr>
        <p:spPr>
          <a:xfrm rot="0">
            <a:off x="1363845" y="768097"/>
            <a:ext cx="3551055" cy="445006"/>
          </a:xfrm>
          <a:prstGeom prst="rect">
            <a:avLst/>
          </a:prstGeom>
        </p:spPr>
        <p:txBody>
          <a:bodyPr anchor="t" rtlCol="false" tIns="0" lIns="0" bIns="0" rIns="0">
            <a:spAutoFit/>
          </a:bodyPr>
          <a:lstStyle/>
          <a:p>
            <a:pPr algn="l">
              <a:lnSpc>
                <a:spcPts val="3391"/>
              </a:lnSpc>
              <a:spcBef>
                <a:spcPct val="0"/>
              </a:spcBef>
            </a:pPr>
            <a:r>
              <a:rPr lang="en-US" b="true" sz="2422" spc="-109">
                <a:solidFill>
                  <a:srgbClr val="FFFFFF"/>
                </a:solidFill>
                <a:latin typeface="Telegraf Bold"/>
                <a:ea typeface="Telegraf Bold"/>
                <a:cs typeface="Telegraf Bold"/>
                <a:sym typeface="Telegraf Bold"/>
              </a:rPr>
              <a:t>Forensics Analytics</a:t>
            </a:r>
          </a:p>
        </p:txBody>
      </p:sp>
    </p:spTree>
  </p:cSld>
  <p:clrMapOvr>
    <a:masterClrMapping/>
  </p:clrMapOvr>
  <p:transition spd="slow">
    <p:push dir="l"/>
  </p:transition>
</p:sld>
</file>

<file path=ppt/slides/slide2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9033D">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0">
            <a:off x="803986" y="803986"/>
            <a:ext cx="449429" cy="449429"/>
          </a:xfrm>
          <a:custGeom>
            <a:avLst/>
            <a:gdLst/>
            <a:ahLst/>
            <a:cxnLst/>
            <a:rect r="r" b="b" t="t" l="l"/>
            <a:pathLst>
              <a:path h="449429" w="449429">
                <a:moveTo>
                  <a:pt x="0" y="0"/>
                </a:moveTo>
                <a:lnTo>
                  <a:pt x="449428" y="0"/>
                </a:lnTo>
                <a:lnTo>
                  <a:pt x="449428" y="449428"/>
                </a:lnTo>
                <a:lnTo>
                  <a:pt x="0" y="4494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803986" y="1756054"/>
            <a:ext cx="15941302" cy="1876620"/>
            <a:chOff x="0" y="0"/>
            <a:chExt cx="4198532" cy="494254"/>
          </a:xfrm>
        </p:grpSpPr>
        <p:sp>
          <p:nvSpPr>
            <p:cNvPr name="Freeform 4" id="4"/>
            <p:cNvSpPr/>
            <p:nvPr/>
          </p:nvSpPr>
          <p:spPr>
            <a:xfrm flipH="false" flipV="false" rot="0">
              <a:off x="0" y="0"/>
              <a:ext cx="4198532" cy="494254"/>
            </a:xfrm>
            <a:custGeom>
              <a:avLst/>
              <a:gdLst/>
              <a:ahLst/>
              <a:cxnLst/>
              <a:rect r="r" b="b" t="t" l="l"/>
              <a:pathLst>
                <a:path h="494254" w="4198532">
                  <a:moveTo>
                    <a:pt x="27196" y="0"/>
                  </a:moveTo>
                  <a:lnTo>
                    <a:pt x="4171336" y="0"/>
                  </a:lnTo>
                  <a:cubicBezTo>
                    <a:pt x="4186356" y="0"/>
                    <a:pt x="4198532" y="12176"/>
                    <a:pt x="4198532" y="27196"/>
                  </a:cubicBezTo>
                  <a:lnTo>
                    <a:pt x="4198532" y="467057"/>
                  </a:lnTo>
                  <a:cubicBezTo>
                    <a:pt x="4198532" y="474270"/>
                    <a:pt x="4195667" y="481188"/>
                    <a:pt x="4190567" y="486288"/>
                  </a:cubicBezTo>
                  <a:cubicBezTo>
                    <a:pt x="4185467" y="491388"/>
                    <a:pt x="4178549" y="494254"/>
                    <a:pt x="4171336" y="494254"/>
                  </a:cubicBezTo>
                  <a:lnTo>
                    <a:pt x="27196" y="494254"/>
                  </a:lnTo>
                  <a:cubicBezTo>
                    <a:pt x="12176" y="494254"/>
                    <a:pt x="0" y="482077"/>
                    <a:pt x="0" y="467057"/>
                  </a:cubicBezTo>
                  <a:lnTo>
                    <a:pt x="0" y="27196"/>
                  </a:lnTo>
                  <a:cubicBezTo>
                    <a:pt x="0" y="12176"/>
                    <a:pt x="12176" y="0"/>
                    <a:pt x="27196" y="0"/>
                  </a:cubicBezTo>
                  <a:close/>
                </a:path>
              </a:pathLst>
            </a:custGeom>
            <a:solidFill>
              <a:srgbClr val="000000">
                <a:alpha val="0"/>
              </a:srgbClr>
            </a:solidFill>
            <a:ln w="28575" cap="rnd">
              <a:solidFill>
                <a:srgbClr val="FFFFFF"/>
              </a:solidFill>
              <a:prstDash val="solid"/>
              <a:round/>
            </a:ln>
          </p:spPr>
        </p:sp>
        <p:sp>
          <p:nvSpPr>
            <p:cNvPr name="TextBox 5" id="5"/>
            <p:cNvSpPr txBox="true"/>
            <p:nvPr/>
          </p:nvSpPr>
          <p:spPr>
            <a:xfrm>
              <a:off x="0" y="-66675"/>
              <a:ext cx="4198532" cy="560929"/>
            </a:xfrm>
            <a:prstGeom prst="rect">
              <a:avLst/>
            </a:prstGeom>
          </p:spPr>
          <p:txBody>
            <a:bodyPr anchor="ctr" rtlCol="false" tIns="50800" lIns="50800" bIns="50800" rIns="50800"/>
            <a:lstStyle/>
            <a:p>
              <a:pPr algn="ctr">
                <a:lnSpc>
                  <a:spcPts val="3151"/>
                </a:lnSpc>
              </a:pPr>
            </a:p>
          </p:txBody>
        </p:sp>
      </p:grpSp>
      <p:grpSp>
        <p:nvGrpSpPr>
          <p:cNvPr name="Group 6" id="6"/>
          <p:cNvGrpSpPr/>
          <p:nvPr/>
        </p:nvGrpSpPr>
        <p:grpSpPr>
          <a:xfrm rot="0">
            <a:off x="1028700" y="4156549"/>
            <a:ext cx="16230600" cy="4163089"/>
            <a:chOff x="0" y="0"/>
            <a:chExt cx="5738982" cy="1472028"/>
          </a:xfrm>
        </p:grpSpPr>
        <p:sp>
          <p:nvSpPr>
            <p:cNvPr name="Freeform 7" id="7"/>
            <p:cNvSpPr/>
            <p:nvPr/>
          </p:nvSpPr>
          <p:spPr>
            <a:xfrm flipH="false" flipV="false" rot="0">
              <a:off x="0" y="0"/>
              <a:ext cx="5738982" cy="1472028"/>
            </a:xfrm>
            <a:custGeom>
              <a:avLst/>
              <a:gdLst/>
              <a:ahLst/>
              <a:cxnLst/>
              <a:rect r="r" b="b" t="t" l="l"/>
              <a:pathLst>
                <a:path h="1472028" w="5738982">
                  <a:moveTo>
                    <a:pt x="26712" y="0"/>
                  </a:moveTo>
                  <a:lnTo>
                    <a:pt x="5712270" y="0"/>
                  </a:lnTo>
                  <a:cubicBezTo>
                    <a:pt x="5719354" y="0"/>
                    <a:pt x="5726149" y="2814"/>
                    <a:pt x="5731158" y="7824"/>
                  </a:cubicBezTo>
                  <a:cubicBezTo>
                    <a:pt x="5736168" y="12833"/>
                    <a:pt x="5738982" y="19627"/>
                    <a:pt x="5738982" y="26712"/>
                  </a:cubicBezTo>
                  <a:lnTo>
                    <a:pt x="5738982" y="1445316"/>
                  </a:lnTo>
                  <a:cubicBezTo>
                    <a:pt x="5738982" y="1452400"/>
                    <a:pt x="5736168" y="1459195"/>
                    <a:pt x="5731158" y="1464204"/>
                  </a:cubicBezTo>
                  <a:cubicBezTo>
                    <a:pt x="5726149" y="1469213"/>
                    <a:pt x="5719354" y="1472028"/>
                    <a:pt x="5712270" y="1472028"/>
                  </a:cubicBezTo>
                  <a:lnTo>
                    <a:pt x="26712" y="1472028"/>
                  </a:lnTo>
                  <a:cubicBezTo>
                    <a:pt x="19627" y="1472028"/>
                    <a:pt x="12833" y="1469213"/>
                    <a:pt x="7824" y="1464204"/>
                  </a:cubicBezTo>
                  <a:cubicBezTo>
                    <a:pt x="2814" y="1459195"/>
                    <a:pt x="0" y="1452400"/>
                    <a:pt x="0" y="1445316"/>
                  </a:cubicBezTo>
                  <a:lnTo>
                    <a:pt x="0" y="26712"/>
                  </a:lnTo>
                  <a:cubicBezTo>
                    <a:pt x="0" y="19627"/>
                    <a:pt x="2814" y="12833"/>
                    <a:pt x="7824" y="7824"/>
                  </a:cubicBezTo>
                  <a:cubicBezTo>
                    <a:pt x="12833" y="2814"/>
                    <a:pt x="19627" y="0"/>
                    <a:pt x="26712" y="0"/>
                  </a:cubicBezTo>
                  <a:close/>
                </a:path>
              </a:pathLst>
            </a:custGeom>
            <a:gradFill rotWithShape="true">
              <a:gsLst>
                <a:gs pos="0">
                  <a:srgbClr val="000000">
                    <a:alpha val="78000"/>
                  </a:srgbClr>
                </a:gs>
                <a:gs pos="100000">
                  <a:srgbClr val="DDDDDD">
                    <a:alpha val="14820"/>
                  </a:srgbClr>
                </a:gs>
              </a:gsLst>
              <a:lin ang="2700000"/>
            </a:gradFill>
          </p:spPr>
        </p:sp>
        <p:sp>
          <p:nvSpPr>
            <p:cNvPr name="TextBox 8" id="8"/>
            <p:cNvSpPr txBox="true"/>
            <p:nvPr/>
          </p:nvSpPr>
          <p:spPr>
            <a:xfrm>
              <a:off x="0" y="-66675"/>
              <a:ext cx="5738982" cy="1538703"/>
            </a:xfrm>
            <a:prstGeom prst="rect">
              <a:avLst/>
            </a:prstGeom>
          </p:spPr>
          <p:txBody>
            <a:bodyPr anchor="ctr" rtlCol="false" tIns="37213" lIns="37213" bIns="37213" rIns="37213"/>
            <a:lstStyle/>
            <a:p>
              <a:pPr algn="ctr">
                <a:lnSpc>
                  <a:spcPts val="3151"/>
                </a:lnSpc>
              </a:pPr>
            </a:p>
          </p:txBody>
        </p:sp>
      </p:grpSp>
      <p:sp>
        <p:nvSpPr>
          <p:cNvPr name="TextBox 9" id="9"/>
          <p:cNvSpPr txBox="true"/>
          <p:nvPr/>
        </p:nvSpPr>
        <p:spPr>
          <a:xfrm rot="0">
            <a:off x="9144000" y="841660"/>
            <a:ext cx="1662550" cy="409541"/>
          </a:xfrm>
          <a:prstGeom prst="rect">
            <a:avLst/>
          </a:prstGeom>
        </p:spPr>
        <p:txBody>
          <a:bodyPr anchor="t" rtlCol="false" tIns="0" lIns="0" bIns="0" rIns="0">
            <a:spAutoFit/>
          </a:bodyPr>
          <a:lstStyle/>
          <a:p>
            <a:pPr algn="r" marL="0" indent="0" lvl="0">
              <a:lnSpc>
                <a:spcPts val="3151"/>
              </a:lnSpc>
              <a:spcBef>
                <a:spcPct val="0"/>
              </a:spcBef>
            </a:pPr>
            <a:r>
              <a:rPr lang="en-US" sz="2251">
                <a:solidFill>
                  <a:srgbClr val="FFFFFF"/>
                </a:solidFill>
                <a:latin typeface="Poppins"/>
                <a:ea typeface="Poppins"/>
                <a:cs typeface="Poppins"/>
                <a:sym typeface="Poppins"/>
              </a:rPr>
              <a:t>Home</a:t>
            </a:r>
          </a:p>
        </p:txBody>
      </p:sp>
      <p:sp>
        <p:nvSpPr>
          <p:cNvPr name="TextBox 10" id="10"/>
          <p:cNvSpPr txBox="true"/>
          <p:nvPr/>
        </p:nvSpPr>
        <p:spPr>
          <a:xfrm rot="0">
            <a:off x="11408122" y="843874"/>
            <a:ext cx="1907082" cy="409541"/>
          </a:xfrm>
          <a:prstGeom prst="rect">
            <a:avLst/>
          </a:prstGeom>
        </p:spPr>
        <p:txBody>
          <a:bodyPr anchor="t" rtlCol="false" tIns="0" lIns="0" bIns="0" rIns="0">
            <a:spAutoFit/>
          </a:bodyPr>
          <a:lstStyle/>
          <a:p>
            <a:pPr algn="ctr" marL="0" indent="0" lvl="0">
              <a:lnSpc>
                <a:spcPts val="3151"/>
              </a:lnSpc>
              <a:spcBef>
                <a:spcPct val="0"/>
              </a:spcBef>
            </a:pPr>
            <a:r>
              <a:rPr lang="en-US" sz="2251">
                <a:solidFill>
                  <a:srgbClr val="FFFFFF"/>
                </a:solidFill>
                <a:latin typeface="Poppins"/>
                <a:ea typeface="Poppins"/>
                <a:cs typeface="Poppins"/>
                <a:sym typeface="Poppins"/>
              </a:rPr>
              <a:t>About</a:t>
            </a:r>
          </a:p>
        </p:txBody>
      </p:sp>
      <p:sp>
        <p:nvSpPr>
          <p:cNvPr name="TextBox 11" id="11"/>
          <p:cNvSpPr txBox="true"/>
          <p:nvPr/>
        </p:nvSpPr>
        <p:spPr>
          <a:xfrm rot="0">
            <a:off x="13726729" y="819695"/>
            <a:ext cx="1916881" cy="409541"/>
          </a:xfrm>
          <a:prstGeom prst="rect">
            <a:avLst/>
          </a:prstGeom>
        </p:spPr>
        <p:txBody>
          <a:bodyPr anchor="t" rtlCol="false" tIns="0" lIns="0" bIns="0" rIns="0">
            <a:spAutoFit/>
          </a:bodyPr>
          <a:lstStyle/>
          <a:p>
            <a:pPr algn="ctr" marL="0" indent="0" lvl="0">
              <a:lnSpc>
                <a:spcPts val="3151"/>
              </a:lnSpc>
              <a:spcBef>
                <a:spcPct val="0"/>
              </a:spcBef>
            </a:pPr>
            <a:r>
              <a:rPr lang="en-US" b="true" sz="2251">
                <a:solidFill>
                  <a:srgbClr val="FFFFFF"/>
                </a:solidFill>
                <a:latin typeface="Poppins Bold"/>
                <a:ea typeface="Poppins Bold"/>
                <a:cs typeface="Poppins Bold"/>
                <a:sym typeface="Poppins Bold"/>
              </a:rPr>
              <a:t>Content</a:t>
            </a:r>
          </a:p>
        </p:txBody>
      </p:sp>
      <p:sp>
        <p:nvSpPr>
          <p:cNvPr name="TextBox 12" id="12"/>
          <p:cNvSpPr txBox="true"/>
          <p:nvPr/>
        </p:nvSpPr>
        <p:spPr>
          <a:xfrm rot="0">
            <a:off x="15034325" y="841660"/>
            <a:ext cx="2224975" cy="409541"/>
          </a:xfrm>
          <a:prstGeom prst="rect">
            <a:avLst/>
          </a:prstGeom>
        </p:spPr>
        <p:txBody>
          <a:bodyPr anchor="t" rtlCol="false" tIns="0" lIns="0" bIns="0" rIns="0">
            <a:spAutoFit/>
          </a:bodyPr>
          <a:lstStyle/>
          <a:p>
            <a:pPr algn="r" marL="0" indent="0" lvl="0">
              <a:lnSpc>
                <a:spcPts val="3151"/>
              </a:lnSpc>
              <a:spcBef>
                <a:spcPct val="0"/>
              </a:spcBef>
            </a:pPr>
            <a:r>
              <a:rPr lang="en-US" sz="2251">
                <a:solidFill>
                  <a:srgbClr val="FFFFFF"/>
                </a:solidFill>
                <a:latin typeface="Poppins"/>
                <a:ea typeface="Poppins"/>
                <a:cs typeface="Poppins"/>
                <a:sym typeface="Poppins"/>
              </a:rPr>
              <a:t>Others</a:t>
            </a:r>
          </a:p>
        </p:txBody>
      </p:sp>
      <p:sp>
        <p:nvSpPr>
          <p:cNvPr name="TextBox 13" id="13"/>
          <p:cNvSpPr txBox="true"/>
          <p:nvPr/>
        </p:nvSpPr>
        <p:spPr>
          <a:xfrm rot="0">
            <a:off x="1510858" y="2215317"/>
            <a:ext cx="16431963" cy="918179"/>
          </a:xfrm>
          <a:prstGeom prst="rect">
            <a:avLst/>
          </a:prstGeom>
        </p:spPr>
        <p:txBody>
          <a:bodyPr anchor="t" rtlCol="false" tIns="0" lIns="0" bIns="0" rIns="0">
            <a:spAutoFit/>
          </a:bodyPr>
          <a:lstStyle/>
          <a:p>
            <a:pPr algn="just">
              <a:lnSpc>
                <a:spcPts val="7017"/>
              </a:lnSpc>
            </a:pPr>
            <a:r>
              <a:rPr lang="en-US" b="true" sz="6497" spc="-285">
                <a:solidFill>
                  <a:srgbClr val="FFFFFF"/>
                </a:solidFill>
                <a:latin typeface="Open Sauce Bold"/>
                <a:ea typeface="Open Sauce Bold"/>
                <a:cs typeface="Open Sauce Bold"/>
                <a:sym typeface="Open Sauce Bold"/>
              </a:rPr>
              <a:t>Results &amp; Key Findings (Tweet Dataset)</a:t>
            </a:r>
          </a:p>
        </p:txBody>
      </p:sp>
      <p:sp>
        <p:nvSpPr>
          <p:cNvPr name="TextBox 14" id="14"/>
          <p:cNvSpPr txBox="true"/>
          <p:nvPr/>
        </p:nvSpPr>
        <p:spPr>
          <a:xfrm rot="0">
            <a:off x="1253414" y="4382760"/>
            <a:ext cx="15234429" cy="3491591"/>
          </a:xfrm>
          <a:prstGeom prst="rect">
            <a:avLst/>
          </a:prstGeom>
        </p:spPr>
        <p:txBody>
          <a:bodyPr anchor="t" rtlCol="false" tIns="0" lIns="0" bIns="0" rIns="0">
            <a:spAutoFit/>
          </a:bodyPr>
          <a:lstStyle/>
          <a:p>
            <a:pPr algn="just" marL="648406" indent="-324203" lvl="1">
              <a:lnSpc>
                <a:spcPts val="5586"/>
              </a:lnSpc>
              <a:buFont typeface="Arial"/>
              <a:buChar char="•"/>
            </a:pPr>
            <a:r>
              <a:rPr lang="en-US" sz="3003">
                <a:solidFill>
                  <a:srgbClr val="FFFFFF"/>
                </a:solidFill>
                <a:latin typeface="Poppins"/>
                <a:ea typeface="Poppins"/>
                <a:cs typeface="Poppins"/>
                <a:sym typeface="Poppins"/>
              </a:rPr>
              <a:t>Isolation Forest flags outlier tweets with high-risk phrasing.</a:t>
            </a:r>
          </a:p>
          <a:p>
            <a:pPr algn="just" marL="648406" indent="-324203" lvl="1">
              <a:lnSpc>
                <a:spcPts val="5586"/>
              </a:lnSpc>
              <a:buFont typeface="Arial"/>
              <a:buChar char="•"/>
            </a:pPr>
            <a:r>
              <a:rPr lang="en-US" sz="3003">
                <a:solidFill>
                  <a:srgbClr val="FFFFFF"/>
                </a:solidFill>
                <a:latin typeface="Poppins"/>
                <a:ea typeface="Poppins"/>
                <a:cs typeface="Poppins"/>
                <a:sym typeface="Poppins"/>
              </a:rPr>
              <a:t>58 coordinated campaign groups found; repeated content posted in tight time frames.</a:t>
            </a:r>
          </a:p>
          <a:p>
            <a:pPr algn="just" marL="648406" indent="-324203" lvl="1">
              <a:lnSpc>
                <a:spcPts val="5586"/>
              </a:lnSpc>
              <a:buFont typeface="Arial"/>
              <a:buChar char="•"/>
            </a:pPr>
            <a:r>
              <a:rPr lang="en-US" sz="3003">
                <a:solidFill>
                  <a:srgbClr val="FFFFFF"/>
                </a:solidFill>
                <a:latin typeface="Poppins"/>
                <a:ea typeface="Poppins"/>
                <a:cs typeface="Poppins"/>
                <a:sym typeface="Poppins"/>
              </a:rPr>
              <a:t>Coordinated users show high bot scores (statistical significance, p=0.0011).</a:t>
            </a:r>
          </a:p>
          <a:p>
            <a:pPr algn="just" marL="648406" indent="-324203" lvl="1">
              <a:lnSpc>
                <a:spcPts val="5586"/>
              </a:lnSpc>
              <a:buFont typeface="Arial"/>
              <a:buChar char="•"/>
            </a:pPr>
            <a:r>
              <a:rPr lang="en-US" sz="3003">
                <a:solidFill>
                  <a:srgbClr val="FFFFFF"/>
                </a:solidFill>
                <a:latin typeface="Poppins"/>
                <a:ea typeface="Poppins"/>
                <a:cs typeface="Poppins"/>
                <a:sym typeface="Poppins"/>
              </a:rPr>
              <a:t>Network graph of user similarity shows hubs and amplification.</a:t>
            </a:r>
          </a:p>
        </p:txBody>
      </p:sp>
      <p:grpSp>
        <p:nvGrpSpPr>
          <p:cNvPr name="Group 15" id="15"/>
          <p:cNvGrpSpPr/>
          <p:nvPr/>
        </p:nvGrpSpPr>
        <p:grpSpPr>
          <a:xfrm rot="0">
            <a:off x="2675492" y="8824462"/>
            <a:ext cx="12937016" cy="799335"/>
            <a:chOff x="0" y="0"/>
            <a:chExt cx="3407280" cy="210524"/>
          </a:xfrm>
        </p:grpSpPr>
        <p:sp>
          <p:nvSpPr>
            <p:cNvPr name="Freeform 16" id="16"/>
            <p:cNvSpPr/>
            <p:nvPr/>
          </p:nvSpPr>
          <p:spPr>
            <a:xfrm flipH="false" flipV="false" rot="0">
              <a:off x="0" y="0"/>
              <a:ext cx="3407280" cy="210524"/>
            </a:xfrm>
            <a:custGeom>
              <a:avLst/>
              <a:gdLst/>
              <a:ahLst/>
              <a:cxnLst/>
              <a:rect r="r" b="b" t="t" l="l"/>
              <a:pathLst>
                <a:path h="210524" w="3407280">
                  <a:moveTo>
                    <a:pt x="33512" y="0"/>
                  </a:moveTo>
                  <a:lnTo>
                    <a:pt x="3373768" y="0"/>
                  </a:lnTo>
                  <a:cubicBezTo>
                    <a:pt x="3392276" y="0"/>
                    <a:pt x="3407280" y="15004"/>
                    <a:pt x="3407280" y="33512"/>
                  </a:cubicBezTo>
                  <a:lnTo>
                    <a:pt x="3407280" y="177012"/>
                  </a:lnTo>
                  <a:cubicBezTo>
                    <a:pt x="3407280" y="195520"/>
                    <a:pt x="3392276" y="210524"/>
                    <a:pt x="3373768" y="210524"/>
                  </a:cubicBezTo>
                  <a:lnTo>
                    <a:pt x="33512" y="210524"/>
                  </a:lnTo>
                  <a:cubicBezTo>
                    <a:pt x="24624" y="210524"/>
                    <a:pt x="16100" y="206994"/>
                    <a:pt x="9815" y="200709"/>
                  </a:cubicBezTo>
                  <a:cubicBezTo>
                    <a:pt x="3531" y="194424"/>
                    <a:pt x="0" y="185900"/>
                    <a:pt x="0" y="177012"/>
                  </a:cubicBezTo>
                  <a:lnTo>
                    <a:pt x="0" y="33512"/>
                  </a:lnTo>
                  <a:cubicBezTo>
                    <a:pt x="0" y="15004"/>
                    <a:pt x="15004" y="0"/>
                    <a:pt x="33512" y="0"/>
                  </a:cubicBezTo>
                  <a:close/>
                </a:path>
              </a:pathLst>
            </a:custGeom>
            <a:solidFill>
              <a:srgbClr val="FFFFFF">
                <a:alpha val="21961"/>
              </a:srgbClr>
            </a:solidFill>
          </p:spPr>
        </p:sp>
        <p:sp>
          <p:nvSpPr>
            <p:cNvPr name="TextBox 17" id="17"/>
            <p:cNvSpPr txBox="true"/>
            <p:nvPr/>
          </p:nvSpPr>
          <p:spPr>
            <a:xfrm>
              <a:off x="0" y="-38100"/>
              <a:ext cx="3407280" cy="248624"/>
            </a:xfrm>
            <a:prstGeom prst="rect">
              <a:avLst/>
            </a:prstGeom>
          </p:spPr>
          <p:txBody>
            <a:bodyPr anchor="ctr" rtlCol="false" tIns="50800" lIns="50800" bIns="50800" rIns="50800"/>
            <a:lstStyle/>
            <a:p>
              <a:pPr algn="ctr">
                <a:lnSpc>
                  <a:spcPts val="2659"/>
                </a:lnSpc>
                <a:spcBef>
                  <a:spcPct val="0"/>
                </a:spcBef>
              </a:pPr>
            </a:p>
          </p:txBody>
        </p:sp>
      </p:grpSp>
      <p:sp>
        <p:nvSpPr>
          <p:cNvPr name="TextBox 18" id="18"/>
          <p:cNvSpPr txBox="true"/>
          <p:nvPr/>
        </p:nvSpPr>
        <p:spPr>
          <a:xfrm rot="0">
            <a:off x="2969753" y="8956173"/>
            <a:ext cx="12139553" cy="632829"/>
          </a:xfrm>
          <a:prstGeom prst="rect">
            <a:avLst/>
          </a:prstGeom>
        </p:spPr>
        <p:txBody>
          <a:bodyPr anchor="t" rtlCol="false" tIns="0" lIns="0" bIns="0" rIns="0">
            <a:spAutoFit/>
          </a:bodyPr>
          <a:lstStyle/>
          <a:p>
            <a:pPr algn="ctr">
              <a:lnSpc>
                <a:spcPts val="4436"/>
              </a:lnSpc>
            </a:pPr>
            <a:r>
              <a:rPr lang="en-US" b="true" sz="4349" spc="-195">
                <a:solidFill>
                  <a:srgbClr val="FFFFFF"/>
                </a:solidFill>
                <a:latin typeface="Telegraf Bold"/>
                <a:ea typeface="Telegraf Bold"/>
                <a:cs typeface="Telegraf Bold"/>
                <a:sym typeface="Telegraf Bold"/>
              </a:rPr>
              <a:t>Anomaly &amp; Coordinated Campaigns</a:t>
            </a:r>
          </a:p>
        </p:txBody>
      </p:sp>
      <p:sp>
        <p:nvSpPr>
          <p:cNvPr name="TextBox 19" id="19"/>
          <p:cNvSpPr txBox="true"/>
          <p:nvPr/>
        </p:nvSpPr>
        <p:spPr>
          <a:xfrm rot="0">
            <a:off x="1363845" y="768097"/>
            <a:ext cx="3551055" cy="445006"/>
          </a:xfrm>
          <a:prstGeom prst="rect">
            <a:avLst/>
          </a:prstGeom>
        </p:spPr>
        <p:txBody>
          <a:bodyPr anchor="t" rtlCol="false" tIns="0" lIns="0" bIns="0" rIns="0">
            <a:spAutoFit/>
          </a:bodyPr>
          <a:lstStyle/>
          <a:p>
            <a:pPr algn="l">
              <a:lnSpc>
                <a:spcPts val="3391"/>
              </a:lnSpc>
              <a:spcBef>
                <a:spcPct val="0"/>
              </a:spcBef>
            </a:pPr>
            <a:r>
              <a:rPr lang="en-US" b="true" sz="2422" spc="-109">
                <a:solidFill>
                  <a:srgbClr val="FFFFFF"/>
                </a:solidFill>
                <a:latin typeface="Telegraf Bold"/>
                <a:ea typeface="Telegraf Bold"/>
                <a:cs typeface="Telegraf Bold"/>
                <a:sym typeface="Telegraf Bold"/>
              </a:rPr>
              <a:t>Forensics Analytics</a:t>
            </a:r>
          </a:p>
        </p:txBody>
      </p:sp>
    </p:spTree>
  </p:cSld>
  <p:clrMapOvr>
    <a:masterClrMapping/>
  </p:clrMapOvr>
  <p:transition spd="slow">
    <p:push dir="l"/>
  </p:transition>
</p:sld>
</file>

<file path=ppt/slides/slide2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9033D">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0">
            <a:off x="803986" y="803986"/>
            <a:ext cx="449429" cy="449429"/>
          </a:xfrm>
          <a:custGeom>
            <a:avLst/>
            <a:gdLst/>
            <a:ahLst/>
            <a:cxnLst/>
            <a:rect r="r" b="b" t="t" l="l"/>
            <a:pathLst>
              <a:path h="449429" w="449429">
                <a:moveTo>
                  <a:pt x="0" y="0"/>
                </a:moveTo>
                <a:lnTo>
                  <a:pt x="449428" y="0"/>
                </a:lnTo>
                <a:lnTo>
                  <a:pt x="449428" y="449428"/>
                </a:lnTo>
                <a:lnTo>
                  <a:pt x="0" y="4494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803986" y="1756054"/>
            <a:ext cx="14505913" cy="1876620"/>
            <a:chOff x="0" y="0"/>
            <a:chExt cx="3820487" cy="494254"/>
          </a:xfrm>
        </p:grpSpPr>
        <p:sp>
          <p:nvSpPr>
            <p:cNvPr name="Freeform 4" id="4"/>
            <p:cNvSpPr/>
            <p:nvPr/>
          </p:nvSpPr>
          <p:spPr>
            <a:xfrm flipH="false" flipV="false" rot="0">
              <a:off x="0" y="0"/>
              <a:ext cx="3820487" cy="494254"/>
            </a:xfrm>
            <a:custGeom>
              <a:avLst/>
              <a:gdLst/>
              <a:ahLst/>
              <a:cxnLst/>
              <a:rect r="r" b="b" t="t" l="l"/>
              <a:pathLst>
                <a:path h="494254" w="3820487">
                  <a:moveTo>
                    <a:pt x="29888" y="0"/>
                  </a:moveTo>
                  <a:lnTo>
                    <a:pt x="3790600" y="0"/>
                  </a:lnTo>
                  <a:cubicBezTo>
                    <a:pt x="3798526" y="0"/>
                    <a:pt x="3806129" y="3149"/>
                    <a:pt x="3811734" y="8754"/>
                  </a:cubicBezTo>
                  <a:cubicBezTo>
                    <a:pt x="3817338" y="14359"/>
                    <a:pt x="3820487" y="21961"/>
                    <a:pt x="3820487" y="29888"/>
                  </a:cubicBezTo>
                  <a:lnTo>
                    <a:pt x="3820487" y="464366"/>
                  </a:lnTo>
                  <a:cubicBezTo>
                    <a:pt x="3820487" y="480873"/>
                    <a:pt x="3807106" y="494254"/>
                    <a:pt x="3790600" y="494254"/>
                  </a:cubicBezTo>
                  <a:lnTo>
                    <a:pt x="29888" y="494254"/>
                  </a:lnTo>
                  <a:cubicBezTo>
                    <a:pt x="13381" y="494254"/>
                    <a:pt x="0" y="480873"/>
                    <a:pt x="0" y="464366"/>
                  </a:cubicBezTo>
                  <a:lnTo>
                    <a:pt x="0" y="29888"/>
                  </a:lnTo>
                  <a:cubicBezTo>
                    <a:pt x="0" y="21961"/>
                    <a:pt x="3149" y="14359"/>
                    <a:pt x="8754" y="8754"/>
                  </a:cubicBezTo>
                  <a:cubicBezTo>
                    <a:pt x="14359" y="3149"/>
                    <a:pt x="21961" y="0"/>
                    <a:pt x="29888" y="0"/>
                  </a:cubicBezTo>
                  <a:close/>
                </a:path>
              </a:pathLst>
            </a:custGeom>
            <a:solidFill>
              <a:srgbClr val="000000">
                <a:alpha val="0"/>
              </a:srgbClr>
            </a:solidFill>
            <a:ln w="28575" cap="rnd">
              <a:solidFill>
                <a:srgbClr val="FFFFFF"/>
              </a:solidFill>
              <a:prstDash val="solid"/>
              <a:round/>
            </a:ln>
          </p:spPr>
        </p:sp>
        <p:sp>
          <p:nvSpPr>
            <p:cNvPr name="TextBox 5" id="5"/>
            <p:cNvSpPr txBox="true"/>
            <p:nvPr/>
          </p:nvSpPr>
          <p:spPr>
            <a:xfrm>
              <a:off x="0" y="-66675"/>
              <a:ext cx="3820487" cy="560929"/>
            </a:xfrm>
            <a:prstGeom prst="rect">
              <a:avLst/>
            </a:prstGeom>
          </p:spPr>
          <p:txBody>
            <a:bodyPr anchor="ctr" rtlCol="false" tIns="50800" lIns="50800" bIns="50800" rIns="50800"/>
            <a:lstStyle/>
            <a:p>
              <a:pPr algn="ctr">
                <a:lnSpc>
                  <a:spcPts val="3151"/>
                </a:lnSpc>
              </a:pPr>
            </a:p>
          </p:txBody>
        </p:sp>
      </p:grpSp>
      <p:grpSp>
        <p:nvGrpSpPr>
          <p:cNvPr name="Group 6" id="6"/>
          <p:cNvGrpSpPr/>
          <p:nvPr/>
        </p:nvGrpSpPr>
        <p:grpSpPr>
          <a:xfrm rot="0">
            <a:off x="1028700" y="4156549"/>
            <a:ext cx="16230600" cy="4923264"/>
            <a:chOff x="0" y="0"/>
            <a:chExt cx="5738982" cy="1740818"/>
          </a:xfrm>
        </p:grpSpPr>
        <p:sp>
          <p:nvSpPr>
            <p:cNvPr name="Freeform 7" id="7"/>
            <p:cNvSpPr/>
            <p:nvPr/>
          </p:nvSpPr>
          <p:spPr>
            <a:xfrm flipH="false" flipV="false" rot="0">
              <a:off x="0" y="0"/>
              <a:ext cx="5738982" cy="1740818"/>
            </a:xfrm>
            <a:custGeom>
              <a:avLst/>
              <a:gdLst/>
              <a:ahLst/>
              <a:cxnLst/>
              <a:rect r="r" b="b" t="t" l="l"/>
              <a:pathLst>
                <a:path h="1740818" w="5738982">
                  <a:moveTo>
                    <a:pt x="26712" y="0"/>
                  </a:moveTo>
                  <a:lnTo>
                    <a:pt x="5712270" y="0"/>
                  </a:lnTo>
                  <a:cubicBezTo>
                    <a:pt x="5719354" y="0"/>
                    <a:pt x="5726149" y="2814"/>
                    <a:pt x="5731158" y="7824"/>
                  </a:cubicBezTo>
                  <a:cubicBezTo>
                    <a:pt x="5736168" y="12833"/>
                    <a:pt x="5738982" y="19627"/>
                    <a:pt x="5738982" y="26712"/>
                  </a:cubicBezTo>
                  <a:lnTo>
                    <a:pt x="5738982" y="1714106"/>
                  </a:lnTo>
                  <a:cubicBezTo>
                    <a:pt x="5738982" y="1721191"/>
                    <a:pt x="5736168" y="1727985"/>
                    <a:pt x="5731158" y="1732994"/>
                  </a:cubicBezTo>
                  <a:cubicBezTo>
                    <a:pt x="5726149" y="1738004"/>
                    <a:pt x="5719354" y="1740818"/>
                    <a:pt x="5712270" y="1740818"/>
                  </a:cubicBezTo>
                  <a:lnTo>
                    <a:pt x="26712" y="1740818"/>
                  </a:lnTo>
                  <a:cubicBezTo>
                    <a:pt x="19627" y="1740818"/>
                    <a:pt x="12833" y="1738004"/>
                    <a:pt x="7824" y="1732994"/>
                  </a:cubicBezTo>
                  <a:cubicBezTo>
                    <a:pt x="2814" y="1727985"/>
                    <a:pt x="0" y="1721191"/>
                    <a:pt x="0" y="1714106"/>
                  </a:cubicBezTo>
                  <a:lnTo>
                    <a:pt x="0" y="26712"/>
                  </a:lnTo>
                  <a:cubicBezTo>
                    <a:pt x="0" y="19627"/>
                    <a:pt x="2814" y="12833"/>
                    <a:pt x="7824" y="7824"/>
                  </a:cubicBezTo>
                  <a:cubicBezTo>
                    <a:pt x="12833" y="2814"/>
                    <a:pt x="19627" y="0"/>
                    <a:pt x="26712" y="0"/>
                  </a:cubicBezTo>
                  <a:close/>
                </a:path>
              </a:pathLst>
            </a:custGeom>
            <a:gradFill rotWithShape="true">
              <a:gsLst>
                <a:gs pos="0">
                  <a:srgbClr val="000000">
                    <a:alpha val="78000"/>
                  </a:srgbClr>
                </a:gs>
                <a:gs pos="100000">
                  <a:srgbClr val="DDDDDD">
                    <a:alpha val="14820"/>
                  </a:srgbClr>
                </a:gs>
              </a:gsLst>
              <a:lin ang="2700000"/>
            </a:gradFill>
          </p:spPr>
        </p:sp>
        <p:sp>
          <p:nvSpPr>
            <p:cNvPr name="TextBox 8" id="8"/>
            <p:cNvSpPr txBox="true"/>
            <p:nvPr/>
          </p:nvSpPr>
          <p:spPr>
            <a:xfrm>
              <a:off x="0" y="-66675"/>
              <a:ext cx="5738982" cy="1807493"/>
            </a:xfrm>
            <a:prstGeom prst="rect">
              <a:avLst/>
            </a:prstGeom>
          </p:spPr>
          <p:txBody>
            <a:bodyPr anchor="ctr" rtlCol="false" tIns="37213" lIns="37213" bIns="37213" rIns="37213"/>
            <a:lstStyle/>
            <a:p>
              <a:pPr algn="ctr">
                <a:lnSpc>
                  <a:spcPts val="3151"/>
                </a:lnSpc>
              </a:pPr>
            </a:p>
          </p:txBody>
        </p:sp>
      </p:grpSp>
      <p:sp>
        <p:nvSpPr>
          <p:cNvPr name="TextBox 9" id="9"/>
          <p:cNvSpPr txBox="true"/>
          <p:nvPr/>
        </p:nvSpPr>
        <p:spPr>
          <a:xfrm rot="0">
            <a:off x="9144000" y="841660"/>
            <a:ext cx="1662550" cy="409541"/>
          </a:xfrm>
          <a:prstGeom prst="rect">
            <a:avLst/>
          </a:prstGeom>
        </p:spPr>
        <p:txBody>
          <a:bodyPr anchor="t" rtlCol="false" tIns="0" lIns="0" bIns="0" rIns="0">
            <a:spAutoFit/>
          </a:bodyPr>
          <a:lstStyle/>
          <a:p>
            <a:pPr algn="r" marL="0" indent="0" lvl="0">
              <a:lnSpc>
                <a:spcPts val="3151"/>
              </a:lnSpc>
              <a:spcBef>
                <a:spcPct val="0"/>
              </a:spcBef>
            </a:pPr>
            <a:r>
              <a:rPr lang="en-US" sz="2251">
                <a:solidFill>
                  <a:srgbClr val="FFFFFF"/>
                </a:solidFill>
                <a:latin typeface="Poppins"/>
                <a:ea typeface="Poppins"/>
                <a:cs typeface="Poppins"/>
                <a:sym typeface="Poppins"/>
              </a:rPr>
              <a:t>Home</a:t>
            </a:r>
          </a:p>
        </p:txBody>
      </p:sp>
      <p:sp>
        <p:nvSpPr>
          <p:cNvPr name="TextBox 10" id="10"/>
          <p:cNvSpPr txBox="true"/>
          <p:nvPr/>
        </p:nvSpPr>
        <p:spPr>
          <a:xfrm rot="0">
            <a:off x="11408122" y="843874"/>
            <a:ext cx="1907082" cy="409541"/>
          </a:xfrm>
          <a:prstGeom prst="rect">
            <a:avLst/>
          </a:prstGeom>
        </p:spPr>
        <p:txBody>
          <a:bodyPr anchor="t" rtlCol="false" tIns="0" lIns="0" bIns="0" rIns="0">
            <a:spAutoFit/>
          </a:bodyPr>
          <a:lstStyle/>
          <a:p>
            <a:pPr algn="ctr" marL="0" indent="0" lvl="0">
              <a:lnSpc>
                <a:spcPts val="3151"/>
              </a:lnSpc>
              <a:spcBef>
                <a:spcPct val="0"/>
              </a:spcBef>
            </a:pPr>
            <a:r>
              <a:rPr lang="en-US" sz="2251">
                <a:solidFill>
                  <a:srgbClr val="FFFFFF"/>
                </a:solidFill>
                <a:latin typeface="Poppins"/>
                <a:ea typeface="Poppins"/>
                <a:cs typeface="Poppins"/>
                <a:sym typeface="Poppins"/>
              </a:rPr>
              <a:t>About</a:t>
            </a:r>
          </a:p>
        </p:txBody>
      </p:sp>
      <p:sp>
        <p:nvSpPr>
          <p:cNvPr name="TextBox 11" id="11"/>
          <p:cNvSpPr txBox="true"/>
          <p:nvPr/>
        </p:nvSpPr>
        <p:spPr>
          <a:xfrm rot="0">
            <a:off x="13726729" y="819695"/>
            <a:ext cx="1916881" cy="409541"/>
          </a:xfrm>
          <a:prstGeom prst="rect">
            <a:avLst/>
          </a:prstGeom>
        </p:spPr>
        <p:txBody>
          <a:bodyPr anchor="t" rtlCol="false" tIns="0" lIns="0" bIns="0" rIns="0">
            <a:spAutoFit/>
          </a:bodyPr>
          <a:lstStyle/>
          <a:p>
            <a:pPr algn="ctr" marL="0" indent="0" lvl="0">
              <a:lnSpc>
                <a:spcPts val="3151"/>
              </a:lnSpc>
              <a:spcBef>
                <a:spcPct val="0"/>
              </a:spcBef>
            </a:pPr>
            <a:r>
              <a:rPr lang="en-US" b="true" sz="2251">
                <a:solidFill>
                  <a:srgbClr val="FFFFFF"/>
                </a:solidFill>
                <a:latin typeface="Poppins Bold"/>
                <a:ea typeface="Poppins Bold"/>
                <a:cs typeface="Poppins Bold"/>
                <a:sym typeface="Poppins Bold"/>
              </a:rPr>
              <a:t>Content</a:t>
            </a:r>
          </a:p>
        </p:txBody>
      </p:sp>
      <p:sp>
        <p:nvSpPr>
          <p:cNvPr name="TextBox 12" id="12"/>
          <p:cNvSpPr txBox="true"/>
          <p:nvPr/>
        </p:nvSpPr>
        <p:spPr>
          <a:xfrm rot="0">
            <a:off x="15034325" y="841660"/>
            <a:ext cx="2224975" cy="409541"/>
          </a:xfrm>
          <a:prstGeom prst="rect">
            <a:avLst/>
          </a:prstGeom>
        </p:spPr>
        <p:txBody>
          <a:bodyPr anchor="t" rtlCol="false" tIns="0" lIns="0" bIns="0" rIns="0">
            <a:spAutoFit/>
          </a:bodyPr>
          <a:lstStyle/>
          <a:p>
            <a:pPr algn="r" marL="0" indent="0" lvl="0">
              <a:lnSpc>
                <a:spcPts val="3151"/>
              </a:lnSpc>
              <a:spcBef>
                <a:spcPct val="0"/>
              </a:spcBef>
            </a:pPr>
            <a:r>
              <a:rPr lang="en-US" sz="2251">
                <a:solidFill>
                  <a:srgbClr val="FFFFFF"/>
                </a:solidFill>
                <a:latin typeface="Poppins"/>
                <a:ea typeface="Poppins"/>
                <a:cs typeface="Poppins"/>
                <a:sym typeface="Poppins"/>
              </a:rPr>
              <a:t>Others</a:t>
            </a:r>
          </a:p>
        </p:txBody>
      </p:sp>
      <p:sp>
        <p:nvSpPr>
          <p:cNvPr name="TextBox 13" id="13"/>
          <p:cNvSpPr txBox="true"/>
          <p:nvPr/>
        </p:nvSpPr>
        <p:spPr>
          <a:xfrm rot="0">
            <a:off x="1510858" y="2215317"/>
            <a:ext cx="13523467" cy="918179"/>
          </a:xfrm>
          <a:prstGeom prst="rect">
            <a:avLst/>
          </a:prstGeom>
        </p:spPr>
        <p:txBody>
          <a:bodyPr anchor="t" rtlCol="false" tIns="0" lIns="0" bIns="0" rIns="0">
            <a:spAutoFit/>
          </a:bodyPr>
          <a:lstStyle/>
          <a:p>
            <a:pPr algn="just">
              <a:lnSpc>
                <a:spcPts val="7017"/>
              </a:lnSpc>
            </a:pPr>
            <a:r>
              <a:rPr lang="en-US" b="true" sz="6497" spc="-285">
                <a:solidFill>
                  <a:srgbClr val="FFFFFF"/>
                </a:solidFill>
                <a:latin typeface="Open Sauce Bold"/>
                <a:ea typeface="Open Sauce Bold"/>
                <a:cs typeface="Open Sauce Bold"/>
                <a:sym typeface="Open Sauce Bold"/>
              </a:rPr>
              <a:t>Conclusion &amp; Recommendations</a:t>
            </a:r>
          </a:p>
        </p:txBody>
      </p:sp>
      <p:sp>
        <p:nvSpPr>
          <p:cNvPr name="TextBox 14" id="14"/>
          <p:cNvSpPr txBox="true"/>
          <p:nvPr/>
        </p:nvSpPr>
        <p:spPr>
          <a:xfrm rot="0">
            <a:off x="1446163" y="4494904"/>
            <a:ext cx="15234429" cy="4046529"/>
          </a:xfrm>
          <a:prstGeom prst="rect">
            <a:avLst/>
          </a:prstGeom>
        </p:spPr>
        <p:txBody>
          <a:bodyPr anchor="t" rtlCol="false" tIns="0" lIns="0" bIns="0" rIns="0">
            <a:spAutoFit/>
          </a:bodyPr>
          <a:lstStyle/>
          <a:p>
            <a:pPr algn="just" marL="648406" indent="-324203" lvl="1">
              <a:lnSpc>
                <a:spcPts val="5345"/>
              </a:lnSpc>
              <a:buFont typeface="Arial"/>
              <a:buChar char="•"/>
            </a:pPr>
            <a:r>
              <a:rPr lang="en-US" sz="3003">
                <a:solidFill>
                  <a:srgbClr val="FFFFFF"/>
                </a:solidFill>
                <a:latin typeface="Poppins"/>
                <a:ea typeface="Poppins"/>
                <a:cs typeface="Poppins"/>
                <a:sym typeface="Poppins"/>
              </a:rPr>
              <a:t>Multi-modal forensic analytics framework strengthens fraud detection and review.</a:t>
            </a:r>
          </a:p>
          <a:p>
            <a:pPr algn="just" marL="648406" indent="-324203" lvl="1">
              <a:lnSpc>
                <a:spcPts val="5345"/>
              </a:lnSpc>
              <a:buFont typeface="Arial"/>
              <a:buChar char="•"/>
            </a:pPr>
            <a:r>
              <a:rPr lang="en-US" sz="3003">
                <a:solidFill>
                  <a:srgbClr val="FFFFFF"/>
                </a:solidFill>
                <a:latin typeface="Poppins"/>
                <a:ea typeface="Poppins"/>
                <a:cs typeface="Poppins"/>
                <a:sym typeface="Poppins"/>
              </a:rPr>
              <a:t>Key actions: Audit flagged anomalies (IDs, ages, bots), monitor narratives, deploy real-time dashboards.</a:t>
            </a:r>
          </a:p>
          <a:p>
            <a:pPr algn="just" marL="648406" indent="-324203" lvl="1">
              <a:lnSpc>
                <a:spcPts val="5345"/>
              </a:lnSpc>
              <a:buFont typeface="Arial"/>
              <a:buChar char="•"/>
            </a:pPr>
            <a:r>
              <a:rPr lang="en-US" sz="3003">
                <a:solidFill>
                  <a:srgbClr val="FFFFFF"/>
                </a:solidFill>
                <a:latin typeface="Poppins"/>
                <a:ea typeface="Poppins"/>
                <a:cs typeface="Poppins"/>
                <a:sym typeface="Poppins"/>
              </a:rPr>
              <a:t>Future: Apply to real data, add hybrid event-time analysis, periodic retraining.</a:t>
            </a:r>
          </a:p>
        </p:txBody>
      </p:sp>
      <p:sp>
        <p:nvSpPr>
          <p:cNvPr name="TextBox 15" id="15"/>
          <p:cNvSpPr txBox="true"/>
          <p:nvPr/>
        </p:nvSpPr>
        <p:spPr>
          <a:xfrm rot="0">
            <a:off x="1363845" y="768097"/>
            <a:ext cx="3551055" cy="445006"/>
          </a:xfrm>
          <a:prstGeom prst="rect">
            <a:avLst/>
          </a:prstGeom>
        </p:spPr>
        <p:txBody>
          <a:bodyPr anchor="t" rtlCol="false" tIns="0" lIns="0" bIns="0" rIns="0">
            <a:spAutoFit/>
          </a:bodyPr>
          <a:lstStyle/>
          <a:p>
            <a:pPr algn="l">
              <a:lnSpc>
                <a:spcPts val="3391"/>
              </a:lnSpc>
              <a:spcBef>
                <a:spcPct val="0"/>
              </a:spcBef>
            </a:pPr>
            <a:r>
              <a:rPr lang="en-US" b="true" sz="2422" spc="-109">
                <a:solidFill>
                  <a:srgbClr val="FFFFFF"/>
                </a:solidFill>
                <a:latin typeface="Telegraf Bold"/>
                <a:ea typeface="Telegraf Bold"/>
                <a:cs typeface="Telegraf Bold"/>
                <a:sym typeface="Telegraf Bold"/>
              </a:rPr>
              <a:t>Forensics Analytics</a:t>
            </a:r>
          </a:p>
        </p:txBody>
      </p:sp>
    </p:spTree>
  </p:cSld>
  <p:clrMapOvr>
    <a:masterClrMapping/>
  </p:clrMapOvr>
  <p:transition spd="slow">
    <p:push dir="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DAG2_UnHP30</dc:identifier>
  <dcterms:modified xsi:type="dcterms:W3CDTF">2011-08-01T06:04:30Z</dcterms:modified>
  <cp:revision>1</cp:revision>
  <dc:title>Copy of Copy of MongoDb</dc:title>
</cp:coreProperties>
</file>